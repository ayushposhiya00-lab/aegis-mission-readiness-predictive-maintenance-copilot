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20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20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rgbClr val="16202E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16202E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16202E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16202E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6858000"/>
                </a:moveTo>
                <a:lnTo>
                  <a:pt x="0" y="6858000"/>
                </a:lnTo>
                <a:lnTo>
                  <a:pt x="0" y="0"/>
                </a:lnTo>
                <a:lnTo>
                  <a:pt x="12192000" y="0"/>
                </a:lnTo>
                <a:lnTo>
                  <a:pt x="12192000" y="6858000"/>
                </a:lnTo>
                <a:close/>
              </a:path>
            </a:pathLst>
          </a:custGeom>
          <a:solidFill>
            <a:srgbClr val="F4F5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ribbon dark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792480" y="720090"/>
                </a:lnTo>
                <a:lnTo>
                  <a:pt x="1402080" y="1303020"/>
                </a:lnTo>
                <a:lnTo>
                  <a:pt x="1828800" y="1303020"/>
                </a:lnTo>
                <a:lnTo>
                  <a:pt x="1219200" y="720090"/>
                </a:lnTo>
                <a:lnTo>
                  <a:pt x="426720" y="0"/>
                </a:lnTo>
                <a:close/>
              </a:path>
            </a:pathLst>
          </a:custGeom>
          <a:solidFill>
            <a:srgbClr val="3336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ribbon blue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548640" y="0"/>
                </a:moveTo>
                <a:lnTo>
                  <a:pt x="1219200" y="720090"/>
                </a:lnTo>
                <a:lnTo>
                  <a:pt x="1828800" y="1303020"/>
                </a:lnTo>
                <a:lnTo>
                  <a:pt x="2194560" y="1303020"/>
                </a:lnTo>
                <a:lnTo>
                  <a:pt x="1645920" y="720090"/>
                </a:lnTo>
                <a:lnTo>
                  <a:pt x="975360" y="0"/>
                </a:lnTo>
                <a:close/>
              </a:path>
            </a:pathLst>
          </a:custGeom>
          <a:solidFill>
            <a:srgbClr val="1C7F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22300" y="532764"/>
            <a:ext cx="8486775" cy="3600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rgbClr val="16202E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github.com/bob-ai-hackathon/team-x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5508" y="1650492"/>
            <a:ext cx="76200" cy="3176270"/>
          </a:xfrm>
          <a:custGeom>
            <a:avLst/>
            <a:gdLst/>
            <a:ahLst/>
            <a:cxnLst/>
            <a:rect l="l" t="t" r="r" b="b"/>
            <a:pathLst>
              <a:path w="76200" h="3176270">
                <a:moveTo>
                  <a:pt x="76200" y="3176016"/>
                </a:moveTo>
                <a:lnTo>
                  <a:pt x="0" y="3176016"/>
                </a:lnTo>
                <a:lnTo>
                  <a:pt x="0" y="0"/>
                </a:lnTo>
                <a:lnTo>
                  <a:pt x="76200" y="0"/>
                </a:lnTo>
                <a:lnTo>
                  <a:pt x="76200" y="3176016"/>
                </a:lnTo>
                <a:close/>
              </a:path>
            </a:pathLst>
          </a:custGeom>
          <a:solidFill>
            <a:srgbClr val="0E749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031239" y="1612900"/>
            <a:ext cx="32029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IBM</a:t>
            </a:r>
            <a:r>
              <a:rPr sz="1200" b="1" spc="-15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BOB</a:t>
            </a:r>
            <a:r>
              <a:rPr sz="1200" b="1" spc="-60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AI</a:t>
            </a:r>
            <a:r>
              <a:rPr sz="1200" b="1" spc="-15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spc="-10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HACKATHON</a:t>
            </a:r>
            <a:r>
              <a:rPr sz="1200" b="1" spc="-15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2026</a:t>
            </a:r>
            <a:r>
              <a:rPr sz="1200" b="1" spc="310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|</a:t>
            </a:r>
            <a:r>
              <a:rPr sz="1200" b="1" spc="265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AI</a:t>
            </a:r>
            <a:r>
              <a:rPr sz="1200" b="1" spc="-15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spc="-20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TRACK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031239" y="1979930"/>
            <a:ext cx="6429375" cy="10610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3400" dirty="0"/>
              <a:t>AEGIS:</a:t>
            </a:r>
            <a:r>
              <a:rPr sz="3400" spc="-65" dirty="0"/>
              <a:t> </a:t>
            </a:r>
            <a:r>
              <a:rPr sz="3400" dirty="0"/>
              <a:t>Mission</a:t>
            </a:r>
            <a:r>
              <a:rPr sz="3400" spc="-60" dirty="0"/>
              <a:t> </a:t>
            </a:r>
            <a:r>
              <a:rPr sz="3400" dirty="0"/>
              <a:t>Readiness</a:t>
            </a:r>
            <a:r>
              <a:rPr sz="3400" spc="-60" dirty="0"/>
              <a:t> </a:t>
            </a:r>
            <a:r>
              <a:rPr sz="3400" spc="-50" dirty="0"/>
              <a:t>&amp; </a:t>
            </a:r>
            <a:r>
              <a:rPr sz="3400" dirty="0"/>
              <a:t>Predictive</a:t>
            </a:r>
            <a:r>
              <a:rPr sz="3400" spc="-95" dirty="0"/>
              <a:t> </a:t>
            </a:r>
            <a:r>
              <a:rPr sz="3400" dirty="0"/>
              <a:t>Maintenance</a:t>
            </a:r>
            <a:r>
              <a:rPr sz="3400" spc="-90" dirty="0"/>
              <a:t> </a:t>
            </a:r>
            <a:r>
              <a:rPr sz="3400" spc="-10" dirty="0"/>
              <a:t>Copilot</a:t>
            </a:r>
            <a:endParaRPr sz="3400"/>
          </a:p>
        </p:txBody>
      </p:sp>
      <p:sp>
        <p:nvSpPr>
          <p:cNvPr id="5" name="object 5"/>
          <p:cNvSpPr txBox="1"/>
          <p:nvPr/>
        </p:nvSpPr>
        <p:spPr>
          <a:xfrm>
            <a:off x="1031239" y="3515995"/>
            <a:ext cx="674941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1E2A3A"/>
                </a:solidFill>
                <a:latin typeface="Arial MT"/>
                <a:cs typeface="Arial MT"/>
              </a:rPr>
              <a:t>Next-</a:t>
            </a:r>
            <a:r>
              <a:rPr sz="1500" dirty="0">
                <a:solidFill>
                  <a:srgbClr val="1E2A3A"/>
                </a:solidFill>
                <a:latin typeface="Arial MT"/>
                <a:cs typeface="Arial MT"/>
              </a:rPr>
              <a:t>Gen</a:t>
            </a:r>
            <a:r>
              <a:rPr sz="1500" spc="-4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1E2A3A"/>
                </a:solidFill>
                <a:latin typeface="Arial MT"/>
                <a:cs typeface="Arial MT"/>
              </a:rPr>
              <a:t>Defense</a:t>
            </a:r>
            <a:r>
              <a:rPr sz="1500" spc="-4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1E2A3A"/>
                </a:solidFill>
                <a:latin typeface="Arial MT"/>
                <a:cs typeface="Arial MT"/>
              </a:rPr>
              <a:t>Fleet</a:t>
            </a:r>
            <a:r>
              <a:rPr sz="1500" spc="-7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500" spc="-20" dirty="0">
                <a:solidFill>
                  <a:srgbClr val="1E2A3A"/>
                </a:solidFill>
                <a:latin typeface="Arial MT"/>
                <a:cs typeface="Arial MT"/>
              </a:rPr>
              <a:t>Telemetry</a:t>
            </a:r>
            <a:r>
              <a:rPr sz="1500" spc="-4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1E2A3A"/>
                </a:solidFill>
                <a:latin typeface="Arial MT"/>
                <a:cs typeface="Arial MT"/>
              </a:rPr>
              <a:t>Intelligence</a:t>
            </a:r>
            <a:r>
              <a:rPr sz="1500" spc="-4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1E2A3A"/>
                </a:solidFill>
                <a:latin typeface="Arial MT"/>
                <a:cs typeface="Arial MT"/>
              </a:rPr>
              <a:t>with</a:t>
            </a:r>
            <a:r>
              <a:rPr sz="1500" spc="-4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1E2A3A"/>
                </a:solidFill>
                <a:latin typeface="Arial MT"/>
                <a:cs typeface="Arial MT"/>
              </a:rPr>
              <a:t>Multimodal</a:t>
            </a:r>
            <a:r>
              <a:rPr sz="1500" spc="-4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1E2A3A"/>
                </a:solidFill>
                <a:latin typeface="Arial MT"/>
                <a:cs typeface="Arial MT"/>
              </a:rPr>
              <a:t>ML</a:t>
            </a:r>
            <a:r>
              <a:rPr sz="1500" spc="-10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1E2A3A"/>
                </a:solidFill>
                <a:latin typeface="Arial MT"/>
                <a:cs typeface="Arial MT"/>
              </a:rPr>
              <a:t>Forecasting, Real-</a:t>
            </a:r>
            <a:r>
              <a:rPr sz="1500" dirty="0">
                <a:solidFill>
                  <a:srgbClr val="1E2A3A"/>
                </a:solidFill>
                <a:latin typeface="Arial MT"/>
                <a:cs typeface="Arial MT"/>
              </a:rPr>
              <a:t>time</a:t>
            </a:r>
            <a:r>
              <a:rPr sz="1500" spc="-5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1E2A3A"/>
                </a:solidFill>
                <a:latin typeface="Arial MT"/>
                <a:cs typeface="Arial MT"/>
              </a:rPr>
              <a:t>WebSocket</a:t>
            </a:r>
            <a:r>
              <a:rPr sz="1500" spc="-4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1E2A3A"/>
                </a:solidFill>
                <a:latin typeface="Arial MT"/>
                <a:cs typeface="Arial MT"/>
              </a:rPr>
              <a:t>Streaming,</a:t>
            </a:r>
            <a:r>
              <a:rPr sz="1500" spc="-3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1E2A3A"/>
                </a:solidFill>
                <a:latin typeface="Arial MT"/>
                <a:cs typeface="Arial MT"/>
              </a:rPr>
              <a:t>and</a:t>
            </a:r>
            <a:r>
              <a:rPr sz="1500" spc="-4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1E2A3A"/>
                </a:solidFill>
                <a:latin typeface="Arial MT"/>
                <a:cs typeface="Arial MT"/>
              </a:rPr>
              <a:t>Bilingual</a:t>
            </a:r>
            <a:r>
              <a:rPr sz="1500" spc="-9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1E2A3A"/>
                </a:solidFill>
                <a:latin typeface="Arial MT"/>
                <a:cs typeface="Arial MT"/>
              </a:rPr>
              <a:t>Agentic</a:t>
            </a:r>
            <a:r>
              <a:rPr sz="1500" spc="-4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1E2A3A"/>
                </a:solidFill>
                <a:latin typeface="Arial MT"/>
                <a:cs typeface="Arial MT"/>
              </a:rPr>
              <a:t>Copilot.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46150" y="4629150"/>
            <a:ext cx="10426700" cy="901700"/>
            <a:chOff x="946150" y="4629150"/>
            <a:chExt cx="10426700" cy="901700"/>
          </a:xfrm>
        </p:grpSpPr>
        <p:sp>
          <p:nvSpPr>
            <p:cNvPr id="7" name="object 7"/>
            <p:cNvSpPr/>
            <p:nvPr/>
          </p:nvSpPr>
          <p:spPr>
            <a:xfrm>
              <a:off x="952500" y="4636008"/>
              <a:ext cx="10414000" cy="889000"/>
            </a:xfrm>
            <a:custGeom>
              <a:avLst/>
              <a:gdLst/>
              <a:ahLst/>
              <a:cxnLst/>
              <a:rect l="l" t="t" r="r" b="b"/>
              <a:pathLst>
                <a:path w="10414000" h="889000">
                  <a:moveTo>
                    <a:pt x="10413492" y="888491"/>
                  </a:moveTo>
                  <a:lnTo>
                    <a:pt x="0" y="888491"/>
                  </a:lnTo>
                  <a:lnTo>
                    <a:pt x="0" y="0"/>
                  </a:lnTo>
                  <a:lnTo>
                    <a:pt x="10413492" y="0"/>
                  </a:lnTo>
                  <a:lnTo>
                    <a:pt x="10413492" y="888491"/>
                  </a:lnTo>
                  <a:close/>
                </a:path>
              </a:pathLst>
            </a:custGeom>
            <a:solidFill>
              <a:srgbClr val="F1F3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946150" y="4629150"/>
              <a:ext cx="10426700" cy="901700"/>
            </a:xfrm>
            <a:custGeom>
              <a:avLst/>
              <a:gdLst/>
              <a:ahLst/>
              <a:cxnLst/>
              <a:rect l="l" t="t" r="r" b="b"/>
              <a:pathLst>
                <a:path w="10426700" h="901700">
                  <a:moveTo>
                    <a:pt x="10426700" y="901700"/>
                  </a:moveTo>
                  <a:lnTo>
                    <a:pt x="0" y="901700"/>
                  </a:lnTo>
                  <a:lnTo>
                    <a:pt x="0" y="0"/>
                  </a:lnTo>
                  <a:lnTo>
                    <a:pt x="10426700" y="0"/>
                  </a:lnTo>
                  <a:lnTo>
                    <a:pt x="10426700" y="6350"/>
                  </a:lnTo>
                  <a:lnTo>
                    <a:pt x="12700" y="6350"/>
                  </a:lnTo>
                  <a:lnTo>
                    <a:pt x="6350" y="12700"/>
                  </a:lnTo>
                  <a:lnTo>
                    <a:pt x="12700" y="12700"/>
                  </a:lnTo>
                  <a:lnTo>
                    <a:pt x="12700" y="889000"/>
                  </a:lnTo>
                  <a:lnTo>
                    <a:pt x="6350" y="889000"/>
                  </a:lnTo>
                  <a:lnTo>
                    <a:pt x="12700" y="895350"/>
                  </a:lnTo>
                  <a:lnTo>
                    <a:pt x="10426700" y="895350"/>
                  </a:lnTo>
                  <a:lnTo>
                    <a:pt x="10426700" y="901700"/>
                  </a:lnTo>
                  <a:close/>
                </a:path>
                <a:path w="10426700" h="901700">
                  <a:moveTo>
                    <a:pt x="12700" y="12700"/>
                  </a:moveTo>
                  <a:lnTo>
                    <a:pt x="6350" y="12700"/>
                  </a:lnTo>
                  <a:lnTo>
                    <a:pt x="12700" y="6350"/>
                  </a:lnTo>
                  <a:lnTo>
                    <a:pt x="12700" y="12700"/>
                  </a:lnTo>
                  <a:close/>
                </a:path>
                <a:path w="10426700" h="901700">
                  <a:moveTo>
                    <a:pt x="10414000" y="12700"/>
                  </a:moveTo>
                  <a:lnTo>
                    <a:pt x="12700" y="12700"/>
                  </a:lnTo>
                  <a:lnTo>
                    <a:pt x="12700" y="6350"/>
                  </a:lnTo>
                  <a:lnTo>
                    <a:pt x="10414000" y="6350"/>
                  </a:lnTo>
                  <a:lnTo>
                    <a:pt x="10414000" y="12700"/>
                  </a:lnTo>
                  <a:close/>
                </a:path>
                <a:path w="10426700" h="901700">
                  <a:moveTo>
                    <a:pt x="10414000" y="895350"/>
                  </a:moveTo>
                  <a:lnTo>
                    <a:pt x="10414000" y="6350"/>
                  </a:lnTo>
                  <a:lnTo>
                    <a:pt x="10420350" y="12700"/>
                  </a:lnTo>
                  <a:lnTo>
                    <a:pt x="10426700" y="12700"/>
                  </a:lnTo>
                  <a:lnTo>
                    <a:pt x="10426700" y="889000"/>
                  </a:lnTo>
                  <a:lnTo>
                    <a:pt x="10420350" y="889000"/>
                  </a:lnTo>
                  <a:lnTo>
                    <a:pt x="10414000" y="895350"/>
                  </a:lnTo>
                  <a:close/>
                </a:path>
                <a:path w="10426700" h="901700">
                  <a:moveTo>
                    <a:pt x="10426700" y="12700"/>
                  </a:moveTo>
                  <a:lnTo>
                    <a:pt x="10420350" y="12700"/>
                  </a:lnTo>
                  <a:lnTo>
                    <a:pt x="10414000" y="6350"/>
                  </a:lnTo>
                  <a:lnTo>
                    <a:pt x="10426700" y="6350"/>
                  </a:lnTo>
                  <a:lnTo>
                    <a:pt x="10426700" y="12700"/>
                  </a:lnTo>
                  <a:close/>
                </a:path>
                <a:path w="10426700" h="901700">
                  <a:moveTo>
                    <a:pt x="12700" y="895350"/>
                  </a:moveTo>
                  <a:lnTo>
                    <a:pt x="6350" y="889000"/>
                  </a:lnTo>
                  <a:lnTo>
                    <a:pt x="12700" y="889000"/>
                  </a:lnTo>
                  <a:lnTo>
                    <a:pt x="12700" y="895350"/>
                  </a:lnTo>
                  <a:close/>
                </a:path>
                <a:path w="10426700" h="901700">
                  <a:moveTo>
                    <a:pt x="10414000" y="895350"/>
                  </a:moveTo>
                  <a:lnTo>
                    <a:pt x="12700" y="895350"/>
                  </a:lnTo>
                  <a:lnTo>
                    <a:pt x="12700" y="889000"/>
                  </a:lnTo>
                  <a:lnTo>
                    <a:pt x="10414000" y="889000"/>
                  </a:lnTo>
                  <a:lnTo>
                    <a:pt x="10414000" y="895350"/>
                  </a:lnTo>
                  <a:close/>
                </a:path>
                <a:path w="10426700" h="901700">
                  <a:moveTo>
                    <a:pt x="10426700" y="895350"/>
                  </a:moveTo>
                  <a:lnTo>
                    <a:pt x="10414000" y="895350"/>
                  </a:lnTo>
                  <a:lnTo>
                    <a:pt x="10420350" y="889000"/>
                  </a:lnTo>
                  <a:lnTo>
                    <a:pt x="10426700" y="889000"/>
                  </a:lnTo>
                  <a:lnTo>
                    <a:pt x="10426700" y="8953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952500" y="4636008"/>
              <a:ext cx="10414000" cy="50800"/>
            </a:xfrm>
            <a:custGeom>
              <a:avLst/>
              <a:gdLst/>
              <a:ahLst/>
              <a:cxnLst/>
              <a:rect l="l" t="t" r="r" b="b"/>
              <a:pathLst>
                <a:path w="10414000" h="50800">
                  <a:moveTo>
                    <a:pt x="10413492" y="50291"/>
                  </a:moveTo>
                  <a:lnTo>
                    <a:pt x="0" y="50291"/>
                  </a:lnTo>
                  <a:lnTo>
                    <a:pt x="0" y="0"/>
                  </a:lnTo>
                  <a:lnTo>
                    <a:pt x="10413492" y="0"/>
                  </a:lnTo>
                  <a:lnTo>
                    <a:pt x="10413492" y="50291"/>
                  </a:lnTo>
                  <a:close/>
                </a:path>
              </a:pathLst>
            </a:custGeom>
            <a:solidFill>
              <a:srgbClr val="0B8A5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1285239" y="4787900"/>
            <a:ext cx="75120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1195070" algn="l"/>
                <a:tab pos="1365250" algn="l"/>
                <a:tab pos="2705100" algn="l"/>
                <a:tab pos="2875280" algn="l"/>
              </a:tabLst>
            </a:pPr>
            <a:r>
              <a:rPr sz="1200" b="1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TEAM:</a:t>
            </a:r>
            <a:r>
              <a:rPr sz="1200" b="1" spc="-50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spc="-10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Team</a:t>
            </a:r>
            <a:r>
              <a:rPr sz="1200" b="1" spc="-55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spc="-50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X</a:t>
            </a:r>
            <a:r>
              <a:rPr sz="1200" b="1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200" b="1" spc="-50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|</a:t>
            </a:r>
            <a:r>
              <a:rPr sz="1200" b="1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	TRACK:</a:t>
            </a:r>
            <a:r>
              <a:rPr sz="1200" b="1" spc="-65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AI</a:t>
            </a:r>
            <a:r>
              <a:rPr sz="1200" b="1" spc="-25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spc="-20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Track</a:t>
            </a:r>
            <a:r>
              <a:rPr sz="1200" b="1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200" b="1" spc="-50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|</a:t>
            </a:r>
            <a:r>
              <a:rPr sz="1200" b="1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200" b="1" spc="-20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PROJECT:</a:t>
            </a:r>
            <a:r>
              <a:rPr sz="1200" b="1" spc="-40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Mission</a:t>
            </a:r>
            <a:r>
              <a:rPr sz="1200" b="1" spc="-40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Readiness</a:t>
            </a:r>
            <a:r>
              <a:rPr sz="1200" b="1" spc="-40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&amp;</a:t>
            </a:r>
            <a:r>
              <a:rPr sz="1200" b="1" spc="-40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Predictive</a:t>
            </a:r>
            <a:r>
              <a:rPr sz="1200" b="1" spc="-45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Maintenance</a:t>
            </a:r>
            <a:r>
              <a:rPr sz="1200" b="1" spc="-40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spc="-10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Copilot </a:t>
            </a:r>
            <a:r>
              <a:rPr sz="1200" b="1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TECH</a:t>
            </a:r>
            <a:r>
              <a:rPr sz="1200" b="1" spc="-30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spc="-10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STACK:</a:t>
            </a:r>
            <a:r>
              <a:rPr sz="1200" b="1" spc="-25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IBM</a:t>
            </a:r>
            <a:r>
              <a:rPr sz="1200" b="1" spc="-25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Bob,</a:t>
            </a:r>
            <a:r>
              <a:rPr sz="1200" b="1" spc="-25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FastAPI,</a:t>
            </a:r>
            <a:r>
              <a:rPr sz="1200" b="1" spc="-25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React</a:t>
            </a:r>
            <a:r>
              <a:rPr sz="1200" b="1" spc="-25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19,</a:t>
            </a:r>
            <a:r>
              <a:rPr sz="1200" b="1" spc="-25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NASA</a:t>
            </a:r>
            <a:r>
              <a:rPr sz="1200" b="1" spc="-70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spc="-10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N-</a:t>
            </a:r>
            <a:r>
              <a:rPr sz="1200" b="1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CMAPSS,</a:t>
            </a:r>
            <a:r>
              <a:rPr sz="1200" b="1" spc="-25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IMS</a:t>
            </a:r>
            <a:r>
              <a:rPr sz="1200" b="1" spc="-25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Bearing</a:t>
            </a:r>
            <a:r>
              <a:rPr sz="1200" b="1" spc="-25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&amp;</a:t>
            </a:r>
            <a:r>
              <a:rPr sz="1200" b="1" spc="-65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AI4I</a:t>
            </a:r>
            <a:r>
              <a:rPr sz="1200" b="1" spc="-25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2020</a:t>
            </a:r>
            <a:r>
              <a:rPr sz="1200" b="1" spc="-30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ML</a:t>
            </a:r>
            <a:r>
              <a:rPr sz="1200" b="1" spc="-50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spc="-10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Models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057400" y="433069"/>
            <a:ext cx="8486775" cy="3194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dirty="0"/>
              <a:t>Unpredictable</a:t>
            </a:r>
            <a:r>
              <a:rPr sz="2000" spc="-75" dirty="0"/>
              <a:t> </a:t>
            </a:r>
            <a:r>
              <a:rPr sz="2000" dirty="0"/>
              <a:t>Failures</a:t>
            </a:r>
            <a:r>
              <a:rPr sz="2000" spc="-70" dirty="0"/>
              <a:t> </a:t>
            </a:r>
            <a:r>
              <a:rPr sz="2000" dirty="0"/>
              <a:t>&amp;</a:t>
            </a:r>
            <a:r>
              <a:rPr sz="2000" spc="-75" dirty="0"/>
              <a:t> </a:t>
            </a:r>
            <a:r>
              <a:rPr sz="2000" spc="-20" dirty="0"/>
              <a:t>Telemetry</a:t>
            </a:r>
            <a:r>
              <a:rPr sz="2000" spc="-70" dirty="0"/>
              <a:t> </a:t>
            </a:r>
            <a:r>
              <a:rPr sz="2000" dirty="0"/>
              <a:t>Blindness</a:t>
            </a:r>
            <a:r>
              <a:rPr sz="2000" spc="-70" dirty="0"/>
              <a:t> </a:t>
            </a:r>
            <a:r>
              <a:rPr sz="2000" dirty="0"/>
              <a:t>in</a:t>
            </a:r>
            <a:r>
              <a:rPr sz="2000" spc="-75" dirty="0"/>
              <a:t> </a:t>
            </a:r>
            <a:r>
              <a:rPr sz="2000" dirty="0"/>
              <a:t>Defense</a:t>
            </a:r>
            <a:r>
              <a:rPr sz="2000" spc="-70" dirty="0"/>
              <a:t> </a:t>
            </a:r>
            <a:r>
              <a:rPr sz="2000" spc="-10" dirty="0"/>
              <a:t>Fleets</a:t>
            </a:r>
            <a:endParaRPr sz="2000" spc="-10" dirty="0"/>
          </a:p>
        </p:txBody>
      </p:sp>
      <p:sp>
        <p:nvSpPr>
          <p:cNvPr id="4" name="object 4"/>
          <p:cNvSpPr txBox="1"/>
          <p:nvPr/>
        </p:nvSpPr>
        <p:spPr>
          <a:xfrm>
            <a:off x="2209800" y="914399"/>
            <a:ext cx="49409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Why</a:t>
            </a:r>
            <a:r>
              <a:rPr sz="1200" spc="-30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static</a:t>
            </a:r>
            <a:r>
              <a:rPr sz="1200" spc="-25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maintenance</a:t>
            </a:r>
            <a:r>
              <a:rPr sz="1200" spc="-35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schedules</a:t>
            </a:r>
            <a:r>
              <a:rPr sz="1200" spc="-25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fail</a:t>
            </a:r>
            <a:r>
              <a:rPr sz="1200" spc="-30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modern</a:t>
            </a:r>
            <a:r>
              <a:rPr sz="1200" spc="-30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military</a:t>
            </a:r>
            <a:r>
              <a:rPr sz="1200" spc="-30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combat</a:t>
            </a:r>
            <a:r>
              <a:rPr sz="1200" spc="-25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5B6472"/>
                </a:solidFill>
                <a:latin typeface="Arial MT"/>
                <a:cs typeface="Arial MT"/>
              </a:rPr>
              <a:t>platforms.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28650" y="1454150"/>
            <a:ext cx="3441700" cy="4838700"/>
            <a:chOff x="628650" y="1454150"/>
            <a:chExt cx="3441700" cy="4838700"/>
          </a:xfrm>
        </p:grpSpPr>
        <p:sp>
          <p:nvSpPr>
            <p:cNvPr id="6" name="object 6"/>
            <p:cNvSpPr/>
            <p:nvPr/>
          </p:nvSpPr>
          <p:spPr>
            <a:xfrm>
              <a:off x="635508" y="1459992"/>
              <a:ext cx="3429000" cy="4826635"/>
            </a:xfrm>
            <a:custGeom>
              <a:avLst/>
              <a:gdLst/>
              <a:ahLst/>
              <a:cxnLst/>
              <a:rect l="l" t="t" r="r" b="b"/>
              <a:pathLst>
                <a:path w="3429000" h="4826635">
                  <a:moveTo>
                    <a:pt x="3429000" y="4826508"/>
                  </a:moveTo>
                  <a:lnTo>
                    <a:pt x="0" y="4826508"/>
                  </a:lnTo>
                  <a:lnTo>
                    <a:pt x="0" y="0"/>
                  </a:lnTo>
                  <a:lnTo>
                    <a:pt x="3429000" y="0"/>
                  </a:lnTo>
                  <a:lnTo>
                    <a:pt x="3429000" y="4826508"/>
                  </a:lnTo>
                  <a:close/>
                </a:path>
              </a:pathLst>
            </a:custGeom>
            <a:solidFill>
              <a:srgbClr val="F1F3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28650" y="1454150"/>
              <a:ext cx="3441700" cy="4838700"/>
            </a:xfrm>
            <a:custGeom>
              <a:avLst/>
              <a:gdLst/>
              <a:ahLst/>
              <a:cxnLst/>
              <a:rect l="l" t="t" r="r" b="b"/>
              <a:pathLst>
                <a:path w="3441700" h="4838700">
                  <a:moveTo>
                    <a:pt x="3441700" y="4838700"/>
                  </a:moveTo>
                  <a:lnTo>
                    <a:pt x="0" y="4838700"/>
                  </a:lnTo>
                  <a:lnTo>
                    <a:pt x="0" y="0"/>
                  </a:lnTo>
                  <a:lnTo>
                    <a:pt x="3441700" y="0"/>
                  </a:lnTo>
                  <a:lnTo>
                    <a:pt x="3441700" y="6350"/>
                  </a:lnTo>
                  <a:lnTo>
                    <a:pt x="12700" y="6350"/>
                  </a:lnTo>
                  <a:lnTo>
                    <a:pt x="6350" y="12700"/>
                  </a:lnTo>
                  <a:lnTo>
                    <a:pt x="12700" y="12700"/>
                  </a:lnTo>
                  <a:lnTo>
                    <a:pt x="12700" y="4826000"/>
                  </a:lnTo>
                  <a:lnTo>
                    <a:pt x="6350" y="4826000"/>
                  </a:lnTo>
                  <a:lnTo>
                    <a:pt x="12700" y="4832350"/>
                  </a:lnTo>
                  <a:lnTo>
                    <a:pt x="3441700" y="4832350"/>
                  </a:lnTo>
                  <a:lnTo>
                    <a:pt x="3441700" y="4838700"/>
                  </a:lnTo>
                  <a:close/>
                </a:path>
                <a:path w="3441700" h="4838700">
                  <a:moveTo>
                    <a:pt x="12700" y="12700"/>
                  </a:moveTo>
                  <a:lnTo>
                    <a:pt x="6350" y="12700"/>
                  </a:lnTo>
                  <a:lnTo>
                    <a:pt x="12700" y="6350"/>
                  </a:lnTo>
                  <a:lnTo>
                    <a:pt x="12700" y="12700"/>
                  </a:lnTo>
                  <a:close/>
                </a:path>
                <a:path w="3441700" h="4838700">
                  <a:moveTo>
                    <a:pt x="3429000" y="12700"/>
                  </a:moveTo>
                  <a:lnTo>
                    <a:pt x="12700" y="12700"/>
                  </a:lnTo>
                  <a:lnTo>
                    <a:pt x="12700" y="6350"/>
                  </a:lnTo>
                  <a:lnTo>
                    <a:pt x="3429000" y="6350"/>
                  </a:lnTo>
                  <a:lnTo>
                    <a:pt x="3429000" y="12700"/>
                  </a:lnTo>
                  <a:close/>
                </a:path>
                <a:path w="3441700" h="4838700">
                  <a:moveTo>
                    <a:pt x="3429000" y="4832350"/>
                  </a:moveTo>
                  <a:lnTo>
                    <a:pt x="3429000" y="6350"/>
                  </a:lnTo>
                  <a:lnTo>
                    <a:pt x="3435350" y="12700"/>
                  </a:lnTo>
                  <a:lnTo>
                    <a:pt x="3441700" y="12700"/>
                  </a:lnTo>
                  <a:lnTo>
                    <a:pt x="3441700" y="4826000"/>
                  </a:lnTo>
                  <a:lnTo>
                    <a:pt x="3435350" y="4826000"/>
                  </a:lnTo>
                  <a:lnTo>
                    <a:pt x="3429000" y="4832350"/>
                  </a:lnTo>
                  <a:close/>
                </a:path>
                <a:path w="3441700" h="4838700">
                  <a:moveTo>
                    <a:pt x="3441700" y="12700"/>
                  </a:moveTo>
                  <a:lnTo>
                    <a:pt x="3435350" y="12700"/>
                  </a:lnTo>
                  <a:lnTo>
                    <a:pt x="3429000" y="6350"/>
                  </a:lnTo>
                  <a:lnTo>
                    <a:pt x="3441700" y="6350"/>
                  </a:lnTo>
                  <a:lnTo>
                    <a:pt x="3441700" y="12700"/>
                  </a:lnTo>
                  <a:close/>
                </a:path>
                <a:path w="3441700" h="4838700">
                  <a:moveTo>
                    <a:pt x="12700" y="4832350"/>
                  </a:moveTo>
                  <a:lnTo>
                    <a:pt x="6350" y="4826000"/>
                  </a:lnTo>
                  <a:lnTo>
                    <a:pt x="12700" y="4826000"/>
                  </a:lnTo>
                  <a:lnTo>
                    <a:pt x="12700" y="4832350"/>
                  </a:lnTo>
                  <a:close/>
                </a:path>
                <a:path w="3441700" h="4838700">
                  <a:moveTo>
                    <a:pt x="3429000" y="4832350"/>
                  </a:moveTo>
                  <a:lnTo>
                    <a:pt x="12700" y="4832350"/>
                  </a:lnTo>
                  <a:lnTo>
                    <a:pt x="12700" y="4826000"/>
                  </a:lnTo>
                  <a:lnTo>
                    <a:pt x="3429000" y="4826000"/>
                  </a:lnTo>
                  <a:lnTo>
                    <a:pt x="3429000" y="4832350"/>
                  </a:lnTo>
                  <a:close/>
                </a:path>
                <a:path w="3441700" h="4838700">
                  <a:moveTo>
                    <a:pt x="3441700" y="4832350"/>
                  </a:moveTo>
                  <a:lnTo>
                    <a:pt x="3429000" y="4832350"/>
                  </a:lnTo>
                  <a:lnTo>
                    <a:pt x="3435350" y="4826000"/>
                  </a:lnTo>
                  <a:lnTo>
                    <a:pt x="3441700" y="4826000"/>
                  </a:lnTo>
                  <a:lnTo>
                    <a:pt x="3441700" y="48323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35508" y="1459992"/>
              <a:ext cx="3429000" cy="52069"/>
            </a:xfrm>
            <a:custGeom>
              <a:avLst/>
              <a:gdLst/>
              <a:ahLst/>
              <a:cxnLst/>
              <a:rect l="l" t="t" r="r" b="b"/>
              <a:pathLst>
                <a:path w="3429000" h="52069">
                  <a:moveTo>
                    <a:pt x="3429000" y="51816"/>
                  </a:moveTo>
                  <a:lnTo>
                    <a:pt x="0" y="51816"/>
                  </a:lnTo>
                  <a:lnTo>
                    <a:pt x="0" y="0"/>
                  </a:lnTo>
                  <a:lnTo>
                    <a:pt x="3429000" y="0"/>
                  </a:lnTo>
                  <a:lnTo>
                    <a:pt x="3429000" y="51816"/>
                  </a:lnTo>
                  <a:close/>
                </a:path>
              </a:pathLst>
            </a:custGeom>
            <a:solidFill>
              <a:srgbClr val="0E749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825500" y="1590674"/>
            <a:ext cx="133032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What</a:t>
            </a:r>
            <a:r>
              <a:rPr sz="1400" b="1" spc="-25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10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Problem?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04239" y="1994534"/>
            <a:ext cx="2560955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92075">
              <a:lnSpc>
                <a:spcPct val="100000"/>
              </a:lnSpc>
              <a:spcBef>
                <a:spcPts val="100"/>
              </a:spcBef>
              <a:buChar char="•"/>
              <a:tabLst>
                <a:tab pos="104775" algn="l"/>
              </a:tabLst>
            </a:pP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Catastrophic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In-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Mission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Failures: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Turbofan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engines,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bearing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shafts,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25" dirty="0">
                <a:solidFill>
                  <a:srgbClr val="1E2A3A"/>
                </a:solidFill>
                <a:latin typeface="Arial MT"/>
                <a:cs typeface="Arial MT"/>
              </a:rPr>
              <a:t>and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ground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armor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transmission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break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down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unexpectedly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during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critical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sorties.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04239" y="2870834"/>
            <a:ext cx="2600960" cy="901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92075">
              <a:lnSpc>
                <a:spcPct val="100000"/>
              </a:lnSpc>
              <a:spcBef>
                <a:spcPts val="100"/>
              </a:spcBef>
              <a:buChar char="•"/>
              <a:tabLst>
                <a:tab pos="104775" algn="l"/>
              </a:tabLst>
            </a:pP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Disconnected</a:t>
            </a:r>
            <a:r>
              <a:rPr sz="1150" spc="-2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Telemetry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Silos:</a:t>
            </a:r>
            <a:r>
              <a:rPr sz="1150" spc="50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Millions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of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sensor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data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points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(vibration,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hydraulic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pressure,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heat)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stream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unanalyzed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without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automated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anomaly detection.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04239" y="3922395"/>
            <a:ext cx="2869565" cy="901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4775" indent="-92075">
              <a:lnSpc>
                <a:spcPct val="100000"/>
              </a:lnSpc>
              <a:spcBef>
                <a:spcPts val="100"/>
              </a:spcBef>
              <a:buChar char="•"/>
              <a:tabLst>
                <a:tab pos="104775" algn="l"/>
              </a:tabLst>
            </a:pP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Static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Schedule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Inefficiencies:</a:t>
            </a:r>
            <a:endParaRPr sz="115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Fixed-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hour</a:t>
            </a:r>
            <a:r>
              <a:rPr sz="1150" spc="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overhauls</a:t>
            </a:r>
            <a:r>
              <a:rPr sz="1150" spc="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waste</a:t>
            </a:r>
            <a:r>
              <a:rPr sz="1150" spc="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operational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uptime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and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replacement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budgets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on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healthy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assets while missing early</a:t>
            </a:r>
            <a:r>
              <a:rPr sz="1150" spc="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micro-fatigue spikes.</a:t>
            </a:r>
            <a:endParaRPr sz="115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375150" y="1454150"/>
            <a:ext cx="3441700" cy="4838700"/>
            <a:chOff x="4375150" y="1454150"/>
            <a:chExt cx="3441700" cy="4838700"/>
          </a:xfrm>
        </p:grpSpPr>
        <p:sp>
          <p:nvSpPr>
            <p:cNvPr id="14" name="object 14"/>
            <p:cNvSpPr/>
            <p:nvPr/>
          </p:nvSpPr>
          <p:spPr>
            <a:xfrm>
              <a:off x="4381500" y="1459992"/>
              <a:ext cx="3429000" cy="4826635"/>
            </a:xfrm>
            <a:custGeom>
              <a:avLst/>
              <a:gdLst/>
              <a:ahLst/>
              <a:cxnLst/>
              <a:rect l="l" t="t" r="r" b="b"/>
              <a:pathLst>
                <a:path w="3429000" h="4826635">
                  <a:moveTo>
                    <a:pt x="3429000" y="4826508"/>
                  </a:moveTo>
                  <a:lnTo>
                    <a:pt x="0" y="4826508"/>
                  </a:lnTo>
                  <a:lnTo>
                    <a:pt x="0" y="0"/>
                  </a:lnTo>
                  <a:lnTo>
                    <a:pt x="3429000" y="0"/>
                  </a:lnTo>
                  <a:lnTo>
                    <a:pt x="3429000" y="4826508"/>
                  </a:lnTo>
                  <a:close/>
                </a:path>
              </a:pathLst>
            </a:custGeom>
            <a:solidFill>
              <a:srgbClr val="F1F3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375150" y="1454150"/>
              <a:ext cx="3441700" cy="4838700"/>
            </a:xfrm>
            <a:custGeom>
              <a:avLst/>
              <a:gdLst/>
              <a:ahLst/>
              <a:cxnLst/>
              <a:rect l="l" t="t" r="r" b="b"/>
              <a:pathLst>
                <a:path w="3441700" h="4838700">
                  <a:moveTo>
                    <a:pt x="3441700" y="4838700"/>
                  </a:moveTo>
                  <a:lnTo>
                    <a:pt x="0" y="4838700"/>
                  </a:lnTo>
                  <a:lnTo>
                    <a:pt x="0" y="0"/>
                  </a:lnTo>
                  <a:lnTo>
                    <a:pt x="3441700" y="0"/>
                  </a:lnTo>
                  <a:lnTo>
                    <a:pt x="3441700" y="6350"/>
                  </a:lnTo>
                  <a:lnTo>
                    <a:pt x="12700" y="6350"/>
                  </a:lnTo>
                  <a:lnTo>
                    <a:pt x="6350" y="12700"/>
                  </a:lnTo>
                  <a:lnTo>
                    <a:pt x="12700" y="12700"/>
                  </a:lnTo>
                  <a:lnTo>
                    <a:pt x="12700" y="4826000"/>
                  </a:lnTo>
                  <a:lnTo>
                    <a:pt x="6350" y="4826000"/>
                  </a:lnTo>
                  <a:lnTo>
                    <a:pt x="12700" y="4832350"/>
                  </a:lnTo>
                  <a:lnTo>
                    <a:pt x="3441700" y="4832350"/>
                  </a:lnTo>
                  <a:lnTo>
                    <a:pt x="3441700" y="4838700"/>
                  </a:lnTo>
                  <a:close/>
                </a:path>
                <a:path w="3441700" h="4838700">
                  <a:moveTo>
                    <a:pt x="12700" y="12700"/>
                  </a:moveTo>
                  <a:lnTo>
                    <a:pt x="6350" y="12700"/>
                  </a:lnTo>
                  <a:lnTo>
                    <a:pt x="12700" y="6350"/>
                  </a:lnTo>
                  <a:lnTo>
                    <a:pt x="12700" y="12700"/>
                  </a:lnTo>
                  <a:close/>
                </a:path>
                <a:path w="3441700" h="4838700">
                  <a:moveTo>
                    <a:pt x="3429000" y="12700"/>
                  </a:moveTo>
                  <a:lnTo>
                    <a:pt x="12700" y="12700"/>
                  </a:lnTo>
                  <a:lnTo>
                    <a:pt x="12700" y="6350"/>
                  </a:lnTo>
                  <a:lnTo>
                    <a:pt x="3429000" y="6350"/>
                  </a:lnTo>
                  <a:lnTo>
                    <a:pt x="3429000" y="12700"/>
                  </a:lnTo>
                  <a:close/>
                </a:path>
                <a:path w="3441700" h="4838700">
                  <a:moveTo>
                    <a:pt x="3429000" y="4832350"/>
                  </a:moveTo>
                  <a:lnTo>
                    <a:pt x="3429000" y="6350"/>
                  </a:lnTo>
                  <a:lnTo>
                    <a:pt x="3435350" y="12700"/>
                  </a:lnTo>
                  <a:lnTo>
                    <a:pt x="3441700" y="12700"/>
                  </a:lnTo>
                  <a:lnTo>
                    <a:pt x="3441700" y="4826000"/>
                  </a:lnTo>
                  <a:lnTo>
                    <a:pt x="3435350" y="4826000"/>
                  </a:lnTo>
                  <a:lnTo>
                    <a:pt x="3429000" y="4832350"/>
                  </a:lnTo>
                  <a:close/>
                </a:path>
                <a:path w="3441700" h="4838700">
                  <a:moveTo>
                    <a:pt x="3441700" y="12700"/>
                  </a:moveTo>
                  <a:lnTo>
                    <a:pt x="3435350" y="12700"/>
                  </a:lnTo>
                  <a:lnTo>
                    <a:pt x="3429000" y="6350"/>
                  </a:lnTo>
                  <a:lnTo>
                    <a:pt x="3441700" y="6350"/>
                  </a:lnTo>
                  <a:lnTo>
                    <a:pt x="3441700" y="12700"/>
                  </a:lnTo>
                  <a:close/>
                </a:path>
                <a:path w="3441700" h="4838700">
                  <a:moveTo>
                    <a:pt x="12700" y="4832350"/>
                  </a:moveTo>
                  <a:lnTo>
                    <a:pt x="6350" y="4826000"/>
                  </a:lnTo>
                  <a:lnTo>
                    <a:pt x="12700" y="4826000"/>
                  </a:lnTo>
                  <a:lnTo>
                    <a:pt x="12700" y="4832350"/>
                  </a:lnTo>
                  <a:close/>
                </a:path>
                <a:path w="3441700" h="4838700">
                  <a:moveTo>
                    <a:pt x="3429000" y="4832350"/>
                  </a:moveTo>
                  <a:lnTo>
                    <a:pt x="12700" y="4832350"/>
                  </a:lnTo>
                  <a:lnTo>
                    <a:pt x="12700" y="4826000"/>
                  </a:lnTo>
                  <a:lnTo>
                    <a:pt x="3429000" y="4826000"/>
                  </a:lnTo>
                  <a:lnTo>
                    <a:pt x="3429000" y="4832350"/>
                  </a:lnTo>
                  <a:close/>
                </a:path>
                <a:path w="3441700" h="4838700">
                  <a:moveTo>
                    <a:pt x="3441700" y="4832350"/>
                  </a:moveTo>
                  <a:lnTo>
                    <a:pt x="3429000" y="4832350"/>
                  </a:lnTo>
                  <a:lnTo>
                    <a:pt x="3435350" y="4826000"/>
                  </a:lnTo>
                  <a:lnTo>
                    <a:pt x="3441700" y="4826000"/>
                  </a:lnTo>
                  <a:lnTo>
                    <a:pt x="3441700" y="48323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4381500" y="1459992"/>
              <a:ext cx="3429000" cy="52069"/>
            </a:xfrm>
            <a:custGeom>
              <a:avLst/>
              <a:gdLst/>
              <a:ahLst/>
              <a:cxnLst/>
              <a:rect l="l" t="t" r="r" b="b"/>
              <a:pathLst>
                <a:path w="3429000" h="52069">
                  <a:moveTo>
                    <a:pt x="3429000" y="51816"/>
                  </a:moveTo>
                  <a:lnTo>
                    <a:pt x="0" y="51816"/>
                  </a:lnTo>
                  <a:lnTo>
                    <a:pt x="0" y="0"/>
                  </a:lnTo>
                  <a:lnTo>
                    <a:pt x="3429000" y="0"/>
                  </a:lnTo>
                  <a:lnTo>
                    <a:pt x="3429000" y="51816"/>
                  </a:lnTo>
                  <a:close/>
                </a:path>
              </a:pathLst>
            </a:custGeom>
            <a:solidFill>
              <a:srgbClr val="92650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4572000" y="1590674"/>
            <a:ext cx="105346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92650B"/>
                </a:solidFill>
                <a:latin typeface="Arial" panose="020B0604020202020204"/>
                <a:cs typeface="Arial" panose="020B0604020202020204"/>
              </a:rPr>
              <a:t>Who</a:t>
            </a:r>
            <a:r>
              <a:rPr sz="1400" b="1" spc="-20" dirty="0">
                <a:solidFill>
                  <a:srgbClr val="92650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92650B"/>
                </a:solidFill>
                <a:latin typeface="Arial" panose="020B0604020202020204"/>
                <a:cs typeface="Arial" panose="020B0604020202020204"/>
              </a:rPr>
              <a:t>Has</a:t>
            </a:r>
            <a:r>
              <a:rPr sz="1400" b="1" spc="-15" dirty="0">
                <a:solidFill>
                  <a:srgbClr val="92650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25" dirty="0">
                <a:solidFill>
                  <a:srgbClr val="92650B"/>
                </a:solidFill>
                <a:latin typeface="Arial" panose="020B0604020202020204"/>
                <a:cs typeface="Arial" panose="020B0604020202020204"/>
              </a:rPr>
              <a:t>It?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650740" y="1994534"/>
            <a:ext cx="2820035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4775" indent="-92075">
              <a:lnSpc>
                <a:spcPct val="100000"/>
              </a:lnSpc>
              <a:spcBef>
                <a:spcPts val="100"/>
              </a:spcBef>
              <a:buChar char="•"/>
              <a:tabLst>
                <a:tab pos="104775" algn="l"/>
              </a:tabLst>
            </a:pP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Defense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Fleet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Commanders:</a:t>
            </a:r>
            <a:endParaRPr sz="115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Need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real-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time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readiness status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across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Air,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Sea,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and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Ground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platforms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to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green-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light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tactical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missions.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650740" y="2870834"/>
            <a:ext cx="2778760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92075">
              <a:lnSpc>
                <a:spcPct val="100000"/>
              </a:lnSpc>
              <a:spcBef>
                <a:spcPts val="100"/>
              </a:spcBef>
              <a:buChar char="•"/>
              <a:tabLst>
                <a:tab pos="104775" algn="l"/>
              </a:tabLst>
            </a:pP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Aviation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Squadron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Logistics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Officers: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Responsible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for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fighter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jet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propulsion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reliability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and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Remaining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Useful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Life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(RUL)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tracking.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650740" y="3747134"/>
            <a:ext cx="2860675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92075">
              <a:lnSpc>
                <a:spcPct val="100000"/>
              </a:lnSpc>
              <a:spcBef>
                <a:spcPts val="100"/>
              </a:spcBef>
              <a:buChar char="•"/>
              <a:tabLst>
                <a:tab pos="104775" algn="l"/>
              </a:tabLst>
            </a:pP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Depot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Operations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&amp;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Field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Technicians: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Require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exact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sensor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telemetry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diagnostics, root-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cause guidance,</a:t>
            </a:r>
            <a:r>
              <a:rPr sz="1150" spc="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and</a:t>
            </a:r>
            <a:r>
              <a:rPr sz="1150" spc="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rapid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bilingual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field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work-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order</a:t>
            </a:r>
            <a:r>
              <a:rPr sz="1150" spc="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generation.</a:t>
            </a:r>
            <a:endParaRPr sz="115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8121650" y="1454150"/>
            <a:ext cx="3441700" cy="4838700"/>
            <a:chOff x="8121650" y="1454150"/>
            <a:chExt cx="3441700" cy="4838700"/>
          </a:xfrm>
        </p:grpSpPr>
        <p:sp>
          <p:nvSpPr>
            <p:cNvPr id="22" name="object 22"/>
            <p:cNvSpPr/>
            <p:nvPr/>
          </p:nvSpPr>
          <p:spPr>
            <a:xfrm>
              <a:off x="8127492" y="1459992"/>
              <a:ext cx="3429000" cy="4826635"/>
            </a:xfrm>
            <a:custGeom>
              <a:avLst/>
              <a:gdLst/>
              <a:ahLst/>
              <a:cxnLst/>
              <a:rect l="l" t="t" r="r" b="b"/>
              <a:pathLst>
                <a:path w="3429000" h="4826635">
                  <a:moveTo>
                    <a:pt x="3429000" y="4826508"/>
                  </a:moveTo>
                  <a:lnTo>
                    <a:pt x="0" y="4826508"/>
                  </a:lnTo>
                  <a:lnTo>
                    <a:pt x="0" y="0"/>
                  </a:lnTo>
                  <a:lnTo>
                    <a:pt x="3429000" y="0"/>
                  </a:lnTo>
                  <a:lnTo>
                    <a:pt x="3429000" y="4826508"/>
                  </a:lnTo>
                  <a:close/>
                </a:path>
              </a:pathLst>
            </a:custGeom>
            <a:solidFill>
              <a:srgbClr val="F1F3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8121650" y="1454150"/>
              <a:ext cx="3441700" cy="4838700"/>
            </a:xfrm>
            <a:custGeom>
              <a:avLst/>
              <a:gdLst/>
              <a:ahLst/>
              <a:cxnLst/>
              <a:rect l="l" t="t" r="r" b="b"/>
              <a:pathLst>
                <a:path w="3441700" h="4838700">
                  <a:moveTo>
                    <a:pt x="3441700" y="4838700"/>
                  </a:moveTo>
                  <a:lnTo>
                    <a:pt x="0" y="4838700"/>
                  </a:lnTo>
                  <a:lnTo>
                    <a:pt x="0" y="0"/>
                  </a:lnTo>
                  <a:lnTo>
                    <a:pt x="3441700" y="0"/>
                  </a:lnTo>
                  <a:lnTo>
                    <a:pt x="3441700" y="6350"/>
                  </a:lnTo>
                  <a:lnTo>
                    <a:pt x="12700" y="6350"/>
                  </a:lnTo>
                  <a:lnTo>
                    <a:pt x="6350" y="12700"/>
                  </a:lnTo>
                  <a:lnTo>
                    <a:pt x="12700" y="12700"/>
                  </a:lnTo>
                  <a:lnTo>
                    <a:pt x="12700" y="4826000"/>
                  </a:lnTo>
                  <a:lnTo>
                    <a:pt x="6350" y="4826000"/>
                  </a:lnTo>
                  <a:lnTo>
                    <a:pt x="12700" y="4832350"/>
                  </a:lnTo>
                  <a:lnTo>
                    <a:pt x="3441700" y="4832350"/>
                  </a:lnTo>
                  <a:lnTo>
                    <a:pt x="3441700" y="4838700"/>
                  </a:lnTo>
                  <a:close/>
                </a:path>
                <a:path w="3441700" h="4838700">
                  <a:moveTo>
                    <a:pt x="12700" y="12700"/>
                  </a:moveTo>
                  <a:lnTo>
                    <a:pt x="6350" y="12700"/>
                  </a:lnTo>
                  <a:lnTo>
                    <a:pt x="12700" y="6350"/>
                  </a:lnTo>
                  <a:lnTo>
                    <a:pt x="12700" y="12700"/>
                  </a:lnTo>
                  <a:close/>
                </a:path>
                <a:path w="3441700" h="4838700">
                  <a:moveTo>
                    <a:pt x="3429000" y="12700"/>
                  </a:moveTo>
                  <a:lnTo>
                    <a:pt x="12700" y="12700"/>
                  </a:lnTo>
                  <a:lnTo>
                    <a:pt x="12700" y="6350"/>
                  </a:lnTo>
                  <a:lnTo>
                    <a:pt x="3429000" y="6350"/>
                  </a:lnTo>
                  <a:lnTo>
                    <a:pt x="3429000" y="12700"/>
                  </a:lnTo>
                  <a:close/>
                </a:path>
                <a:path w="3441700" h="4838700">
                  <a:moveTo>
                    <a:pt x="3429000" y="4832350"/>
                  </a:moveTo>
                  <a:lnTo>
                    <a:pt x="3429000" y="6350"/>
                  </a:lnTo>
                  <a:lnTo>
                    <a:pt x="3435350" y="12700"/>
                  </a:lnTo>
                  <a:lnTo>
                    <a:pt x="3441700" y="12700"/>
                  </a:lnTo>
                  <a:lnTo>
                    <a:pt x="3441700" y="4826000"/>
                  </a:lnTo>
                  <a:lnTo>
                    <a:pt x="3435350" y="4826000"/>
                  </a:lnTo>
                  <a:lnTo>
                    <a:pt x="3429000" y="4832350"/>
                  </a:lnTo>
                  <a:close/>
                </a:path>
                <a:path w="3441700" h="4838700">
                  <a:moveTo>
                    <a:pt x="3441700" y="12700"/>
                  </a:moveTo>
                  <a:lnTo>
                    <a:pt x="3435350" y="12700"/>
                  </a:lnTo>
                  <a:lnTo>
                    <a:pt x="3429000" y="6350"/>
                  </a:lnTo>
                  <a:lnTo>
                    <a:pt x="3441700" y="6350"/>
                  </a:lnTo>
                  <a:lnTo>
                    <a:pt x="3441700" y="12700"/>
                  </a:lnTo>
                  <a:close/>
                </a:path>
                <a:path w="3441700" h="4838700">
                  <a:moveTo>
                    <a:pt x="12700" y="4832350"/>
                  </a:moveTo>
                  <a:lnTo>
                    <a:pt x="6350" y="4826000"/>
                  </a:lnTo>
                  <a:lnTo>
                    <a:pt x="12700" y="4826000"/>
                  </a:lnTo>
                  <a:lnTo>
                    <a:pt x="12700" y="4832350"/>
                  </a:lnTo>
                  <a:close/>
                </a:path>
                <a:path w="3441700" h="4838700">
                  <a:moveTo>
                    <a:pt x="3429000" y="4832350"/>
                  </a:moveTo>
                  <a:lnTo>
                    <a:pt x="12700" y="4832350"/>
                  </a:lnTo>
                  <a:lnTo>
                    <a:pt x="12700" y="4826000"/>
                  </a:lnTo>
                  <a:lnTo>
                    <a:pt x="3429000" y="4826000"/>
                  </a:lnTo>
                  <a:lnTo>
                    <a:pt x="3429000" y="4832350"/>
                  </a:lnTo>
                  <a:close/>
                </a:path>
                <a:path w="3441700" h="4838700">
                  <a:moveTo>
                    <a:pt x="3441700" y="4832350"/>
                  </a:moveTo>
                  <a:lnTo>
                    <a:pt x="3429000" y="4832350"/>
                  </a:lnTo>
                  <a:lnTo>
                    <a:pt x="3435350" y="4826000"/>
                  </a:lnTo>
                  <a:lnTo>
                    <a:pt x="3441700" y="4826000"/>
                  </a:lnTo>
                  <a:lnTo>
                    <a:pt x="3441700" y="48323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8127492" y="1459992"/>
              <a:ext cx="3429000" cy="52069"/>
            </a:xfrm>
            <a:custGeom>
              <a:avLst/>
              <a:gdLst/>
              <a:ahLst/>
              <a:cxnLst/>
              <a:rect l="l" t="t" r="r" b="b"/>
              <a:pathLst>
                <a:path w="3429000" h="52069">
                  <a:moveTo>
                    <a:pt x="3429000" y="51816"/>
                  </a:moveTo>
                  <a:lnTo>
                    <a:pt x="0" y="51816"/>
                  </a:lnTo>
                  <a:lnTo>
                    <a:pt x="0" y="0"/>
                  </a:lnTo>
                  <a:lnTo>
                    <a:pt x="3429000" y="0"/>
                  </a:lnTo>
                  <a:lnTo>
                    <a:pt x="3429000" y="51816"/>
                  </a:lnTo>
                  <a:close/>
                </a:path>
              </a:pathLst>
            </a:custGeom>
            <a:solidFill>
              <a:srgbClr val="0B8A5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8318500" y="1590674"/>
            <a:ext cx="135001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Why</a:t>
            </a:r>
            <a:r>
              <a:rPr sz="1400" b="1" spc="-15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It</a:t>
            </a:r>
            <a:r>
              <a:rPr sz="1400" b="1" spc="-15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10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Matters?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397240" y="1994534"/>
            <a:ext cx="2844800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92075">
              <a:lnSpc>
                <a:spcPct val="100000"/>
              </a:lnSpc>
              <a:spcBef>
                <a:spcPts val="100"/>
              </a:spcBef>
              <a:buChar char="•"/>
              <a:tabLst>
                <a:tab pos="104775" algn="l"/>
              </a:tabLst>
            </a:pP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Mission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Success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&amp;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Personnel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Safety: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Equipment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failure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in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active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defense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operations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risks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personnel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lives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and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tactical objectives.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397240" y="2870834"/>
            <a:ext cx="2633980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92075">
              <a:lnSpc>
                <a:spcPct val="100000"/>
              </a:lnSpc>
              <a:spcBef>
                <a:spcPts val="100"/>
              </a:spcBef>
              <a:buChar char="•"/>
              <a:tabLst>
                <a:tab pos="104775" algn="l"/>
              </a:tabLst>
            </a:pP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Millions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in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Maintenance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Savings: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Preventing</a:t>
            </a:r>
            <a:r>
              <a:rPr sz="1150" spc="-2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catastrophic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turbofan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engine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burnouts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and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structural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bearing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seizures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reduces overhaul costs by</a:t>
            </a:r>
            <a:r>
              <a:rPr sz="1150" spc="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40-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60%.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397240" y="3747134"/>
            <a:ext cx="2604770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92075">
              <a:lnSpc>
                <a:spcPct val="100000"/>
              </a:lnSpc>
              <a:spcBef>
                <a:spcPts val="100"/>
              </a:spcBef>
              <a:buChar char="•"/>
              <a:tabLst>
                <a:tab pos="104775" algn="l"/>
              </a:tabLst>
            </a:pP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95%+</a:t>
            </a:r>
            <a:r>
              <a:rPr sz="1150" spc="-2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Fleet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Operational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Readiness: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Shifts</a:t>
            </a:r>
            <a:r>
              <a:rPr sz="1150" spc="-3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fleet</a:t>
            </a:r>
            <a:r>
              <a:rPr sz="1150" spc="-3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posture</a:t>
            </a:r>
            <a:r>
              <a:rPr sz="1150" spc="-3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from</a:t>
            </a:r>
            <a:r>
              <a:rPr sz="1150" spc="-3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reactive</a:t>
            </a:r>
            <a:r>
              <a:rPr sz="1150" spc="-3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'break-and-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fix'</a:t>
            </a:r>
            <a:r>
              <a:rPr sz="1150" spc="2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to</a:t>
            </a:r>
            <a:r>
              <a:rPr sz="1150" spc="2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proactive,</a:t>
            </a:r>
            <a:r>
              <a:rPr sz="1150" spc="2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condition-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based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predictive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deployment.</a:t>
            </a:r>
            <a:endParaRPr sz="11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362200" y="532764"/>
            <a:ext cx="8486775" cy="3600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AEGIS</a:t>
            </a:r>
            <a:r>
              <a:rPr spc="-50" dirty="0"/>
              <a:t> </a:t>
            </a:r>
            <a:r>
              <a:rPr dirty="0"/>
              <a:t>Platform:</a:t>
            </a:r>
            <a:r>
              <a:rPr spc="-40" dirty="0"/>
              <a:t> </a:t>
            </a:r>
            <a:r>
              <a:rPr dirty="0"/>
              <a:t>Complete</a:t>
            </a:r>
            <a:r>
              <a:rPr spc="-40" dirty="0"/>
              <a:t> </a:t>
            </a:r>
            <a:r>
              <a:rPr spc="-20" dirty="0"/>
              <a:t>Condition-</a:t>
            </a:r>
            <a:r>
              <a:rPr dirty="0"/>
              <a:t>Based</a:t>
            </a:r>
            <a:r>
              <a:rPr spc="-40" dirty="0"/>
              <a:t> </a:t>
            </a:r>
            <a:r>
              <a:rPr dirty="0"/>
              <a:t>Fleet</a:t>
            </a:r>
            <a:r>
              <a:rPr spc="-40" dirty="0"/>
              <a:t> </a:t>
            </a:r>
            <a:r>
              <a:rPr spc="-10" dirty="0"/>
              <a:t>Intelligence</a:t>
            </a:r>
            <a:endParaRPr spc="-10" dirty="0"/>
          </a:p>
        </p:txBody>
      </p:sp>
      <p:sp>
        <p:nvSpPr>
          <p:cNvPr id="4" name="object 4"/>
          <p:cNvSpPr txBox="1"/>
          <p:nvPr/>
        </p:nvSpPr>
        <p:spPr>
          <a:xfrm>
            <a:off x="3239135" y="1069339"/>
            <a:ext cx="668400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A</a:t>
            </a:r>
            <a:r>
              <a:rPr sz="1200" spc="-85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unified</a:t>
            </a:r>
            <a:r>
              <a:rPr sz="1200" spc="-20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platform</a:t>
            </a:r>
            <a:r>
              <a:rPr sz="1200" spc="-10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integrating</a:t>
            </a:r>
            <a:r>
              <a:rPr sz="1200" spc="-20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live</a:t>
            </a:r>
            <a:r>
              <a:rPr sz="1200" spc="-15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sensor</a:t>
            </a:r>
            <a:r>
              <a:rPr sz="1200" spc="-15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ingestion,</a:t>
            </a:r>
            <a:r>
              <a:rPr sz="1200" spc="-10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3</a:t>
            </a:r>
            <a:r>
              <a:rPr sz="1200" spc="-20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5B6472"/>
                </a:solidFill>
                <a:latin typeface="Arial MT"/>
                <a:cs typeface="Arial MT"/>
              </a:rPr>
              <a:t>pre-</a:t>
            </a: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trained</a:t>
            </a:r>
            <a:r>
              <a:rPr sz="1200" spc="-15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ML</a:t>
            </a:r>
            <a:r>
              <a:rPr sz="1200" spc="-60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models,</a:t>
            </a:r>
            <a:r>
              <a:rPr sz="1200" spc="-10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and</a:t>
            </a:r>
            <a:r>
              <a:rPr sz="1200" spc="-20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5B6472"/>
                </a:solidFill>
                <a:latin typeface="Arial MT"/>
                <a:cs typeface="Arial MT"/>
              </a:rPr>
              <a:t>conversational</a:t>
            </a:r>
            <a:r>
              <a:rPr sz="1200" spc="-75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spc="-25" dirty="0">
                <a:solidFill>
                  <a:srgbClr val="5B6472"/>
                </a:solidFill>
                <a:latin typeface="Arial MT"/>
                <a:cs typeface="Arial MT"/>
              </a:rPr>
              <a:t>AI.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28650" y="1454150"/>
            <a:ext cx="2616200" cy="3060700"/>
            <a:chOff x="628650" y="1454150"/>
            <a:chExt cx="2616200" cy="3060700"/>
          </a:xfrm>
        </p:grpSpPr>
        <p:sp>
          <p:nvSpPr>
            <p:cNvPr id="6" name="object 6"/>
            <p:cNvSpPr/>
            <p:nvPr/>
          </p:nvSpPr>
          <p:spPr>
            <a:xfrm>
              <a:off x="635508" y="1459992"/>
              <a:ext cx="2603500" cy="3048000"/>
            </a:xfrm>
            <a:custGeom>
              <a:avLst/>
              <a:gdLst/>
              <a:ahLst/>
              <a:cxnLst/>
              <a:rect l="l" t="t" r="r" b="b"/>
              <a:pathLst>
                <a:path w="2603500" h="3048000">
                  <a:moveTo>
                    <a:pt x="2602992" y="3048000"/>
                  </a:moveTo>
                  <a:lnTo>
                    <a:pt x="0" y="3048000"/>
                  </a:lnTo>
                  <a:lnTo>
                    <a:pt x="0" y="0"/>
                  </a:lnTo>
                  <a:lnTo>
                    <a:pt x="2602992" y="0"/>
                  </a:lnTo>
                  <a:lnTo>
                    <a:pt x="2602992" y="3048000"/>
                  </a:lnTo>
                  <a:close/>
                </a:path>
              </a:pathLst>
            </a:custGeom>
            <a:solidFill>
              <a:srgbClr val="F1F3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28650" y="1454150"/>
              <a:ext cx="2616200" cy="3060700"/>
            </a:xfrm>
            <a:custGeom>
              <a:avLst/>
              <a:gdLst/>
              <a:ahLst/>
              <a:cxnLst/>
              <a:rect l="l" t="t" r="r" b="b"/>
              <a:pathLst>
                <a:path w="2616200" h="3060700">
                  <a:moveTo>
                    <a:pt x="2616200" y="3060700"/>
                  </a:moveTo>
                  <a:lnTo>
                    <a:pt x="0" y="3060700"/>
                  </a:lnTo>
                  <a:lnTo>
                    <a:pt x="0" y="0"/>
                  </a:lnTo>
                  <a:lnTo>
                    <a:pt x="2616200" y="0"/>
                  </a:lnTo>
                  <a:lnTo>
                    <a:pt x="2616200" y="6350"/>
                  </a:lnTo>
                  <a:lnTo>
                    <a:pt x="12700" y="6350"/>
                  </a:lnTo>
                  <a:lnTo>
                    <a:pt x="6350" y="12700"/>
                  </a:lnTo>
                  <a:lnTo>
                    <a:pt x="12700" y="12700"/>
                  </a:lnTo>
                  <a:lnTo>
                    <a:pt x="12700" y="3048000"/>
                  </a:lnTo>
                  <a:lnTo>
                    <a:pt x="6350" y="3048000"/>
                  </a:lnTo>
                  <a:lnTo>
                    <a:pt x="12700" y="3054350"/>
                  </a:lnTo>
                  <a:lnTo>
                    <a:pt x="2616200" y="3054350"/>
                  </a:lnTo>
                  <a:lnTo>
                    <a:pt x="2616200" y="3060700"/>
                  </a:lnTo>
                  <a:close/>
                </a:path>
                <a:path w="2616200" h="3060700">
                  <a:moveTo>
                    <a:pt x="12700" y="12700"/>
                  </a:moveTo>
                  <a:lnTo>
                    <a:pt x="6350" y="12700"/>
                  </a:lnTo>
                  <a:lnTo>
                    <a:pt x="12700" y="6350"/>
                  </a:lnTo>
                  <a:lnTo>
                    <a:pt x="12700" y="12700"/>
                  </a:lnTo>
                  <a:close/>
                </a:path>
                <a:path w="2616200" h="3060700">
                  <a:moveTo>
                    <a:pt x="2603500" y="12700"/>
                  </a:moveTo>
                  <a:lnTo>
                    <a:pt x="12700" y="12700"/>
                  </a:lnTo>
                  <a:lnTo>
                    <a:pt x="12700" y="6350"/>
                  </a:lnTo>
                  <a:lnTo>
                    <a:pt x="2603500" y="6350"/>
                  </a:lnTo>
                  <a:lnTo>
                    <a:pt x="2603500" y="12700"/>
                  </a:lnTo>
                  <a:close/>
                </a:path>
                <a:path w="2616200" h="3060700">
                  <a:moveTo>
                    <a:pt x="2603500" y="3054350"/>
                  </a:moveTo>
                  <a:lnTo>
                    <a:pt x="2603500" y="6350"/>
                  </a:lnTo>
                  <a:lnTo>
                    <a:pt x="2609850" y="12700"/>
                  </a:lnTo>
                  <a:lnTo>
                    <a:pt x="2616200" y="12700"/>
                  </a:lnTo>
                  <a:lnTo>
                    <a:pt x="2616200" y="3048000"/>
                  </a:lnTo>
                  <a:lnTo>
                    <a:pt x="2609850" y="3048000"/>
                  </a:lnTo>
                  <a:lnTo>
                    <a:pt x="2603500" y="3054350"/>
                  </a:lnTo>
                  <a:close/>
                </a:path>
                <a:path w="2616200" h="3060700">
                  <a:moveTo>
                    <a:pt x="2616200" y="12700"/>
                  </a:moveTo>
                  <a:lnTo>
                    <a:pt x="2609850" y="12700"/>
                  </a:lnTo>
                  <a:lnTo>
                    <a:pt x="2603500" y="6350"/>
                  </a:lnTo>
                  <a:lnTo>
                    <a:pt x="2616200" y="6350"/>
                  </a:lnTo>
                  <a:lnTo>
                    <a:pt x="2616200" y="12700"/>
                  </a:lnTo>
                  <a:close/>
                </a:path>
                <a:path w="2616200" h="3060700">
                  <a:moveTo>
                    <a:pt x="12700" y="3054350"/>
                  </a:moveTo>
                  <a:lnTo>
                    <a:pt x="6350" y="3048000"/>
                  </a:lnTo>
                  <a:lnTo>
                    <a:pt x="12700" y="3048000"/>
                  </a:lnTo>
                  <a:lnTo>
                    <a:pt x="12700" y="3054350"/>
                  </a:lnTo>
                  <a:close/>
                </a:path>
                <a:path w="2616200" h="3060700">
                  <a:moveTo>
                    <a:pt x="2603500" y="3054350"/>
                  </a:moveTo>
                  <a:lnTo>
                    <a:pt x="12700" y="3054350"/>
                  </a:lnTo>
                  <a:lnTo>
                    <a:pt x="12700" y="3048000"/>
                  </a:lnTo>
                  <a:lnTo>
                    <a:pt x="2603500" y="3048000"/>
                  </a:lnTo>
                  <a:lnTo>
                    <a:pt x="2603500" y="3054350"/>
                  </a:lnTo>
                  <a:close/>
                </a:path>
                <a:path w="2616200" h="3060700">
                  <a:moveTo>
                    <a:pt x="2616200" y="3054350"/>
                  </a:moveTo>
                  <a:lnTo>
                    <a:pt x="2603500" y="3054350"/>
                  </a:lnTo>
                  <a:lnTo>
                    <a:pt x="2609850" y="3048000"/>
                  </a:lnTo>
                  <a:lnTo>
                    <a:pt x="2616200" y="3048000"/>
                  </a:lnTo>
                  <a:lnTo>
                    <a:pt x="2616200" y="30543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35508" y="1459992"/>
              <a:ext cx="2603500" cy="52069"/>
            </a:xfrm>
            <a:custGeom>
              <a:avLst/>
              <a:gdLst/>
              <a:ahLst/>
              <a:cxnLst/>
              <a:rect l="l" t="t" r="r" b="b"/>
              <a:pathLst>
                <a:path w="2603500" h="52069">
                  <a:moveTo>
                    <a:pt x="2602992" y="51816"/>
                  </a:moveTo>
                  <a:lnTo>
                    <a:pt x="0" y="51816"/>
                  </a:lnTo>
                  <a:lnTo>
                    <a:pt x="0" y="0"/>
                  </a:lnTo>
                  <a:lnTo>
                    <a:pt x="2602992" y="0"/>
                  </a:lnTo>
                  <a:lnTo>
                    <a:pt x="2602992" y="51816"/>
                  </a:lnTo>
                  <a:close/>
                </a:path>
              </a:pathLst>
            </a:custGeom>
            <a:solidFill>
              <a:srgbClr val="0E749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825500" y="1590674"/>
            <a:ext cx="155892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1.</a:t>
            </a:r>
            <a:r>
              <a:rPr sz="1400" b="1" spc="-15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Live</a:t>
            </a:r>
            <a:r>
              <a:rPr sz="1400" b="1" spc="-10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 Dashboard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66139" y="1993899"/>
            <a:ext cx="1989455" cy="1032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9060" indent="-86360">
              <a:lnSpc>
                <a:spcPct val="100000"/>
              </a:lnSpc>
              <a:spcBef>
                <a:spcPts val="105"/>
              </a:spcBef>
              <a:buChar char="•"/>
              <a:tabLst>
                <a:tab pos="99060" algn="l"/>
              </a:tabLst>
            </a:pP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Real-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time</a:t>
            </a:r>
            <a:r>
              <a:rPr sz="1100" spc="-2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Fleet</a:t>
            </a:r>
            <a:r>
              <a:rPr sz="110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Overview</a:t>
            </a:r>
            <a:endParaRPr sz="1100">
              <a:latin typeface="Arial MT"/>
              <a:cs typeface="Arial MT"/>
            </a:endParaRPr>
          </a:p>
          <a:p>
            <a:pPr marL="99060" indent="-86360">
              <a:lnSpc>
                <a:spcPct val="100000"/>
              </a:lnSpc>
              <a:buChar char="•"/>
              <a:tabLst>
                <a:tab pos="99060" algn="l"/>
              </a:tabLst>
            </a:pP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Color-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coded</a:t>
            </a:r>
            <a:r>
              <a:rPr sz="1100" spc="-3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Readiness</a:t>
            </a:r>
            <a:r>
              <a:rPr sz="1100" spc="-3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Matrix</a:t>
            </a:r>
            <a:endParaRPr sz="1100">
              <a:latin typeface="Arial MT"/>
              <a:cs typeface="Arial MT"/>
            </a:endParaRPr>
          </a:p>
          <a:p>
            <a:pPr marL="99060" indent="-86360">
              <a:lnSpc>
                <a:spcPct val="100000"/>
              </a:lnSpc>
              <a:buChar char="•"/>
              <a:tabLst>
                <a:tab pos="99060" algn="l"/>
              </a:tabLst>
            </a:pP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Live</a:t>
            </a:r>
            <a:r>
              <a:rPr sz="1100" spc="-3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Sensor</a:t>
            </a:r>
            <a:r>
              <a:rPr sz="1100" spc="-2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Trend</a:t>
            </a:r>
            <a:r>
              <a:rPr sz="1100" spc="-3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Charts</a:t>
            </a:r>
            <a:endParaRPr sz="1100">
              <a:latin typeface="Arial MT"/>
              <a:cs typeface="Arial MT"/>
            </a:endParaRPr>
          </a:p>
          <a:p>
            <a:pPr marL="99060" indent="-86360">
              <a:lnSpc>
                <a:spcPct val="100000"/>
              </a:lnSpc>
              <a:buChar char="•"/>
              <a:tabLst>
                <a:tab pos="99060" algn="l"/>
              </a:tabLst>
            </a:pP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Instant</a:t>
            </a:r>
            <a:r>
              <a:rPr sz="1100" spc="-3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Critical</a:t>
            </a:r>
            <a:r>
              <a:rPr sz="1100" spc="-3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Alert</a:t>
            </a:r>
            <a:r>
              <a:rPr sz="1100" spc="-3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Badges</a:t>
            </a:r>
            <a:endParaRPr sz="1100">
              <a:latin typeface="Arial MT"/>
              <a:cs typeface="Arial MT"/>
            </a:endParaRPr>
          </a:p>
          <a:p>
            <a:pPr marL="12700" marR="407035" indent="86360">
              <a:lnSpc>
                <a:spcPct val="100000"/>
              </a:lnSpc>
              <a:buChar char="•"/>
              <a:tabLst>
                <a:tab pos="99060" algn="l"/>
              </a:tabLst>
            </a:pP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WebSocket</a:t>
            </a:r>
            <a:r>
              <a:rPr sz="1100" spc="-2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sub-second streaming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397250" y="1454150"/>
            <a:ext cx="2616200" cy="3060700"/>
            <a:chOff x="3397250" y="1454150"/>
            <a:chExt cx="2616200" cy="3060700"/>
          </a:xfrm>
        </p:grpSpPr>
        <p:sp>
          <p:nvSpPr>
            <p:cNvPr id="12" name="object 12"/>
            <p:cNvSpPr/>
            <p:nvPr/>
          </p:nvSpPr>
          <p:spPr>
            <a:xfrm>
              <a:off x="3403092" y="1459992"/>
              <a:ext cx="2604770" cy="3048000"/>
            </a:xfrm>
            <a:custGeom>
              <a:avLst/>
              <a:gdLst/>
              <a:ahLst/>
              <a:cxnLst/>
              <a:rect l="l" t="t" r="r" b="b"/>
              <a:pathLst>
                <a:path w="2604770" h="3048000">
                  <a:moveTo>
                    <a:pt x="2604516" y="3048000"/>
                  </a:moveTo>
                  <a:lnTo>
                    <a:pt x="0" y="3048000"/>
                  </a:lnTo>
                  <a:lnTo>
                    <a:pt x="0" y="0"/>
                  </a:lnTo>
                  <a:lnTo>
                    <a:pt x="2604516" y="0"/>
                  </a:lnTo>
                  <a:lnTo>
                    <a:pt x="2604516" y="3048000"/>
                  </a:lnTo>
                  <a:close/>
                </a:path>
              </a:pathLst>
            </a:custGeom>
            <a:solidFill>
              <a:srgbClr val="F1F3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397250" y="1454150"/>
              <a:ext cx="2616200" cy="3060700"/>
            </a:xfrm>
            <a:custGeom>
              <a:avLst/>
              <a:gdLst/>
              <a:ahLst/>
              <a:cxnLst/>
              <a:rect l="l" t="t" r="r" b="b"/>
              <a:pathLst>
                <a:path w="2616200" h="3060700">
                  <a:moveTo>
                    <a:pt x="2616200" y="3060700"/>
                  </a:moveTo>
                  <a:lnTo>
                    <a:pt x="0" y="3060700"/>
                  </a:lnTo>
                  <a:lnTo>
                    <a:pt x="0" y="0"/>
                  </a:lnTo>
                  <a:lnTo>
                    <a:pt x="2616200" y="0"/>
                  </a:lnTo>
                  <a:lnTo>
                    <a:pt x="2616200" y="6350"/>
                  </a:lnTo>
                  <a:lnTo>
                    <a:pt x="12700" y="6350"/>
                  </a:lnTo>
                  <a:lnTo>
                    <a:pt x="6350" y="12700"/>
                  </a:lnTo>
                  <a:lnTo>
                    <a:pt x="12700" y="12700"/>
                  </a:lnTo>
                  <a:lnTo>
                    <a:pt x="12700" y="3048000"/>
                  </a:lnTo>
                  <a:lnTo>
                    <a:pt x="6350" y="3048000"/>
                  </a:lnTo>
                  <a:lnTo>
                    <a:pt x="12700" y="3054350"/>
                  </a:lnTo>
                  <a:lnTo>
                    <a:pt x="2616200" y="3054350"/>
                  </a:lnTo>
                  <a:lnTo>
                    <a:pt x="2616200" y="3060700"/>
                  </a:lnTo>
                  <a:close/>
                </a:path>
                <a:path w="2616200" h="3060700">
                  <a:moveTo>
                    <a:pt x="12700" y="12700"/>
                  </a:moveTo>
                  <a:lnTo>
                    <a:pt x="6350" y="12700"/>
                  </a:lnTo>
                  <a:lnTo>
                    <a:pt x="12700" y="6350"/>
                  </a:lnTo>
                  <a:lnTo>
                    <a:pt x="12700" y="12700"/>
                  </a:lnTo>
                  <a:close/>
                </a:path>
                <a:path w="2616200" h="3060700">
                  <a:moveTo>
                    <a:pt x="2603500" y="12700"/>
                  </a:moveTo>
                  <a:lnTo>
                    <a:pt x="12700" y="12700"/>
                  </a:lnTo>
                  <a:lnTo>
                    <a:pt x="12700" y="6350"/>
                  </a:lnTo>
                  <a:lnTo>
                    <a:pt x="2603500" y="6350"/>
                  </a:lnTo>
                  <a:lnTo>
                    <a:pt x="2603500" y="12700"/>
                  </a:lnTo>
                  <a:close/>
                </a:path>
                <a:path w="2616200" h="3060700">
                  <a:moveTo>
                    <a:pt x="2603500" y="3054350"/>
                  </a:moveTo>
                  <a:lnTo>
                    <a:pt x="2603500" y="6350"/>
                  </a:lnTo>
                  <a:lnTo>
                    <a:pt x="2609850" y="12700"/>
                  </a:lnTo>
                  <a:lnTo>
                    <a:pt x="2616200" y="12700"/>
                  </a:lnTo>
                  <a:lnTo>
                    <a:pt x="2616200" y="3048000"/>
                  </a:lnTo>
                  <a:lnTo>
                    <a:pt x="2609850" y="3048000"/>
                  </a:lnTo>
                  <a:lnTo>
                    <a:pt x="2603500" y="3054350"/>
                  </a:lnTo>
                  <a:close/>
                </a:path>
                <a:path w="2616200" h="3060700">
                  <a:moveTo>
                    <a:pt x="2616200" y="12700"/>
                  </a:moveTo>
                  <a:lnTo>
                    <a:pt x="2609850" y="12700"/>
                  </a:lnTo>
                  <a:lnTo>
                    <a:pt x="2603500" y="6350"/>
                  </a:lnTo>
                  <a:lnTo>
                    <a:pt x="2616200" y="6350"/>
                  </a:lnTo>
                  <a:lnTo>
                    <a:pt x="2616200" y="12700"/>
                  </a:lnTo>
                  <a:close/>
                </a:path>
                <a:path w="2616200" h="3060700">
                  <a:moveTo>
                    <a:pt x="12700" y="3054350"/>
                  </a:moveTo>
                  <a:lnTo>
                    <a:pt x="6350" y="3048000"/>
                  </a:lnTo>
                  <a:lnTo>
                    <a:pt x="12700" y="3048000"/>
                  </a:lnTo>
                  <a:lnTo>
                    <a:pt x="12700" y="3054350"/>
                  </a:lnTo>
                  <a:close/>
                </a:path>
                <a:path w="2616200" h="3060700">
                  <a:moveTo>
                    <a:pt x="2603500" y="3054350"/>
                  </a:moveTo>
                  <a:lnTo>
                    <a:pt x="12700" y="3054350"/>
                  </a:lnTo>
                  <a:lnTo>
                    <a:pt x="12700" y="3048000"/>
                  </a:lnTo>
                  <a:lnTo>
                    <a:pt x="2603500" y="3048000"/>
                  </a:lnTo>
                  <a:lnTo>
                    <a:pt x="2603500" y="3054350"/>
                  </a:lnTo>
                  <a:close/>
                </a:path>
                <a:path w="2616200" h="3060700">
                  <a:moveTo>
                    <a:pt x="2616200" y="3054350"/>
                  </a:moveTo>
                  <a:lnTo>
                    <a:pt x="2603500" y="3054350"/>
                  </a:lnTo>
                  <a:lnTo>
                    <a:pt x="2609850" y="3048000"/>
                  </a:lnTo>
                  <a:lnTo>
                    <a:pt x="2616200" y="3048000"/>
                  </a:lnTo>
                  <a:lnTo>
                    <a:pt x="2616200" y="30543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403092" y="1459992"/>
              <a:ext cx="2604770" cy="52069"/>
            </a:xfrm>
            <a:custGeom>
              <a:avLst/>
              <a:gdLst/>
              <a:ahLst/>
              <a:cxnLst/>
              <a:rect l="l" t="t" r="r" b="b"/>
              <a:pathLst>
                <a:path w="2604770" h="52069">
                  <a:moveTo>
                    <a:pt x="2604516" y="51816"/>
                  </a:moveTo>
                  <a:lnTo>
                    <a:pt x="0" y="51816"/>
                  </a:lnTo>
                  <a:lnTo>
                    <a:pt x="0" y="0"/>
                  </a:lnTo>
                  <a:lnTo>
                    <a:pt x="2604516" y="0"/>
                  </a:lnTo>
                  <a:lnTo>
                    <a:pt x="2604516" y="51816"/>
                  </a:lnTo>
                  <a:close/>
                </a:path>
              </a:pathLst>
            </a:custGeom>
            <a:solidFill>
              <a:srgbClr val="0B8A5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3594100" y="1590674"/>
            <a:ext cx="151765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2. </a:t>
            </a:r>
            <a:r>
              <a:rPr sz="1400" b="1" spc="-10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Multi-</a:t>
            </a:r>
            <a:r>
              <a:rPr sz="1400" b="1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Model </a:t>
            </a:r>
            <a:r>
              <a:rPr sz="1400" b="1" spc="-25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ML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634740" y="1993899"/>
            <a:ext cx="1867535" cy="8648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9060" indent="-86360">
              <a:lnSpc>
                <a:spcPct val="100000"/>
              </a:lnSpc>
              <a:spcBef>
                <a:spcPts val="105"/>
              </a:spcBef>
              <a:buChar char="•"/>
              <a:tabLst>
                <a:tab pos="99060" algn="l"/>
              </a:tabLst>
            </a:pP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NASA</a:t>
            </a:r>
            <a:r>
              <a:rPr sz="1100" spc="-6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N-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CMAPSS</a:t>
            </a:r>
            <a:r>
              <a:rPr sz="1100" spc="-6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Turbofan</a:t>
            </a:r>
            <a:endParaRPr sz="1100">
              <a:latin typeface="Arial MT"/>
              <a:cs typeface="Arial MT"/>
            </a:endParaRPr>
          </a:p>
          <a:p>
            <a:pPr marL="99060" indent="-86360">
              <a:lnSpc>
                <a:spcPct val="100000"/>
              </a:lnSpc>
              <a:buChar char="•"/>
              <a:tabLst>
                <a:tab pos="99060" algn="l"/>
              </a:tabLst>
            </a:pP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NASA</a:t>
            </a:r>
            <a:r>
              <a:rPr sz="1100" spc="-4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IMS</a:t>
            </a:r>
            <a:r>
              <a:rPr sz="1100" spc="-4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Bearing</a:t>
            </a:r>
            <a:r>
              <a:rPr sz="1100" spc="-4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Rotary</a:t>
            </a:r>
            <a:endParaRPr sz="1100">
              <a:latin typeface="Arial MT"/>
              <a:cs typeface="Arial MT"/>
            </a:endParaRPr>
          </a:p>
          <a:p>
            <a:pPr marL="99060" indent="-86360">
              <a:lnSpc>
                <a:spcPct val="100000"/>
              </a:lnSpc>
              <a:buChar char="•"/>
              <a:tabLst>
                <a:tab pos="99060" algn="l"/>
              </a:tabLst>
            </a:pP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AI4I</a:t>
            </a:r>
            <a:r>
              <a:rPr sz="110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2020</a:t>
            </a:r>
            <a:r>
              <a:rPr sz="1100" spc="-2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Ground</a:t>
            </a:r>
            <a:r>
              <a:rPr sz="1100" spc="-20" dirty="0">
                <a:solidFill>
                  <a:srgbClr val="1E2A3A"/>
                </a:solidFill>
                <a:latin typeface="Arial MT"/>
                <a:cs typeface="Arial MT"/>
              </a:rPr>
              <a:t> Armor</a:t>
            </a:r>
            <a:endParaRPr sz="1100">
              <a:latin typeface="Arial MT"/>
              <a:cs typeface="Arial MT"/>
            </a:endParaRPr>
          </a:p>
          <a:p>
            <a:pPr marL="99060" indent="-86360">
              <a:lnSpc>
                <a:spcPct val="100000"/>
              </a:lnSpc>
              <a:buChar char="•"/>
              <a:tabLst>
                <a:tab pos="99060" algn="l"/>
              </a:tabLst>
            </a:pP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Sub-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50ms</a:t>
            </a:r>
            <a:r>
              <a:rPr sz="110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RUL</a:t>
            </a:r>
            <a:r>
              <a:rPr sz="1100" spc="-2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forecasting</a:t>
            </a:r>
            <a:endParaRPr sz="1100">
              <a:latin typeface="Arial MT"/>
              <a:cs typeface="Arial MT"/>
            </a:endParaRPr>
          </a:p>
          <a:p>
            <a:pPr marL="99060" indent="-86360">
              <a:lnSpc>
                <a:spcPct val="100000"/>
              </a:lnSpc>
              <a:buChar char="•"/>
              <a:tabLst>
                <a:tab pos="99060" algn="l"/>
              </a:tabLst>
            </a:pP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Failure</a:t>
            </a:r>
            <a:r>
              <a:rPr sz="1100" spc="-6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probability</a:t>
            </a:r>
            <a:r>
              <a:rPr sz="1100" spc="-5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scoring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165850" y="1454150"/>
            <a:ext cx="2616200" cy="3060700"/>
            <a:chOff x="6165850" y="1454150"/>
            <a:chExt cx="2616200" cy="3060700"/>
          </a:xfrm>
        </p:grpSpPr>
        <p:sp>
          <p:nvSpPr>
            <p:cNvPr id="18" name="object 18"/>
            <p:cNvSpPr/>
            <p:nvPr/>
          </p:nvSpPr>
          <p:spPr>
            <a:xfrm>
              <a:off x="6172200" y="1459992"/>
              <a:ext cx="2603500" cy="3048000"/>
            </a:xfrm>
            <a:custGeom>
              <a:avLst/>
              <a:gdLst/>
              <a:ahLst/>
              <a:cxnLst/>
              <a:rect l="l" t="t" r="r" b="b"/>
              <a:pathLst>
                <a:path w="2603500" h="3048000">
                  <a:moveTo>
                    <a:pt x="2602992" y="3048000"/>
                  </a:moveTo>
                  <a:lnTo>
                    <a:pt x="0" y="3048000"/>
                  </a:lnTo>
                  <a:lnTo>
                    <a:pt x="0" y="0"/>
                  </a:lnTo>
                  <a:lnTo>
                    <a:pt x="2602992" y="0"/>
                  </a:lnTo>
                  <a:lnTo>
                    <a:pt x="2602992" y="3048000"/>
                  </a:lnTo>
                  <a:close/>
                </a:path>
              </a:pathLst>
            </a:custGeom>
            <a:solidFill>
              <a:srgbClr val="F1F3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6165850" y="1454150"/>
              <a:ext cx="2616200" cy="3060700"/>
            </a:xfrm>
            <a:custGeom>
              <a:avLst/>
              <a:gdLst/>
              <a:ahLst/>
              <a:cxnLst/>
              <a:rect l="l" t="t" r="r" b="b"/>
              <a:pathLst>
                <a:path w="2616200" h="3060700">
                  <a:moveTo>
                    <a:pt x="2616200" y="3060700"/>
                  </a:moveTo>
                  <a:lnTo>
                    <a:pt x="0" y="3060700"/>
                  </a:lnTo>
                  <a:lnTo>
                    <a:pt x="0" y="0"/>
                  </a:lnTo>
                  <a:lnTo>
                    <a:pt x="2616200" y="0"/>
                  </a:lnTo>
                  <a:lnTo>
                    <a:pt x="2616200" y="6350"/>
                  </a:lnTo>
                  <a:lnTo>
                    <a:pt x="12700" y="6350"/>
                  </a:lnTo>
                  <a:lnTo>
                    <a:pt x="6350" y="12700"/>
                  </a:lnTo>
                  <a:lnTo>
                    <a:pt x="12700" y="12700"/>
                  </a:lnTo>
                  <a:lnTo>
                    <a:pt x="12700" y="3048000"/>
                  </a:lnTo>
                  <a:lnTo>
                    <a:pt x="6350" y="3048000"/>
                  </a:lnTo>
                  <a:lnTo>
                    <a:pt x="12700" y="3054350"/>
                  </a:lnTo>
                  <a:lnTo>
                    <a:pt x="2616200" y="3054350"/>
                  </a:lnTo>
                  <a:lnTo>
                    <a:pt x="2616200" y="3060700"/>
                  </a:lnTo>
                  <a:close/>
                </a:path>
                <a:path w="2616200" h="3060700">
                  <a:moveTo>
                    <a:pt x="12700" y="12700"/>
                  </a:moveTo>
                  <a:lnTo>
                    <a:pt x="6350" y="12700"/>
                  </a:lnTo>
                  <a:lnTo>
                    <a:pt x="12700" y="6350"/>
                  </a:lnTo>
                  <a:lnTo>
                    <a:pt x="12700" y="12700"/>
                  </a:lnTo>
                  <a:close/>
                </a:path>
                <a:path w="2616200" h="3060700">
                  <a:moveTo>
                    <a:pt x="2603500" y="12700"/>
                  </a:moveTo>
                  <a:lnTo>
                    <a:pt x="12700" y="12700"/>
                  </a:lnTo>
                  <a:lnTo>
                    <a:pt x="12700" y="6350"/>
                  </a:lnTo>
                  <a:lnTo>
                    <a:pt x="2603500" y="6350"/>
                  </a:lnTo>
                  <a:lnTo>
                    <a:pt x="2603500" y="12700"/>
                  </a:lnTo>
                  <a:close/>
                </a:path>
                <a:path w="2616200" h="3060700">
                  <a:moveTo>
                    <a:pt x="2603500" y="3054350"/>
                  </a:moveTo>
                  <a:lnTo>
                    <a:pt x="2603500" y="6350"/>
                  </a:lnTo>
                  <a:lnTo>
                    <a:pt x="2609850" y="12700"/>
                  </a:lnTo>
                  <a:lnTo>
                    <a:pt x="2616200" y="12700"/>
                  </a:lnTo>
                  <a:lnTo>
                    <a:pt x="2616200" y="3048000"/>
                  </a:lnTo>
                  <a:lnTo>
                    <a:pt x="2609850" y="3048000"/>
                  </a:lnTo>
                  <a:lnTo>
                    <a:pt x="2603500" y="3054350"/>
                  </a:lnTo>
                  <a:close/>
                </a:path>
                <a:path w="2616200" h="3060700">
                  <a:moveTo>
                    <a:pt x="2616200" y="12700"/>
                  </a:moveTo>
                  <a:lnTo>
                    <a:pt x="2609850" y="12700"/>
                  </a:lnTo>
                  <a:lnTo>
                    <a:pt x="2603500" y="6350"/>
                  </a:lnTo>
                  <a:lnTo>
                    <a:pt x="2616200" y="6350"/>
                  </a:lnTo>
                  <a:lnTo>
                    <a:pt x="2616200" y="12700"/>
                  </a:lnTo>
                  <a:close/>
                </a:path>
                <a:path w="2616200" h="3060700">
                  <a:moveTo>
                    <a:pt x="12700" y="3054350"/>
                  </a:moveTo>
                  <a:lnTo>
                    <a:pt x="6350" y="3048000"/>
                  </a:lnTo>
                  <a:lnTo>
                    <a:pt x="12700" y="3048000"/>
                  </a:lnTo>
                  <a:lnTo>
                    <a:pt x="12700" y="3054350"/>
                  </a:lnTo>
                  <a:close/>
                </a:path>
                <a:path w="2616200" h="3060700">
                  <a:moveTo>
                    <a:pt x="2603500" y="3054350"/>
                  </a:moveTo>
                  <a:lnTo>
                    <a:pt x="12700" y="3054350"/>
                  </a:lnTo>
                  <a:lnTo>
                    <a:pt x="12700" y="3048000"/>
                  </a:lnTo>
                  <a:lnTo>
                    <a:pt x="2603500" y="3048000"/>
                  </a:lnTo>
                  <a:lnTo>
                    <a:pt x="2603500" y="3054350"/>
                  </a:lnTo>
                  <a:close/>
                </a:path>
                <a:path w="2616200" h="3060700">
                  <a:moveTo>
                    <a:pt x="2616200" y="3054350"/>
                  </a:moveTo>
                  <a:lnTo>
                    <a:pt x="2603500" y="3054350"/>
                  </a:lnTo>
                  <a:lnTo>
                    <a:pt x="2609850" y="3048000"/>
                  </a:lnTo>
                  <a:lnTo>
                    <a:pt x="2616200" y="3048000"/>
                  </a:lnTo>
                  <a:lnTo>
                    <a:pt x="2616200" y="30543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6172200" y="1459992"/>
              <a:ext cx="2603500" cy="52069"/>
            </a:xfrm>
            <a:custGeom>
              <a:avLst/>
              <a:gdLst/>
              <a:ahLst/>
              <a:cxnLst/>
              <a:rect l="l" t="t" r="r" b="b"/>
              <a:pathLst>
                <a:path w="2603500" h="52069">
                  <a:moveTo>
                    <a:pt x="2602992" y="51816"/>
                  </a:moveTo>
                  <a:lnTo>
                    <a:pt x="0" y="51816"/>
                  </a:lnTo>
                  <a:lnTo>
                    <a:pt x="0" y="0"/>
                  </a:lnTo>
                  <a:lnTo>
                    <a:pt x="2602992" y="0"/>
                  </a:lnTo>
                  <a:lnTo>
                    <a:pt x="2602992" y="51816"/>
                  </a:lnTo>
                  <a:close/>
                </a:path>
              </a:pathLst>
            </a:custGeom>
            <a:solidFill>
              <a:srgbClr val="92650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6362700" y="1590674"/>
            <a:ext cx="157797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92650B"/>
                </a:solidFill>
                <a:latin typeface="Arial" panose="020B0604020202020204"/>
                <a:cs typeface="Arial" panose="020B0604020202020204"/>
              </a:rPr>
              <a:t>3.</a:t>
            </a:r>
            <a:r>
              <a:rPr sz="1400" b="1" spc="-20" dirty="0">
                <a:solidFill>
                  <a:srgbClr val="92650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92650B"/>
                </a:solidFill>
                <a:latin typeface="Arial" panose="020B0604020202020204"/>
                <a:cs typeface="Arial" panose="020B0604020202020204"/>
              </a:rPr>
              <a:t>Defense</a:t>
            </a:r>
            <a:r>
              <a:rPr sz="1400" b="1" spc="-20" dirty="0">
                <a:solidFill>
                  <a:srgbClr val="92650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10" dirty="0">
                <a:solidFill>
                  <a:srgbClr val="92650B"/>
                </a:solidFill>
                <a:latin typeface="Arial" panose="020B0604020202020204"/>
                <a:cs typeface="Arial" panose="020B0604020202020204"/>
              </a:rPr>
              <a:t>Copilot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403340" y="1993899"/>
            <a:ext cx="1927225" cy="1032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9060" indent="-86360">
              <a:lnSpc>
                <a:spcPct val="100000"/>
              </a:lnSpc>
              <a:spcBef>
                <a:spcPts val="105"/>
              </a:spcBef>
              <a:buChar char="•"/>
              <a:tabLst>
                <a:tab pos="99060" algn="l"/>
              </a:tabLst>
            </a:pP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Natural</a:t>
            </a:r>
            <a:r>
              <a:rPr sz="1100" spc="-4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Language</a:t>
            </a:r>
            <a:r>
              <a:rPr sz="1100" spc="-4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Reasoning</a:t>
            </a:r>
            <a:endParaRPr sz="1100">
              <a:latin typeface="Arial MT"/>
              <a:cs typeface="Arial MT"/>
            </a:endParaRPr>
          </a:p>
          <a:p>
            <a:pPr marL="99060" indent="-86360">
              <a:lnSpc>
                <a:spcPct val="100000"/>
              </a:lnSpc>
              <a:buChar char="•"/>
              <a:tabLst>
                <a:tab pos="99060" algn="l"/>
              </a:tabLst>
            </a:pP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Bilingual</a:t>
            </a:r>
            <a:r>
              <a:rPr sz="1100" spc="-4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(English</a:t>
            </a:r>
            <a:r>
              <a:rPr sz="1100" spc="-4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+</a:t>
            </a:r>
            <a:r>
              <a:rPr sz="1100" spc="-4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Hinglish)</a:t>
            </a:r>
            <a:endParaRPr sz="1100">
              <a:latin typeface="Arial MT"/>
              <a:cs typeface="Arial MT"/>
            </a:endParaRPr>
          </a:p>
          <a:p>
            <a:pPr marL="12700" marR="445770" indent="86360">
              <a:lnSpc>
                <a:spcPct val="100000"/>
              </a:lnSpc>
              <a:buChar char="•"/>
              <a:tabLst>
                <a:tab pos="99060" algn="l"/>
              </a:tabLst>
            </a:pP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Dynamic</a:t>
            </a:r>
            <a:r>
              <a:rPr sz="1100" spc="-4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RAG</a:t>
            </a:r>
            <a:r>
              <a:rPr sz="1100" spc="-4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context grounding</a:t>
            </a:r>
            <a:endParaRPr sz="1100">
              <a:latin typeface="Arial MT"/>
              <a:cs typeface="Arial MT"/>
            </a:endParaRPr>
          </a:p>
          <a:p>
            <a:pPr marL="99060" indent="-86360">
              <a:lnSpc>
                <a:spcPct val="100000"/>
              </a:lnSpc>
              <a:buChar char="•"/>
              <a:tabLst>
                <a:tab pos="99060" algn="l"/>
              </a:tabLst>
            </a:pP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Instant</a:t>
            </a:r>
            <a:r>
              <a:rPr sz="1100" spc="-3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telemetry</a:t>
            </a:r>
            <a:r>
              <a:rPr sz="1100" spc="-3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explanation</a:t>
            </a:r>
            <a:endParaRPr sz="1100">
              <a:latin typeface="Arial MT"/>
              <a:cs typeface="Arial MT"/>
            </a:endParaRPr>
          </a:p>
          <a:p>
            <a:pPr marL="99060" indent="-86360">
              <a:lnSpc>
                <a:spcPct val="100000"/>
              </a:lnSpc>
              <a:buChar char="•"/>
              <a:tabLst>
                <a:tab pos="99060" algn="l"/>
              </a:tabLst>
            </a:pP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Ground</a:t>
            </a:r>
            <a:r>
              <a:rPr sz="1100" spc="-3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crew</a:t>
            </a:r>
            <a:r>
              <a:rPr sz="110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accessibility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8934450" y="1454150"/>
            <a:ext cx="2616200" cy="3060700"/>
            <a:chOff x="8934450" y="1454150"/>
            <a:chExt cx="2616200" cy="3060700"/>
          </a:xfrm>
        </p:grpSpPr>
        <p:sp>
          <p:nvSpPr>
            <p:cNvPr id="24" name="object 24"/>
            <p:cNvSpPr/>
            <p:nvPr/>
          </p:nvSpPr>
          <p:spPr>
            <a:xfrm>
              <a:off x="8941308" y="1459992"/>
              <a:ext cx="2603500" cy="3048000"/>
            </a:xfrm>
            <a:custGeom>
              <a:avLst/>
              <a:gdLst/>
              <a:ahLst/>
              <a:cxnLst/>
              <a:rect l="l" t="t" r="r" b="b"/>
              <a:pathLst>
                <a:path w="2603500" h="3048000">
                  <a:moveTo>
                    <a:pt x="2602992" y="3048000"/>
                  </a:moveTo>
                  <a:lnTo>
                    <a:pt x="0" y="3048000"/>
                  </a:lnTo>
                  <a:lnTo>
                    <a:pt x="0" y="0"/>
                  </a:lnTo>
                  <a:lnTo>
                    <a:pt x="2602992" y="0"/>
                  </a:lnTo>
                  <a:lnTo>
                    <a:pt x="2602992" y="3048000"/>
                  </a:lnTo>
                  <a:close/>
                </a:path>
              </a:pathLst>
            </a:custGeom>
            <a:solidFill>
              <a:srgbClr val="F1F3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8934450" y="1454150"/>
              <a:ext cx="2616200" cy="3060700"/>
            </a:xfrm>
            <a:custGeom>
              <a:avLst/>
              <a:gdLst/>
              <a:ahLst/>
              <a:cxnLst/>
              <a:rect l="l" t="t" r="r" b="b"/>
              <a:pathLst>
                <a:path w="2616200" h="3060700">
                  <a:moveTo>
                    <a:pt x="2616200" y="3060700"/>
                  </a:moveTo>
                  <a:lnTo>
                    <a:pt x="0" y="3060700"/>
                  </a:lnTo>
                  <a:lnTo>
                    <a:pt x="0" y="0"/>
                  </a:lnTo>
                  <a:lnTo>
                    <a:pt x="2616200" y="0"/>
                  </a:lnTo>
                  <a:lnTo>
                    <a:pt x="2616200" y="6350"/>
                  </a:lnTo>
                  <a:lnTo>
                    <a:pt x="12700" y="6350"/>
                  </a:lnTo>
                  <a:lnTo>
                    <a:pt x="6350" y="12700"/>
                  </a:lnTo>
                  <a:lnTo>
                    <a:pt x="12700" y="12700"/>
                  </a:lnTo>
                  <a:lnTo>
                    <a:pt x="12700" y="3048000"/>
                  </a:lnTo>
                  <a:lnTo>
                    <a:pt x="6350" y="3048000"/>
                  </a:lnTo>
                  <a:lnTo>
                    <a:pt x="12700" y="3054350"/>
                  </a:lnTo>
                  <a:lnTo>
                    <a:pt x="2616200" y="3054350"/>
                  </a:lnTo>
                  <a:lnTo>
                    <a:pt x="2616200" y="3060700"/>
                  </a:lnTo>
                  <a:close/>
                </a:path>
                <a:path w="2616200" h="3060700">
                  <a:moveTo>
                    <a:pt x="12700" y="12700"/>
                  </a:moveTo>
                  <a:lnTo>
                    <a:pt x="6350" y="12700"/>
                  </a:lnTo>
                  <a:lnTo>
                    <a:pt x="12700" y="6350"/>
                  </a:lnTo>
                  <a:lnTo>
                    <a:pt x="12700" y="12700"/>
                  </a:lnTo>
                  <a:close/>
                </a:path>
                <a:path w="2616200" h="3060700">
                  <a:moveTo>
                    <a:pt x="2603500" y="12700"/>
                  </a:moveTo>
                  <a:lnTo>
                    <a:pt x="12700" y="12700"/>
                  </a:lnTo>
                  <a:lnTo>
                    <a:pt x="12700" y="6350"/>
                  </a:lnTo>
                  <a:lnTo>
                    <a:pt x="2603500" y="6350"/>
                  </a:lnTo>
                  <a:lnTo>
                    <a:pt x="2603500" y="12700"/>
                  </a:lnTo>
                  <a:close/>
                </a:path>
                <a:path w="2616200" h="3060700">
                  <a:moveTo>
                    <a:pt x="2603500" y="3054350"/>
                  </a:moveTo>
                  <a:lnTo>
                    <a:pt x="2603500" y="6350"/>
                  </a:lnTo>
                  <a:lnTo>
                    <a:pt x="2609850" y="12700"/>
                  </a:lnTo>
                  <a:lnTo>
                    <a:pt x="2616200" y="12700"/>
                  </a:lnTo>
                  <a:lnTo>
                    <a:pt x="2616200" y="3048000"/>
                  </a:lnTo>
                  <a:lnTo>
                    <a:pt x="2609850" y="3048000"/>
                  </a:lnTo>
                  <a:lnTo>
                    <a:pt x="2603500" y="3054350"/>
                  </a:lnTo>
                  <a:close/>
                </a:path>
                <a:path w="2616200" h="3060700">
                  <a:moveTo>
                    <a:pt x="2616200" y="12700"/>
                  </a:moveTo>
                  <a:lnTo>
                    <a:pt x="2609850" y="12700"/>
                  </a:lnTo>
                  <a:lnTo>
                    <a:pt x="2603500" y="6350"/>
                  </a:lnTo>
                  <a:lnTo>
                    <a:pt x="2616200" y="6350"/>
                  </a:lnTo>
                  <a:lnTo>
                    <a:pt x="2616200" y="12700"/>
                  </a:lnTo>
                  <a:close/>
                </a:path>
                <a:path w="2616200" h="3060700">
                  <a:moveTo>
                    <a:pt x="12700" y="3054350"/>
                  </a:moveTo>
                  <a:lnTo>
                    <a:pt x="6350" y="3048000"/>
                  </a:lnTo>
                  <a:lnTo>
                    <a:pt x="12700" y="3048000"/>
                  </a:lnTo>
                  <a:lnTo>
                    <a:pt x="12700" y="3054350"/>
                  </a:lnTo>
                  <a:close/>
                </a:path>
                <a:path w="2616200" h="3060700">
                  <a:moveTo>
                    <a:pt x="2603500" y="3054350"/>
                  </a:moveTo>
                  <a:lnTo>
                    <a:pt x="12700" y="3054350"/>
                  </a:lnTo>
                  <a:lnTo>
                    <a:pt x="12700" y="3048000"/>
                  </a:lnTo>
                  <a:lnTo>
                    <a:pt x="2603500" y="3048000"/>
                  </a:lnTo>
                  <a:lnTo>
                    <a:pt x="2603500" y="3054350"/>
                  </a:lnTo>
                  <a:close/>
                </a:path>
                <a:path w="2616200" h="3060700">
                  <a:moveTo>
                    <a:pt x="2616200" y="3054350"/>
                  </a:moveTo>
                  <a:lnTo>
                    <a:pt x="2603500" y="3054350"/>
                  </a:lnTo>
                  <a:lnTo>
                    <a:pt x="2609850" y="3048000"/>
                  </a:lnTo>
                  <a:lnTo>
                    <a:pt x="2616200" y="3048000"/>
                  </a:lnTo>
                  <a:lnTo>
                    <a:pt x="2616200" y="30543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8941308" y="1459992"/>
              <a:ext cx="2603500" cy="52069"/>
            </a:xfrm>
            <a:custGeom>
              <a:avLst/>
              <a:gdLst/>
              <a:ahLst/>
              <a:cxnLst/>
              <a:rect l="l" t="t" r="r" b="b"/>
              <a:pathLst>
                <a:path w="2603500" h="52069">
                  <a:moveTo>
                    <a:pt x="2602992" y="51816"/>
                  </a:moveTo>
                  <a:lnTo>
                    <a:pt x="0" y="51816"/>
                  </a:lnTo>
                  <a:lnTo>
                    <a:pt x="0" y="0"/>
                  </a:lnTo>
                  <a:lnTo>
                    <a:pt x="2602992" y="0"/>
                  </a:lnTo>
                  <a:lnTo>
                    <a:pt x="2602992" y="51816"/>
                  </a:lnTo>
                  <a:close/>
                </a:path>
              </a:pathLst>
            </a:custGeom>
            <a:solidFill>
              <a:srgbClr val="0E749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9131300" y="1590674"/>
            <a:ext cx="169862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4.</a:t>
            </a:r>
            <a:r>
              <a:rPr sz="1400" b="1" spc="-80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Automated</a:t>
            </a:r>
            <a:r>
              <a:rPr sz="1400" b="1" spc="-30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20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Depot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171940" y="1993899"/>
            <a:ext cx="2052955" cy="8648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9060" indent="-86360">
              <a:lnSpc>
                <a:spcPct val="100000"/>
              </a:lnSpc>
              <a:spcBef>
                <a:spcPts val="105"/>
              </a:spcBef>
              <a:buChar char="•"/>
              <a:tabLst>
                <a:tab pos="99060" algn="l"/>
              </a:tabLst>
            </a:pP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Prioritized</a:t>
            </a:r>
            <a:r>
              <a:rPr sz="1100" spc="-7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Maintenance</a:t>
            </a:r>
            <a:r>
              <a:rPr sz="1100" spc="-6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1E2A3A"/>
                </a:solidFill>
                <a:latin typeface="Arial MT"/>
                <a:cs typeface="Arial MT"/>
              </a:rPr>
              <a:t>Plans</a:t>
            </a:r>
            <a:endParaRPr sz="1100">
              <a:latin typeface="Arial MT"/>
              <a:cs typeface="Arial MT"/>
            </a:endParaRPr>
          </a:p>
          <a:p>
            <a:pPr marL="99060" indent="-86360">
              <a:lnSpc>
                <a:spcPct val="100000"/>
              </a:lnSpc>
              <a:buChar char="•"/>
              <a:tabLst>
                <a:tab pos="99060" algn="l"/>
              </a:tabLst>
            </a:pP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1-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Click</a:t>
            </a:r>
            <a:r>
              <a:rPr sz="110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Work</a:t>
            </a:r>
            <a:r>
              <a:rPr sz="110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Order</a:t>
            </a:r>
            <a:r>
              <a:rPr sz="110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Dispatch</a:t>
            </a:r>
            <a:endParaRPr sz="1100">
              <a:latin typeface="Arial MT"/>
              <a:cs typeface="Arial MT"/>
            </a:endParaRPr>
          </a:p>
          <a:p>
            <a:pPr marL="99060" indent="-86360">
              <a:lnSpc>
                <a:spcPct val="100000"/>
              </a:lnSpc>
              <a:buChar char="•"/>
              <a:tabLst>
                <a:tab pos="99060" algn="l"/>
              </a:tabLst>
            </a:pP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Remaining</a:t>
            </a:r>
            <a:r>
              <a:rPr sz="1100" spc="-5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Useful</a:t>
            </a:r>
            <a:r>
              <a:rPr sz="1100" spc="-4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Life</a:t>
            </a:r>
            <a:r>
              <a:rPr sz="1100" spc="-4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ranking</a:t>
            </a:r>
            <a:endParaRPr sz="1100">
              <a:latin typeface="Arial MT"/>
              <a:cs typeface="Arial MT"/>
            </a:endParaRPr>
          </a:p>
          <a:p>
            <a:pPr marL="99060" indent="-86360">
              <a:lnSpc>
                <a:spcPct val="100000"/>
              </a:lnSpc>
              <a:buChar char="•"/>
              <a:tabLst>
                <a:tab pos="99060" algn="l"/>
              </a:tabLst>
            </a:pP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PDF</a:t>
            </a:r>
            <a:r>
              <a:rPr sz="1100" spc="-4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&amp;</a:t>
            </a:r>
            <a:r>
              <a:rPr sz="1100" spc="-3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CSV</a:t>
            </a:r>
            <a:r>
              <a:rPr sz="1100" spc="-3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Inspection</a:t>
            </a:r>
            <a:r>
              <a:rPr sz="1100" spc="-3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Reports</a:t>
            </a:r>
            <a:endParaRPr sz="1100">
              <a:latin typeface="Arial MT"/>
              <a:cs typeface="Arial MT"/>
            </a:endParaRPr>
          </a:p>
          <a:p>
            <a:pPr marL="99060" indent="-86360">
              <a:lnSpc>
                <a:spcPct val="100000"/>
              </a:lnSpc>
              <a:buChar char="•"/>
              <a:tabLst>
                <a:tab pos="99060" algn="l"/>
              </a:tabLst>
            </a:pP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Closed-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loop</a:t>
            </a:r>
            <a:r>
              <a:rPr sz="110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depot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 tracking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628650" y="4756150"/>
            <a:ext cx="10934700" cy="1536700"/>
            <a:chOff x="628650" y="4756150"/>
            <a:chExt cx="10934700" cy="1536700"/>
          </a:xfrm>
        </p:grpSpPr>
        <p:sp>
          <p:nvSpPr>
            <p:cNvPr id="30" name="object 30"/>
            <p:cNvSpPr/>
            <p:nvPr/>
          </p:nvSpPr>
          <p:spPr>
            <a:xfrm>
              <a:off x="635508" y="4762500"/>
              <a:ext cx="10921365" cy="1524000"/>
            </a:xfrm>
            <a:custGeom>
              <a:avLst/>
              <a:gdLst/>
              <a:ahLst/>
              <a:cxnLst/>
              <a:rect l="l" t="t" r="r" b="b"/>
              <a:pathLst>
                <a:path w="10921365" h="1524000">
                  <a:moveTo>
                    <a:pt x="10920984" y="1524000"/>
                  </a:moveTo>
                  <a:lnTo>
                    <a:pt x="0" y="1524000"/>
                  </a:lnTo>
                  <a:lnTo>
                    <a:pt x="0" y="0"/>
                  </a:lnTo>
                  <a:lnTo>
                    <a:pt x="10920984" y="0"/>
                  </a:lnTo>
                  <a:lnTo>
                    <a:pt x="10920984" y="1524000"/>
                  </a:lnTo>
                  <a:close/>
                </a:path>
              </a:pathLst>
            </a:custGeom>
            <a:solidFill>
              <a:srgbClr val="F1F3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628650" y="4756150"/>
              <a:ext cx="10934700" cy="1536700"/>
            </a:xfrm>
            <a:custGeom>
              <a:avLst/>
              <a:gdLst/>
              <a:ahLst/>
              <a:cxnLst/>
              <a:rect l="l" t="t" r="r" b="b"/>
              <a:pathLst>
                <a:path w="10934700" h="1536700">
                  <a:moveTo>
                    <a:pt x="10934700" y="1536700"/>
                  </a:moveTo>
                  <a:lnTo>
                    <a:pt x="0" y="1536700"/>
                  </a:lnTo>
                  <a:lnTo>
                    <a:pt x="0" y="0"/>
                  </a:lnTo>
                  <a:lnTo>
                    <a:pt x="10934700" y="0"/>
                  </a:lnTo>
                  <a:lnTo>
                    <a:pt x="10934700" y="6350"/>
                  </a:lnTo>
                  <a:lnTo>
                    <a:pt x="12700" y="6350"/>
                  </a:lnTo>
                  <a:lnTo>
                    <a:pt x="6350" y="12700"/>
                  </a:lnTo>
                  <a:lnTo>
                    <a:pt x="12700" y="12700"/>
                  </a:lnTo>
                  <a:lnTo>
                    <a:pt x="12700" y="1524000"/>
                  </a:lnTo>
                  <a:lnTo>
                    <a:pt x="6350" y="1524000"/>
                  </a:lnTo>
                  <a:lnTo>
                    <a:pt x="12700" y="1530350"/>
                  </a:lnTo>
                  <a:lnTo>
                    <a:pt x="10934700" y="1530350"/>
                  </a:lnTo>
                  <a:lnTo>
                    <a:pt x="10934700" y="1536700"/>
                  </a:lnTo>
                  <a:close/>
                </a:path>
                <a:path w="10934700" h="1536700">
                  <a:moveTo>
                    <a:pt x="12700" y="12700"/>
                  </a:moveTo>
                  <a:lnTo>
                    <a:pt x="6350" y="12700"/>
                  </a:lnTo>
                  <a:lnTo>
                    <a:pt x="12700" y="6350"/>
                  </a:lnTo>
                  <a:lnTo>
                    <a:pt x="12700" y="12700"/>
                  </a:lnTo>
                  <a:close/>
                </a:path>
                <a:path w="10934700" h="1536700">
                  <a:moveTo>
                    <a:pt x="10922000" y="12700"/>
                  </a:moveTo>
                  <a:lnTo>
                    <a:pt x="12700" y="12700"/>
                  </a:lnTo>
                  <a:lnTo>
                    <a:pt x="12700" y="6350"/>
                  </a:lnTo>
                  <a:lnTo>
                    <a:pt x="10922000" y="6350"/>
                  </a:lnTo>
                  <a:lnTo>
                    <a:pt x="10922000" y="12700"/>
                  </a:lnTo>
                  <a:close/>
                </a:path>
                <a:path w="10934700" h="1536700">
                  <a:moveTo>
                    <a:pt x="10922000" y="1530350"/>
                  </a:moveTo>
                  <a:lnTo>
                    <a:pt x="10922000" y="6350"/>
                  </a:lnTo>
                  <a:lnTo>
                    <a:pt x="10928350" y="12700"/>
                  </a:lnTo>
                  <a:lnTo>
                    <a:pt x="10934700" y="12700"/>
                  </a:lnTo>
                  <a:lnTo>
                    <a:pt x="10934700" y="1524000"/>
                  </a:lnTo>
                  <a:lnTo>
                    <a:pt x="10928350" y="1524000"/>
                  </a:lnTo>
                  <a:lnTo>
                    <a:pt x="10922000" y="1530350"/>
                  </a:lnTo>
                  <a:close/>
                </a:path>
                <a:path w="10934700" h="1536700">
                  <a:moveTo>
                    <a:pt x="10934700" y="12700"/>
                  </a:moveTo>
                  <a:lnTo>
                    <a:pt x="10928350" y="12700"/>
                  </a:lnTo>
                  <a:lnTo>
                    <a:pt x="10922000" y="6350"/>
                  </a:lnTo>
                  <a:lnTo>
                    <a:pt x="10934700" y="6350"/>
                  </a:lnTo>
                  <a:lnTo>
                    <a:pt x="10934700" y="12700"/>
                  </a:lnTo>
                  <a:close/>
                </a:path>
                <a:path w="10934700" h="1536700">
                  <a:moveTo>
                    <a:pt x="12700" y="1530350"/>
                  </a:moveTo>
                  <a:lnTo>
                    <a:pt x="6350" y="1524000"/>
                  </a:lnTo>
                  <a:lnTo>
                    <a:pt x="12700" y="1524000"/>
                  </a:lnTo>
                  <a:lnTo>
                    <a:pt x="12700" y="1530350"/>
                  </a:lnTo>
                  <a:close/>
                </a:path>
                <a:path w="10934700" h="1536700">
                  <a:moveTo>
                    <a:pt x="10922000" y="1530350"/>
                  </a:moveTo>
                  <a:lnTo>
                    <a:pt x="12700" y="1530350"/>
                  </a:lnTo>
                  <a:lnTo>
                    <a:pt x="12700" y="1524000"/>
                  </a:lnTo>
                  <a:lnTo>
                    <a:pt x="10922000" y="1524000"/>
                  </a:lnTo>
                  <a:lnTo>
                    <a:pt x="10922000" y="1530350"/>
                  </a:lnTo>
                  <a:close/>
                </a:path>
                <a:path w="10934700" h="1536700">
                  <a:moveTo>
                    <a:pt x="10934700" y="1530350"/>
                  </a:moveTo>
                  <a:lnTo>
                    <a:pt x="10922000" y="1530350"/>
                  </a:lnTo>
                  <a:lnTo>
                    <a:pt x="10928350" y="1524000"/>
                  </a:lnTo>
                  <a:lnTo>
                    <a:pt x="10934700" y="1524000"/>
                  </a:lnTo>
                  <a:lnTo>
                    <a:pt x="10934700" y="15303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635508" y="4762500"/>
              <a:ext cx="10921365" cy="50800"/>
            </a:xfrm>
            <a:custGeom>
              <a:avLst/>
              <a:gdLst/>
              <a:ahLst/>
              <a:cxnLst/>
              <a:rect l="l" t="t" r="r" b="b"/>
              <a:pathLst>
                <a:path w="10921365" h="50800">
                  <a:moveTo>
                    <a:pt x="10920984" y="50291"/>
                  </a:moveTo>
                  <a:lnTo>
                    <a:pt x="0" y="50291"/>
                  </a:lnTo>
                  <a:lnTo>
                    <a:pt x="0" y="0"/>
                  </a:lnTo>
                  <a:lnTo>
                    <a:pt x="10920984" y="0"/>
                  </a:lnTo>
                  <a:lnTo>
                    <a:pt x="10920984" y="50291"/>
                  </a:lnTo>
                  <a:close/>
                </a:path>
              </a:pathLst>
            </a:custGeom>
            <a:solidFill>
              <a:srgbClr val="0B8A5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825500" y="4892675"/>
            <a:ext cx="10426700" cy="8915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End-to-</a:t>
            </a:r>
            <a:r>
              <a:rPr sz="1400" b="1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End</a:t>
            </a:r>
            <a:r>
              <a:rPr sz="1400" b="1" spc="-25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Operational</a:t>
            </a:r>
            <a:r>
              <a:rPr sz="1400" b="1" spc="-15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10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Pipeline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91440" marR="5080">
              <a:lnSpc>
                <a:spcPct val="100000"/>
              </a:lnSpc>
              <a:spcBef>
                <a:spcPts val="995"/>
              </a:spcBef>
            </a:pP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[Asset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Telemetry]</a:t>
            </a:r>
            <a:r>
              <a:rPr sz="1150" spc="29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==&gt;</a:t>
            </a:r>
            <a:r>
              <a:rPr sz="1150" spc="29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[WebSocket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/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REST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Ingestion]</a:t>
            </a:r>
            <a:r>
              <a:rPr sz="1150" spc="29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==&gt;</a:t>
            </a:r>
            <a:r>
              <a:rPr sz="1150" spc="29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[ML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Classifier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&amp;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RUL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Engine]</a:t>
            </a:r>
            <a:r>
              <a:rPr sz="1150" spc="30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==&gt;</a:t>
            </a:r>
            <a:r>
              <a:rPr sz="1150" spc="29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[Agentic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Copilot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Diagnosis]</a:t>
            </a:r>
            <a:r>
              <a:rPr sz="1150" spc="30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==&gt;</a:t>
            </a:r>
            <a:r>
              <a:rPr sz="1150" spc="29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[Automated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Work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Order]\nRaw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vibration/temp/pressure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streams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ingested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into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SQLite.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ML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models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compute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failure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probability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(&lt;50ms).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Copilot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explains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root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causes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and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generates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depot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maintenance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orders.</a:t>
            </a:r>
            <a:endParaRPr sz="11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52600" y="245744"/>
            <a:ext cx="1792605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TECHNICAL</a:t>
            </a:r>
            <a:r>
              <a:rPr sz="1000" b="1" spc="-50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00" b="1" spc="-10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ARCHITECTURE</a:t>
            </a:r>
            <a:endParaRPr sz="1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819400" y="481329"/>
            <a:ext cx="8486775" cy="3600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Robust,</a:t>
            </a:r>
            <a:r>
              <a:rPr spc="-70" dirty="0"/>
              <a:t> </a:t>
            </a:r>
            <a:r>
              <a:rPr dirty="0"/>
              <a:t>Decoupled</a:t>
            </a:r>
            <a:r>
              <a:rPr spc="-60" dirty="0"/>
              <a:t> </a:t>
            </a:r>
            <a:r>
              <a:rPr dirty="0"/>
              <a:t>&amp;</a:t>
            </a:r>
            <a:r>
              <a:rPr spc="-65" dirty="0"/>
              <a:t> </a:t>
            </a:r>
            <a:r>
              <a:rPr spc="-20" dirty="0"/>
              <a:t>High-</a:t>
            </a:r>
            <a:r>
              <a:rPr dirty="0"/>
              <a:t>Performance</a:t>
            </a:r>
            <a:r>
              <a:rPr spc="-65" dirty="0"/>
              <a:t> </a:t>
            </a:r>
            <a:r>
              <a:rPr spc="-10" dirty="0"/>
              <a:t>Stack</a:t>
            </a:r>
            <a:endParaRPr spc="-10" dirty="0"/>
          </a:p>
        </p:txBody>
      </p:sp>
      <p:sp>
        <p:nvSpPr>
          <p:cNvPr id="4" name="object 4"/>
          <p:cNvSpPr txBox="1"/>
          <p:nvPr/>
        </p:nvSpPr>
        <p:spPr>
          <a:xfrm>
            <a:off x="2819400" y="990600"/>
            <a:ext cx="6314440" cy="219075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How</a:t>
            </a:r>
            <a:r>
              <a:rPr sz="1200" spc="-25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data</a:t>
            </a:r>
            <a:r>
              <a:rPr sz="1200" spc="-25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flows</a:t>
            </a:r>
            <a:r>
              <a:rPr sz="1200" spc="-25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from</a:t>
            </a:r>
            <a:r>
              <a:rPr sz="1200" spc="-20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telemetry</a:t>
            </a:r>
            <a:r>
              <a:rPr sz="1200" spc="-25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sensors</a:t>
            </a:r>
            <a:r>
              <a:rPr sz="1200" spc="-20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through</a:t>
            </a:r>
            <a:r>
              <a:rPr sz="1200" spc="-30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ML</a:t>
            </a:r>
            <a:r>
              <a:rPr sz="1200" spc="-70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inference</a:t>
            </a:r>
            <a:r>
              <a:rPr sz="1200" spc="-25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to</a:t>
            </a:r>
            <a:r>
              <a:rPr sz="1200" spc="-30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the</a:t>
            </a:r>
            <a:r>
              <a:rPr sz="1200" spc="-25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interactive</a:t>
            </a:r>
            <a:r>
              <a:rPr sz="1200" spc="-30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5B6472"/>
                </a:solidFill>
                <a:latin typeface="Arial MT"/>
                <a:cs typeface="Arial MT"/>
              </a:rPr>
              <a:t>dashboard.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28650" y="1454150"/>
            <a:ext cx="5283200" cy="2298700"/>
            <a:chOff x="628650" y="1454150"/>
            <a:chExt cx="5283200" cy="2298700"/>
          </a:xfrm>
        </p:grpSpPr>
        <p:sp>
          <p:nvSpPr>
            <p:cNvPr id="6" name="object 6"/>
            <p:cNvSpPr/>
            <p:nvPr/>
          </p:nvSpPr>
          <p:spPr>
            <a:xfrm>
              <a:off x="635508" y="1459992"/>
              <a:ext cx="5270500" cy="2286000"/>
            </a:xfrm>
            <a:custGeom>
              <a:avLst/>
              <a:gdLst/>
              <a:ahLst/>
              <a:cxnLst/>
              <a:rect l="l" t="t" r="r" b="b"/>
              <a:pathLst>
                <a:path w="5270500" h="2286000">
                  <a:moveTo>
                    <a:pt x="5269992" y="2286000"/>
                  </a:moveTo>
                  <a:lnTo>
                    <a:pt x="0" y="2286000"/>
                  </a:lnTo>
                  <a:lnTo>
                    <a:pt x="0" y="0"/>
                  </a:lnTo>
                  <a:lnTo>
                    <a:pt x="5269992" y="0"/>
                  </a:lnTo>
                  <a:lnTo>
                    <a:pt x="5269992" y="2286000"/>
                  </a:lnTo>
                  <a:close/>
                </a:path>
              </a:pathLst>
            </a:custGeom>
            <a:solidFill>
              <a:srgbClr val="F1F3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28650" y="1454150"/>
              <a:ext cx="5283200" cy="2298700"/>
            </a:xfrm>
            <a:custGeom>
              <a:avLst/>
              <a:gdLst/>
              <a:ahLst/>
              <a:cxnLst/>
              <a:rect l="l" t="t" r="r" b="b"/>
              <a:pathLst>
                <a:path w="5283200" h="2298700">
                  <a:moveTo>
                    <a:pt x="5283200" y="2298700"/>
                  </a:moveTo>
                  <a:lnTo>
                    <a:pt x="0" y="2298700"/>
                  </a:lnTo>
                  <a:lnTo>
                    <a:pt x="0" y="0"/>
                  </a:lnTo>
                  <a:lnTo>
                    <a:pt x="5283200" y="0"/>
                  </a:lnTo>
                  <a:lnTo>
                    <a:pt x="5283200" y="6350"/>
                  </a:lnTo>
                  <a:lnTo>
                    <a:pt x="12700" y="6350"/>
                  </a:lnTo>
                  <a:lnTo>
                    <a:pt x="6350" y="12700"/>
                  </a:lnTo>
                  <a:lnTo>
                    <a:pt x="12700" y="12700"/>
                  </a:lnTo>
                  <a:lnTo>
                    <a:pt x="12700" y="2286000"/>
                  </a:lnTo>
                  <a:lnTo>
                    <a:pt x="6350" y="2286000"/>
                  </a:lnTo>
                  <a:lnTo>
                    <a:pt x="12700" y="2292350"/>
                  </a:lnTo>
                  <a:lnTo>
                    <a:pt x="5283200" y="2292350"/>
                  </a:lnTo>
                  <a:lnTo>
                    <a:pt x="5283200" y="2298700"/>
                  </a:lnTo>
                  <a:close/>
                </a:path>
                <a:path w="5283200" h="2298700">
                  <a:moveTo>
                    <a:pt x="12700" y="12700"/>
                  </a:moveTo>
                  <a:lnTo>
                    <a:pt x="6350" y="12700"/>
                  </a:lnTo>
                  <a:lnTo>
                    <a:pt x="12700" y="6350"/>
                  </a:lnTo>
                  <a:lnTo>
                    <a:pt x="12700" y="12700"/>
                  </a:lnTo>
                  <a:close/>
                </a:path>
                <a:path w="5283200" h="2298700">
                  <a:moveTo>
                    <a:pt x="5270500" y="12700"/>
                  </a:moveTo>
                  <a:lnTo>
                    <a:pt x="12700" y="12700"/>
                  </a:lnTo>
                  <a:lnTo>
                    <a:pt x="12700" y="6350"/>
                  </a:lnTo>
                  <a:lnTo>
                    <a:pt x="5270500" y="6350"/>
                  </a:lnTo>
                  <a:lnTo>
                    <a:pt x="5270500" y="12700"/>
                  </a:lnTo>
                  <a:close/>
                </a:path>
                <a:path w="5283200" h="2298700">
                  <a:moveTo>
                    <a:pt x="5270500" y="2292350"/>
                  </a:moveTo>
                  <a:lnTo>
                    <a:pt x="5270500" y="6350"/>
                  </a:lnTo>
                  <a:lnTo>
                    <a:pt x="5276850" y="12700"/>
                  </a:lnTo>
                  <a:lnTo>
                    <a:pt x="5283200" y="12700"/>
                  </a:lnTo>
                  <a:lnTo>
                    <a:pt x="5283200" y="2286000"/>
                  </a:lnTo>
                  <a:lnTo>
                    <a:pt x="5276850" y="2286000"/>
                  </a:lnTo>
                  <a:lnTo>
                    <a:pt x="5270500" y="2292350"/>
                  </a:lnTo>
                  <a:close/>
                </a:path>
                <a:path w="5283200" h="2298700">
                  <a:moveTo>
                    <a:pt x="5283200" y="12700"/>
                  </a:moveTo>
                  <a:lnTo>
                    <a:pt x="5276850" y="12700"/>
                  </a:lnTo>
                  <a:lnTo>
                    <a:pt x="5270500" y="6350"/>
                  </a:lnTo>
                  <a:lnTo>
                    <a:pt x="5283200" y="6350"/>
                  </a:lnTo>
                  <a:lnTo>
                    <a:pt x="5283200" y="12700"/>
                  </a:lnTo>
                  <a:close/>
                </a:path>
                <a:path w="5283200" h="2298700">
                  <a:moveTo>
                    <a:pt x="12700" y="2292350"/>
                  </a:moveTo>
                  <a:lnTo>
                    <a:pt x="6350" y="2286000"/>
                  </a:lnTo>
                  <a:lnTo>
                    <a:pt x="12700" y="2286000"/>
                  </a:lnTo>
                  <a:lnTo>
                    <a:pt x="12700" y="2292350"/>
                  </a:lnTo>
                  <a:close/>
                </a:path>
                <a:path w="5283200" h="2298700">
                  <a:moveTo>
                    <a:pt x="5270500" y="2292350"/>
                  </a:moveTo>
                  <a:lnTo>
                    <a:pt x="12700" y="2292350"/>
                  </a:lnTo>
                  <a:lnTo>
                    <a:pt x="12700" y="2286000"/>
                  </a:lnTo>
                  <a:lnTo>
                    <a:pt x="5270500" y="2286000"/>
                  </a:lnTo>
                  <a:lnTo>
                    <a:pt x="5270500" y="2292350"/>
                  </a:lnTo>
                  <a:close/>
                </a:path>
                <a:path w="5283200" h="2298700">
                  <a:moveTo>
                    <a:pt x="5283200" y="2292350"/>
                  </a:moveTo>
                  <a:lnTo>
                    <a:pt x="5270500" y="2292350"/>
                  </a:lnTo>
                  <a:lnTo>
                    <a:pt x="5276850" y="2286000"/>
                  </a:lnTo>
                  <a:lnTo>
                    <a:pt x="5283200" y="2286000"/>
                  </a:lnTo>
                  <a:lnTo>
                    <a:pt x="5283200" y="22923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35508" y="1459992"/>
              <a:ext cx="5270500" cy="52069"/>
            </a:xfrm>
            <a:custGeom>
              <a:avLst/>
              <a:gdLst/>
              <a:ahLst/>
              <a:cxnLst/>
              <a:rect l="l" t="t" r="r" b="b"/>
              <a:pathLst>
                <a:path w="5270500" h="52069">
                  <a:moveTo>
                    <a:pt x="5269992" y="51816"/>
                  </a:moveTo>
                  <a:lnTo>
                    <a:pt x="0" y="51816"/>
                  </a:lnTo>
                  <a:lnTo>
                    <a:pt x="0" y="0"/>
                  </a:lnTo>
                  <a:lnTo>
                    <a:pt x="5269992" y="0"/>
                  </a:lnTo>
                  <a:lnTo>
                    <a:pt x="5269992" y="51816"/>
                  </a:lnTo>
                  <a:close/>
                </a:path>
              </a:pathLst>
            </a:custGeom>
            <a:solidFill>
              <a:srgbClr val="0E749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825500" y="1590674"/>
            <a:ext cx="4728210" cy="12420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Presentation</a:t>
            </a:r>
            <a:r>
              <a:rPr sz="1400" b="1" spc="-30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Layer</a:t>
            </a:r>
            <a:r>
              <a:rPr sz="1400" b="1" spc="-25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(React</a:t>
            </a:r>
            <a:r>
              <a:rPr sz="1400" b="1" spc="-25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19</a:t>
            </a:r>
            <a:r>
              <a:rPr sz="1400" b="1" spc="-30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+</a:t>
            </a:r>
            <a:r>
              <a:rPr sz="1400" b="1" spc="-20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 Vite)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183515" indent="-92075">
              <a:lnSpc>
                <a:spcPct val="100000"/>
              </a:lnSpc>
              <a:spcBef>
                <a:spcPts val="995"/>
              </a:spcBef>
              <a:buChar char="•"/>
              <a:tabLst>
                <a:tab pos="183515" algn="l"/>
              </a:tabLst>
            </a:pP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Framework: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React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19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SPA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powered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by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Vite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for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instant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HMR.</a:t>
            </a:r>
            <a:endParaRPr sz="1150">
              <a:latin typeface="Arial MT"/>
              <a:cs typeface="Arial MT"/>
            </a:endParaRPr>
          </a:p>
          <a:p>
            <a:pPr marL="91440" marR="355600" indent="92075">
              <a:lnSpc>
                <a:spcPct val="100000"/>
              </a:lnSpc>
              <a:buChar char="•"/>
              <a:tabLst>
                <a:tab pos="183515" algn="l"/>
              </a:tabLst>
            </a:pP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Styling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&amp;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UI: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Tailwind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CSS,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Lucide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Defense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Icons,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Glassmorphic theme.</a:t>
            </a:r>
            <a:endParaRPr sz="1150">
              <a:latin typeface="Arial MT"/>
              <a:cs typeface="Arial MT"/>
            </a:endParaRPr>
          </a:p>
          <a:p>
            <a:pPr marL="183515" indent="-92075">
              <a:lnSpc>
                <a:spcPct val="100000"/>
              </a:lnSpc>
              <a:buChar char="•"/>
              <a:tabLst>
                <a:tab pos="183515" algn="l"/>
              </a:tabLst>
            </a:pP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Charts: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Live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Sensor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Trend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Charting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with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dual-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axis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telemetry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view.</a:t>
            </a:r>
            <a:endParaRPr sz="1150">
              <a:latin typeface="Arial MT"/>
              <a:cs typeface="Arial MT"/>
            </a:endParaRPr>
          </a:p>
          <a:p>
            <a:pPr marL="183515" indent="-92075">
              <a:lnSpc>
                <a:spcPct val="100000"/>
              </a:lnSpc>
              <a:buChar char="•"/>
              <a:tabLst>
                <a:tab pos="183515" algn="l"/>
              </a:tabLst>
            </a:pP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Real-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Time: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Native WebSocket client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auto-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reconnecting on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disconnect.</a:t>
            </a:r>
            <a:endParaRPr sz="115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280150" y="1454150"/>
            <a:ext cx="5283200" cy="2298700"/>
            <a:chOff x="6280150" y="1454150"/>
            <a:chExt cx="5283200" cy="2298700"/>
          </a:xfrm>
        </p:grpSpPr>
        <p:sp>
          <p:nvSpPr>
            <p:cNvPr id="11" name="object 11"/>
            <p:cNvSpPr/>
            <p:nvPr/>
          </p:nvSpPr>
          <p:spPr>
            <a:xfrm>
              <a:off x="6286500" y="1459992"/>
              <a:ext cx="5270500" cy="2286000"/>
            </a:xfrm>
            <a:custGeom>
              <a:avLst/>
              <a:gdLst/>
              <a:ahLst/>
              <a:cxnLst/>
              <a:rect l="l" t="t" r="r" b="b"/>
              <a:pathLst>
                <a:path w="5270500" h="2286000">
                  <a:moveTo>
                    <a:pt x="5269992" y="2286000"/>
                  </a:moveTo>
                  <a:lnTo>
                    <a:pt x="0" y="2286000"/>
                  </a:lnTo>
                  <a:lnTo>
                    <a:pt x="0" y="0"/>
                  </a:lnTo>
                  <a:lnTo>
                    <a:pt x="5269992" y="0"/>
                  </a:lnTo>
                  <a:lnTo>
                    <a:pt x="5269992" y="2286000"/>
                  </a:lnTo>
                  <a:close/>
                </a:path>
              </a:pathLst>
            </a:custGeom>
            <a:solidFill>
              <a:srgbClr val="F1F3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6280150" y="1454150"/>
              <a:ext cx="5283200" cy="2298700"/>
            </a:xfrm>
            <a:custGeom>
              <a:avLst/>
              <a:gdLst/>
              <a:ahLst/>
              <a:cxnLst/>
              <a:rect l="l" t="t" r="r" b="b"/>
              <a:pathLst>
                <a:path w="5283200" h="2298700">
                  <a:moveTo>
                    <a:pt x="5283200" y="2298700"/>
                  </a:moveTo>
                  <a:lnTo>
                    <a:pt x="0" y="2298700"/>
                  </a:lnTo>
                  <a:lnTo>
                    <a:pt x="0" y="0"/>
                  </a:lnTo>
                  <a:lnTo>
                    <a:pt x="5283200" y="0"/>
                  </a:lnTo>
                  <a:lnTo>
                    <a:pt x="5283200" y="6350"/>
                  </a:lnTo>
                  <a:lnTo>
                    <a:pt x="12700" y="6350"/>
                  </a:lnTo>
                  <a:lnTo>
                    <a:pt x="6350" y="12700"/>
                  </a:lnTo>
                  <a:lnTo>
                    <a:pt x="12700" y="12700"/>
                  </a:lnTo>
                  <a:lnTo>
                    <a:pt x="12700" y="2286000"/>
                  </a:lnTo>
                  <a:lnTo>
                    <a:pt x="6350" y="2286000"/>
                  </a:lnTo>
                  <a:lnTo>
                    <a:pt x="12700" y="2292350"/>
                  </a:lnTo>
                  <a:lnTo>
                    <a:pt x="5283200" y="2292350"/>
                  </a:lnTo>
                  <a:lnTo>
                    <a:pt x="5283200" y="2298700"/>
                  </a:lnTo>
                  <a:close/>
                </a:path>
                <a:path w="5283200" h="2298700">
                  <a:moveTo>
                    <a:pt x="12700" y="12700"/>
                  </a:moveTo>
                  <a:lnTo>
                    <a:pt x="6350" y="12700"/>
                  </a:lnTo>
                  <a:lnTo>
                    <a:pt x="12700" y="6350"/>
                  </a:lnTo>
                  <a:lnTo>
                    <a:pt x="12700" y="12700"/>
                  </a:lnTo>
                  <a:close/>
                </a:path>
                <a:path w="5283200" h="2298700">
                  <a:moveTo>
                    <a:pt x="5270500" y="12700"/>
                  </a:moveTo>
                  <a:lnTo>
                    <a:pt x="12700" y="12700"/>
                  </a:lnTo>
                  <a:lnTo>
                    <a:pt x="12700" y="6350"/>
                  </a:lnTo>
                  <a:lnTo>
                    <a:pt x="5270500" y="6350"/>
                  </a:lnTo>
                  <a:lnTo>
                    <a:pt x="5270500" y="12700"/>
                  </a:lnTo>
                  <a:close/>
                </a:path>
                <a:path w="5283200" h="2298700">
                  <a:moveTo>
                    <a:pt x="5270500" y="2292350"/>
                  </a:moveTo>
                  <a:lnTo>
                    <a:pt x="5270500" y="6350"/>
                  </a:lnTo>
                  <a:lnTo>
                    <a:pt x="5276850" y="12700"/>
                  </a:lnTo>
                  <a:lnTo>
                    <a:pt x="5283200" y="12700"/>
                  </a:lnTo>
                  <a:lnTo>
                    <a:pt x="5283200" y="2286000"/>
                  </a:lnTo>
                  <a:lnTo>
                    <a:pt x="5276850" y="2286000"/>
                  </a:lnTo>
                  <a:lnTo>
                    <a:pt x="5270500" y="2292350"/>
                  </a:lnTo>
                  <a:close/>
                </a:path>
                <a:path w="5283200" h="2298700">
                  <a:moveTo>
                    <a:pt x="5283200" y="12700"/>
                  </a:moveTo>
                  <a:lnTo>
                    <a:pt x="5276850" y="12700"/>
                  </a:lnTo>
                  <a:lnTo>
                    <a:pt x="5270500" y="6350"/>
                  </a:lnTo>
                  <a:lnTo>
                    <a:pt x="5283200" y="6350"/>
                  </a:lnTo>
                  <a:lnTo>
                    <a:pt x="5283200" y="12700"/>
                  </a:lnTo>
                  <a:close/>
                </a:path>
                <a:path w="5283200" h="2298700">
                  <a:moveTo>
                    <a:pt x="12700" y="2292350"/>
                  </a:moveTo>
                  <a:lnTo>
                    <a:pt x="6350" y="2286000"/>
                  </a:lnTo>
                  <a:lnTo>
                    <a:pt x="12700" y="2286000"/>
                  </a:lnTo>
                  <a:lnTo>
                    <a:pt x="12700" y="2292350"/>
                  </a:lnTo>
                  <a:close/>
                </a:path>
                <a:path w="5283200" h="2298700">
                  <a:moveTo>
                    <a:pt x="5270500" y="2292350"/>
                  </a:moveTo>
                  <a:lnTo>
                    <a:pt x="12700" y="2292350"/>
                  </a:lnTo>
                  <a:lnTo>
                    <a:pt x="12700" y="2286000"/>
                  </a:lnTo>
                  <a:lnTo>
                    <a:pt x="5270500" y="2286000"/>
                  </a:lnTo>
                  <a:lnTo>
                    <a:pt x="5270500" y="2292350"/>
                  </a:lnTo>
                  <a:close/>
                </a:path>
                <a:path w="5283200" h="2298700">
                  <a:moveTo>
                    <a:pt x="5283200" y="2292350"/>
                  </a:moveTo>
                  <a:lnTo>
                    <a:pt x="5270500" y="2292350"/>
                  </a:lnTo>
                  <a:lnTo>
                    <a:pt x="5276850" y="2286000"/>
                  </a:lnTo>
                  <a:lnTo>
                    <a:pt x="5283200" y="2286000"/>
                  </a:lnTo>
                  <a:lnTo>
                    <a:pt x="5283200" y="22923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286500" y="1459992"/>
              <a:ext cx="5270500" cy="52069"/>
            </a:xfrm>
            <a:custGeom>
              <a:avLst/>
              <a:gdLst/>
              <a:ahLst/>
              <a:cxnLst/>
              <a:rect l="l" t="t" r="r" b="b"/>
              <a:pathLst>
                <a:path w="5270500" h="52069">
                  <a:moveTo>
                    <a:pt x="5269992" y="51816"/>
                  </a:moveTo>
                  <a:lnTo>
                    <a:pt x="0" y="51816"/>
                  </a:lnTo>
                  <a:lnTo>
                    <a:pt x="0" y="0"/>
                  </a:lnTo>
                  <a:lnTo>
                    <a:pt x="5269992" y="0"/>
                  </a:lnTo>
                  <a:lnTo>
                    <a:pt x="5269992" y="51816"/>
                  </a:lnTo>
                  <a:close/>
                </a:path>
              </a:pathLst>
            </a:custGeom>
            <a:solidFill>
              <a:srgbClr val="0B8A5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6477000" y="1590674"/>
            <a:ext cx="4777740" cy="14173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Application</a:t>
            </a:r>
            <a:r>
              <a:rPr sz="1400" b="1" spc="-30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&amp;</a:t>
            </a:r>
            <a:r>
              <a:rPr sz="1400" b="1" spc="-80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API</a:t>
            </a:r>
            <a:r>
              <a:rPr sz="1400" b="1" spc="-25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Layer</a:t>
            </a:r>
            <a:r>
              <a:rPr sz="1400" b="1" spc="-30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10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(FastAPI)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183515" indent="-92075">
              <a:lnSpc>
                <a:spcPct val="100000"/>
              </a:lnSpc>
              <a:spcBef>
                <a:spcPts val="995"/>
              </a:spcBef>
              <a:buChar char="•"/>
              <a:tabLst>
                <a:tab pos="183515" algn="l"/>
              </a:tabLst>
            </a:pP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Core: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Python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3.11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asynchronous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FastAPI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server.</a:t>
            </a:r>
            <a:endParaRPr sz="1150">
              <a:latin typeface="Arial MT"/>
              <a:cs typeface="Arial MT"/>
            </a:endParaRPr>
          </a:p>
          <a:p>
            <a:pPr marL="183515" indent="-92075">
              <a:lnSpc>
                <a:spcPct val="100000"/>
              </a:lnSpc>
              <a:buChar char="•"/>
              <a:tabLst>
                <a:tab pos="183515" algn="l"/>
              </a:tabLst>
            </a:pP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Routers: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/api/assets,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/api/predict,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/api/chat,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/api/work-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orders,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/ws.</a:t>
            </a:r>
            <a:endParaRPr sz="1150">
              <a:latin typeface="Arial MT"/>
              <a:cs typeface="Arial MT"/>
            </a:endParaRPr>
          </a:p>
          <a:p>
            <a:pPr marL="91440" marR="5080" indent="92075">
              <a:lnSpc>
                <a:spcPct val="100000"/>
              </a:lnSpc>
              <a:buChar char="•"/>
              <a:tabLst>
                <a:tab pos="183515" algn="l"/>
              </a:tabLst>
            </a:pP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Background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Worker: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Async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WebSocket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generator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broadcasting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sensor updates.</a:t>
            </a:r>
            <a:endParaRPr sz="1150">
              <a:latin typeface="Arial MT"/>
              <a:cs typeface="Arial MT"/>
            </a:endParaRPr>
          </a:p>
          <a:p>
            <a:pPr marL="91440" marR="581025" indent="92075">
              <a:lnSpc>
                <a:spcPct val="100000"/>
              </a:lnSpc>
              <a:buChar char="•"/>
              <a:tabLst>
                <a:tab pos="183515" algn="l"/>
              </a:tabLst>
            </a:pP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Storage: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SQLite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database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storing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asset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history,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work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orders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50" dirty="0">
                <a:solidFill>
                  <a:srgbClr val="1E2A3A"/>
                </a:solidFill>
                <a:latin typeface="Arial MT"/>
                <a:cs typeface="Arial MT"/>
              </a:rPr>
              <a:t>&amp;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telemetry.</a:t>
            </a:r>
            <a:endParaRPr sz="115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28650" y="3994150"/>
            <a:ext cx="5283200" cy="2298700"/>
            <a:chOff x="628650" y="3994150"/>
            <a:chExt cx="5283200" cy="2298700"/>
          </a:xfrm>
        </p:grpSpPr>
        <p:sp>
          <p:nvSpPr>
            <p:cNvPr id="16" name="object 16"/>
            <p:cNvSpPr/>
            <p:nvPr/>
          </p:nvSpPr>
          <p:spPr>
            <a:xfrm>
              <a:off x="635508" y="4000500"/>
              <a:ext cx="5270500" cy="2286000"/>
            </a:xfrm>
            <a:custGeom>
              <a:avLst/>
              <a:gdLst/>
              <a:ahLst/>
              <a:cxnLst/>
              <a:rect l="l" t="t" r="r" b="b"/>
              <a:pathLst>
                <a:path w="5270500" h="2286000">
                  <a:moveTo>
                    <a:pt x="5269992" y="2286000"/>
                  </a:moveTo>
                  <a:lnTo>
                    <a:pt x="0" y="2286000"/>
                  </a:lnTo>
                  <a:lnTo>
                    <a:pt x="0" y="0"/>
                  </a:lnTo>
                  <a:lnTo>
                    <a:pt x="5269992" y="0"/>
                  </a:lnTo>
                  <a:lnTo>
                    <a:pt x="5269992" y="2286000"/>
                  </a:lnTo>
                  <a:close/>
                </a:path>
              </a:pathLst>
            </a:custGeom>
            <a:solidFill>
              <a:srgbClr val="F1F3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628650" y="3994150"/>
              <a:ext cx="5283200" cy="2298700"/>
            </a:xfrm>
            <a:custGeom>
              <a:avLst/>
              <a:gdLst/>
              <a:ahLst/>
              <a:cxnLst/>
              <a:rect l="l" t="t" r="r" b="b"/>
              <a:pathLst>
                <a:path w="5283200" h="2298700">
                  <a:moveTo>
                    <a:pt x="5283200" y="2298700"/>
                  </a:moveTo>
                  <a:lnTo>
                    <a:pt x="0" y="2298700"/>
                  </a:lnTo>
                  <a:lnTo>
                    <a:pt x="0" y="0"/>
                  </a:lnTo>
                  <a:lnTo>
                    <a:pt x="5283200" y="0"/>
                  </a:lnTo>
                  <a:lnTo>
                    <a:pt x="5283200" y="6350"/>
                  </a:lnTo>
                  <a:lnTo>
                    <a:pt x="12700" y="6350"/>
                  </a:lnTo>
                  <a:lnTo>
                    <a:pt x="6350" y="12700"/>
                  </a:lnTo>
                  <a:lnTo>
                    <a:pt x="12700" y="12700"/>
                  </a:lnTo>
                  <a:lnTo>
                    <a:pt x="12700" y="2286000"/>
                  </a:lnTo>
                  <a:lnTo>
                    <a:pt x="6350" y="2286000"/>
                  </a:lnTo>
                  <a:lnTo>
                    <a:pt x="12700" y="2292350"/>
                  </a:lnTo>
                  <a:lnTo>
                    <a:pt x="5283200" y="2292350"/>
                  </a:lnTo>
                  <a:lnTo>
                    <a:pt x="5283200" y="2298700"/>
                  </a:lnTo>
                  <a:close/>
                </a:path>
                <a:path w="5283200" h="2298700">
                  <a:moveTo>
                    <a:pt x="12700" y="12700"/>
                  </a:moveTo>
                  <a:lnTo>
                    <a:pt x="6350" y="12700"/>
                  </a:lnTo>
                  <a:lnTo>
                    <a:pt x="12700" y="6350"/>
                  </a:lnTo>
                  <a:lnTo>
                    <a:pt x="12700" y="12700"/>
                  </a:lnTo>
                  <a:close/>
                </a:path>
                <a:path w="5283200" h="2298700">
                  <a:moveTo>
                    <a:pt x="5270500" y="12700"/>
                  </a:moveTo>
                  <a:lnTo>
                    <a:pt x="12700" y="12700"/>
                  </a:lnTo>
                  <a:lnTo>
                    <a:pt x="12700" y="6350"/>
                  </a:lnTo>
                  <a:lnTo>
                    <a:pt x="5270500" y="6350"/>
                  </a:lnTo>
                  <a:lnTo>
                    <a:pt x="5270500" y="12700"/>
                  </a:lnTo>
                  <a:close/>
                </a:path>
                <a:path w="5283200" h="2298700">
                  <a:moveTo>
                    <a:pt x="5270500" y="2292350"/>
                  </a:moveTo>
                  <a:lnTo>
                    <a:pt x="5270500" y="6350"/>
                  </a:lnTo>
                  <a:lnTo>
                    <a:pt x="5276850" y="12700"/>
                  </a:lnTo>
                  <a:lnTo>
                    <a:pt x="5283200" y="12700"/>
                  </a:lnTo>
                  <a:lnTo>
                    <a:pt x="5283200" y="2286000"/>
                  </a:lnTo>
                  <a:lnTo>
                    <a:pt x="5276850" y="2286000"/>
                  </a:lnTo>
                  <a:lnTo>
                    <a:pt x="5270500" y="2292350"/>
                  </a:lnTo>
                  <a:close/>
                </a:path>
                <a:path w="5283200" h="2298700">
                  <a:moveTo>
                    <a:pt x="5283200" y="12700"/>
                  </a:moveTo>
                  <a:lnTo>
                    <a:pt x="5276850" y="12700"/>
                  </a:lnTo>
                  <a:lnTo>
                    <a:pt x="5270500" y="6350"/>
                  </a:lnTo>
                  <a:lnTo>
                    <a:pt x="5283200" y="6350"/>
                  </a:lnTo>
                  <a:lnTo>
                    <a:pt x="5283200" y="12700"/>
                  </a:lnTo>
                  <a:close/>
                </a:path>
                <a:path w="5283200" h="2298700">
                  <a:moveTo>
                    <a:pt x="12700" y="2292350"/>
                  </a:moveTo>
                  <a:lnTo>
                    <a:pt x="6350" y="2286000"/>
                  </a:lnTo>
                  <a:lnTo>
                    <a:pt x="12700" y="2286000"/>
                  </a:lnTo>
                  <a:lnTo>
                    <a:pt x="12700" y="2292350"/>
                  </a:lnTo>
                  <a:close/>
                </a:path>
                <a:path w="5283200" h="2298700">
                  <a:moveTo>
                    <a:pt x="5270500" y="2292350"/>
                  </a:moveTo>
                  <a:lnTo>
                    <a:pt x="12700" y="2292350"/>
                  </a:lnTo>
                  <a:lnTo>
                    <a:pt x="12700" y="2286000"/>
                  </a:lnTo>
                  <a:lnTo>
                    <a:pt x="5270500" y="2286000"/>
                  </a:lnTo>
                  <a:lnTo>
                    <a:pt x="5270500" y="2292350"/>
                  </a:lnTo>
                  <a:close/>
                </a:path>
                <a:path w="5283200" h="2298700">
                  <a:moveTo>
                    <a:pt x="5283200" y="2292350"/>
                  </a:moveTo>
                  <a:lnTo>
                    <a:pt x="5270500" y="2292350"/>
                  </a:lnTo>
                  <a:lnTo>
                    <a:pt x="5276850" y="2286000"/>
                  </a:lnTo>
                  <a:lnTo>
                    <a:pt x="5283200" y="2286000"/>
                  </a:lnTo>
                  <a:lnTo>
                    <a:pt x="5283200" y="22923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635508" y="4000500"/>
              <a:ext cx="5270500" cy="50800"/>
            </a:xfrm>
            <a:custGeom>
              <a:avLst/>
              <a:gdLst/>
              <a:ahLst/>
              <a:cxnLst/>
              <a:rect l="l" t="t" r="r" b="b"/>
              <a:pathLst>
                <a:path w="5270500" h="50800">
                  <a:moveTo>
                    <a:pt x="5269992" y="50291"/>
                  </a:moveTo>
                  <a:lnTo>
                    <a:pt x="0" y="50291"/>
                  </a:lnTo>
                  <a:lnTo>
                    <a:pt x="0" y="0"/>
                  </a:lnTo>
                  <a:lnTo>
                    <a:pt x="5269992" y="0"/>
                  </a:lnTo>
                  <a:lnTo>
                    <a:pt x="5269992" y="50291"/>
                  </a:lnTo>
                  <a:close/>
                </a:path>
              </a:pathLst>
            </a:custGeom>
            <a:solidFill>
              <a:srgbClr val="92650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825500" y="4130675"/>
            <a:ext cx="4655820" cy="15925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92650B"/>
                </a:solidFill>
                <a:latin typeface="Arial" panose="020B0604020202020204"/>
                <a:cs typeface="Arial" panose="020B0604020202020204"/>
              </a:rPr>
              <a:t>Machine</a:t>
            </a:r>
            <a:r>
              <a:rPr sz="1400" b="1" spc="-30" dirty="0">
                <a:solidFill>
                  <a:srgbClr val="92650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92650B"/>
                </a:solidFill>
                <a:latin typeface="Arial" panose="020B0604020202020204"/>
                <a:cs typeface="Arial" panose="020B0604020202020204"/>
              </a:rPr>
              <a:t>Learning</a:t>
            </a:r>
            <a:r>
              <a:rPr sz="1400" b="1" spc="-25" dirty="0">
                <a:solidFill>
                  <a:srgbClr val="92650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92650B"/>
                </a:solidFill>
                <a:latin typeface="Arial" panose="020B0604020202020204"/>
                <a:cs typeface="Arial" panose="020B0604020202020204"/>
              </a:rPr>
              <a:t>Engine</a:t>
            </a:r>
            <a:r>
              <a:rPr sz="1400" b="1" spc="-30" dirty="0">
                <a:solidFill>
                  <a:srgbClr val="92650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10" dirty="0">
                <a:solidFill>
                  <a:srgbClr val="92650B"/>
                </a:solidFill>
                <a:latin typeface="Arial" panose="020B0604020202020204"/>
                <a:cs typeface="Arial" panose="020B0604020202020204"/>
              </a:rPr>
              <a:t>(Scikit-Learn)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91440" marR="370205" indent="92075">
              <a:lnSpc>
                <a:spcPct val="100000"/>
              </a:lnSpc>
              <a:spcBef>
                <a:spcPts val="995"/>
              </a:spcBef>
              <a:buChar char="•"/>
              <a:tabLst>
                <a:tab pos="183515" algn="l"/>
              </a:tabLst>
            </a:pP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AI4I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2020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Model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(ai4i.pkl):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Torque,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rotational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speed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&amp;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tool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wear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degradation.</a:t>
            </a:r>
            <a:endParaRPr sz="1150">
              <a:latin typeface="Arial MT"/>
              <a:cs typeface="Arial MT"/>
            </a:endParaRPr>
          </a:p>
          <a:p>
            <a:pPr marL="91440" marR="209550" indent="92075">
              <a:lnSpc>
                <a:spcPct val="100000"/>
              </a:lnSpc>
              <a:buChar char="•"/>
              <a:tabLst>
                <a:tab pos="183515" algn="l"/>
              </a:tabLst>
            </a:pP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NASA</a:t>
            </a:r>
            <a:r>
              <a:rPr sz="1150" spc="-2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IMS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Bearing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(bearing.pkl):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Vibration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FFT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analysis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for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rotary shafts.</a:t>
            </a:r>
            <a:endParaRPr sz="1150">
              <a:latin typeface="Arial MT"/>
              <a:cs typeface="Arial MT"/>
            </a:endParaRPr>
          </a:p>
          <a:p>
            <a:pPr marL="91440" marR="225425" indent="92075">
              <a:lnSpc>
                <a:spcPct val="100000"/>
              </a:lnSpc>
              <a:buChar char="•"/>
              <a:tabLst>
                <a:tab pos="183515" algn="l"/>
              </a:tabLst>
            </a:pP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N-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CMAPSS</a:t>
            </a:r>
            <a:r>
              <a:rPr sz="1150" spc="-3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Turbofan</a:t>
            </a:r>
            <a:r>
              <a:rPr sz="1150" spc="-2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(failure_model.pkl):</a:t>
            </a:r>
            <a:r>
              <a:rPr sz="1150" spc="-3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Thermodynamic</a:t>
            </a:r>
            <a:r>
              <a:rPr sz="1150" spc="-2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RUL</a:t>
            </a:r>
            <a:r>
              <a:rPr sz="1150" spc="-3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50" dirty="0">
                <a:solidFill>
                  <a:srgbClr val="1E2A3A"/>
                </a:solidFill>
                <a:latin typeface="Arial MT"/>
                <a:cs typeface="Arial MT"/>
              </a:rPr>
              <a:t>&amp;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failure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risk.</a:t>
            </a:r>
            <a:endParaRPr sz="1150">
              <a:latin typeface="Arial MT"/>
              <a:cs typeface="Arial MT"/>
            </a:endParaRPr>
          </a:p>
          <a:p>
            <a:pPr marL="183515" indent="-92075">
              <a:lnSpc>
                <a:spcPct val="100000"/>
              </a:lnSpc>
              <a:buChar char="•"/>
              <a:tabLst>
                <a:tab pos="183515" algn="l"/>
              </a:tabLst>
            </a:pP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XAI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Explainer: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Feature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contribution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scoring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for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transparent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decisions.</a:t>
            </a:r>
            <a:endParaRPr sz="115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280150" y="3994150"/>
            <a:ext cx="5283200" cy="2298700"/>
            <a:chOff x="6280150" y="3994150"/>
            <a:chExt cx="5283200" cy="2298700"/>
          </a:xfrm>
        </p:grpSpPr>
        <p:sp>
          <p:nvSpPr>
            <p:cNvPr id="21" name="object 21"/>
            <p:cNvSpPr/>
            <p:nvPr/>
          </p:nvSpPr>
          <p:spPr>
            <a:xfrm>
              <a:off x="6286500" y="4000500"/>
              <a:ext cx="5270500" cy="2286000"/>
            </a:xfrm>
            <a:custGeom>
              <a:avLst/>
              <a:gdLst/>
              <a:ahLst/>
              <a:cxnLst/>
              <a:rect l="l" t="t" r="r" b="b"/>
              <a:pathLst>
                <a:path w="5270500" h="2286000">
                  <a:moveTo>
                    <a:pt x="5269992" y="2286000"/>
                  </a:moveTo>
                  <a:lnTo>
                    <a:pt x="0" y="2286000"/>
                  </a:lnTo>
                  <a:lnTo>
                    <a:pt x="0" y="0"/>
                  </a:lnTo>
                  <a:lnTo>
                    <a:pt x="5269992" y="0"/>
                  </a:lnTo>
                  <a:lnTo>
                    <a:pt x="5269992" y="2286000"/>
                  </a:lnTo>
                  <a:close/>
                </a:path>
              </a:pathLst>
            </a:custGeom>
            <a:solidFill>
              <a:srgbClr val="F1F3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6280150" y="3994150"/>
              <a:ext cx="5283200" cy="2298700"/>
            </a:xfrm>
            <a:custGeom>
              <a:avLst/>
              <a:gdLst/>
              <a:ahLst/>
              <a:cxnLst/>
              <a:rect l="l" t="t" r="r" b="b"/>
              <a:pathLst>
                <a:path w="5283200" h="2298700">
                  <a:moveTo>
                    <a:pt x="5283200" y="2298700"/>
                  </a:moveTo>
                  <a:lnTo>
                    <a:pt x="0" y="2298700"/>
                  </a:lnTo>
                  <a:lnTo>
                    <a:pt x="0" y="0"/>
                  </a:lnTo>
                  <a:lnTo>
                    <a:pt x="5283200" y="0"/>
                  </a:lnTo>
                  <a:lnTo>
                    <a:pt x="5283200" y="6350"/>
                  </a:lnTo>
                  <a:lnTo>
                    <a:pt x="12700" y="6350"/>
                  </a:lnTo>
                  <a:lnTo>
                    <a:pt x="6350" y="12700"/>
                  </a:lnTo>
                  <a:lnTo>
                    <a:pt x="12700" y="12700"/>
                  </a:lnTo>
                  <a:lnTo>
                    <a:pt x="12700" y="2286000"/>
                  </a:lnTo>
                  <a:lnTo>
                    <a:pt x="6350" y="2286000"/>
                  </a:lnTo>
                  <a:lnTo>
                    <a:pt x="12700" y="2292350"/>
                  </a:lnTo>
                  <a:lnTo>
                    <a:pt x="5283200" y="2292350"/>
                  </a:lnTo>
                  <a:lnTo>
                    <a:pt x="5283200" y="2298700"/>
                  </a:lnTo>
                  <a:close/>
                </a:path>
                <a:path w="5283200" h="2298700">
                  <a:moveTo>
                    <a:pt x="12700" y="12700"/>
                  </a:moveTo>
                  <a:lnTo>
                    <a:pt x="6350" y="12700"/>
                  </a:lnTo>
                  <a:lnTo>
                    <a:pt x="12700" y="6350"/>
                  </a:lnTo>
                  <a:lnTo>
                    <a:pt x="12700" y="12700"/>
                  </a:lnTo>
                  <a:close/>
                </a:path>
                <a:path w="5283200" h="2298700">
                  <a:moveTo>
                    <a:pt x="5270500" y="12700"/>
                  </a:moveTo>
                  <a:lnTo>
                    <a:pt x="12700" y="12700"/>
                  </a:lnTo>
                  <a:lnTo>
                    <a:pt x="12700" y="6350"/>
                  </a:lnTo>
                  <a:lnTo>
                    <a:pt x="5270500" y="6350"/>
                  </a:lnTo>
                  <a:lnTo>
                    <a:pt x="5270500" y="12700"/>
                  </a:lnTo>
                  <a:close/>
                </a:path>
                <a:path w="5283200" h="2298700">
                  <a:moveTo>
                    <a:pt x="5270500" y="2292350"/>
                  </a:moveTo>
                  <a:lnTo>
                    <a:pt x="5270500" y="6350"/>
                  </a:lnTo>
                  <a:lnTo>
                    <a:pt x="5276850" y="12700"/>
                  </a:lnTo>
                  <a:lnTo>
                    <a:pt x="5283200" y="12700"/>
                  </a:lnTo>
                  <a:lnTo>
                    <a:pt x="5283200" y="2286000"/>
                  </a:lnTo>
                  <a:lnTo>
                    <a:pt x="5276850" y="2286000"/>
                  </a:lnTo>
                  <a:lnTo>
                    <a:pt x="5270500" y="2292350"/>
                  </a:lnTo>
                  <a:close/>
                </a:path>
                <a:path w="5283200" h="2298700">
                  <a:moveTo>
                    <a:pt x="5283200" y="12700"/>
                  </a:moveTo>
                  <a:lnTo>
                    <a:pt x="5276850" y="12700"/>
                  </a:lnTo>
                  <a:lnTo>
                    <a:pt x="5270500" y="6350"/>
                  </a:lnTo>
                  <a:lnTo>
                    <a:pt x="5283200" y="6350"/>
                  </a:lnTo>
                  <a:lnTo>
                    <a:pt x="5283200" y="12700"/>
                  </a:lnTo>
                  <a:close/>
                </a:path>
                <a:path w="5283200" h="2298700">
                  <a:moveTo>
                    <a:pt x="12700" y="2292350"/>
                  </a:moveTo>
                  <a:lnTo>
                    <a:pt x="6350" y="2286000"/>
                  </a:lnTo>
                  <a:lnTo>
                    <a:pt x="12700" y="2286000"/>
                  </a:lnTo>
                  <a:lnTo>
                    <a:pt x="12700" y="2292350"/>
                  </a:lnTo>
                  <a:close/>
                </a:path>
                <a:path w="5283200" h="2298700">
                  <a:moveTo>
                    <a:pt x="5270500" y="2292350"/>
                  </a:moveTo>
                  <a:lnTo>
                    <a:pt x="12700" y="2292350"/>
                  </a:lnTo>
                  <a:lnTo>
                    <a:pt x="12700" y="2286000"/>
                  </a:lnTo>
                  <a:lnTo>
                    <a:pt x="5270500" y="2286000"/>
                  </a:lnTo>
                  <a:lnTo>
                    <a:pt x="5270500" y="2292350"/>
                  </a:lnTo>
                  <a:close/>
                </a:path>
                <a:path w="5283200" h="2298700">
                  <a:moveTo>
                    <a:pt x="5283200" y="2292350"/>
                  </a:moveTo>
                  <a:lnTo>
                    <a:pt x="5270500" y="2292350"/>
                  </a:lnTo>
                  <a:lnTo>
                    <a:pt x="5276850" y="2286000"/>
                  </a:lnTo>
                  <a:lnTo>
                    <a:pt x="5283200" y="2286000"/>
                  </a:lnTo>
                  <a:lnTo>
                    <a:pt x="5283200" y="22923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6286500" y="4000500"/>
              <a:ext cx="5270500" cy="50800"/>
            </a:xfrm>
            <a:custGeom>
              <a:avLst/>
              <a:gdLst/>
              <a:ahLst/>
              <a:cxnLst/>
              <a:rect l="l" t="t" r="r" b="b"/>
              <a:pathLst>
                <a:path w="5270500" h="50800">
                  <a:moveTo>
                    <a:pt x="5269992" y="50291"/>
                  </a:moveTo>
                  <a:lnTo>
                    <a:pt x="0" y="50291"/>
                  </a:lnTo>
                  <a:lnTo>
                    <a:pt x="0" y="0"/>
                  </a:lnTo>
                  <a:lnTo>
                    <a:pt x="5269992" y="0"/>
                  </a:lnTo>
                  <a:lnTo>
                    <a:pt x="5269992" y="50291"/>
                  </a:lnTo>
                  <a:close/>
                </a:path>
              </a:pathLst>
            </a:custGeom>
            <a:solidFill>
              <a:srgbClr val="0E749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6477000" y="4130675"/>
            <a:ext cx="4655185" cy="15925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Agentic</a:t>
            </a:r>
            <a:r>
              <a:rPr sz="1400" b="1" spc="-20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LLM</a:t>
            </a:r>
            <a:r>
              <a:rPr sz="1400" b="1" spc="-20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Copilot</a:t>
            </a:r>
            <a:r>
              <a:rPr sz="1400" b="1" spc="-20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(IBM</a:t>
            </a:r>
            <a:r>
              <a:rPr sz="1400" b="1" spc="-20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Bob</a:t>
            </a:r>
            <a:r>
              <a:rPr sz="1400" b="1" spc="-20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1400" b="1" spc="-15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Groq</a:t>
            </a:r>
            <a:r>
              <a:rPr sz="1400" b="1" spc="-20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 LPU)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91440" marR="20320" indent="92075">
              <a:lnSpc>
                <a:spcPct val="100000"/>
              </a:lnSpc>
              <a:spcBef>
                <a:spcPts val="995"/>
              </a:spcBef>
              <a:buChar char="•"/>
              <a:tabLst>
                <a:tab pos="183515" algn="l"/>
              </a:tabLst>
            </a:pP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Agent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Pattern: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Function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&amp;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Tool-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calling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orchestrator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over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backend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25" dirty="0">
                <a:solidFill>
                  <a:srgbClr val="1E2A3A"/>
                </a:solidFill>
                <a:latin typeface="Arial MT"/>
                <a:cs typeface="Arial MT"/>
              </a:rPr>
              <a:t>ML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APIs.</a:t>
            </a:r>
            <a:endParaRPr sz="1150">
              <a:latin typeface="Arial MT"/>
              <a:cs typeface="Arial MT"/>
            </a:endParaRPr>
          </a:p>
          <a:p>
            <a:pPr marL="91440" marR="135890" indent="92075">
              <a:lnSpc>
                <a:spcPct val="100000"/>
              </a:lnSpc>
              <a:buChar char="•"/>
              <a:tabLst>
                <a:tab pos="183515" algn="l"/>
              </a:tabLst>
            </a:pP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LLM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Engines: Qwen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3.8 27B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/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GPT-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OSS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20B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with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high-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speed </a:t>
            </a:r>
            <a:r>
              <a:rPr sz="1150" spc="-25" dirty="0">
                <a:solidFill>
                  <a:srgbClr val="1E2A3A"/>
                </a:solidFill>
                <a:latin typeface="Arial MT"/>
                <a:cs typeface="Arial MT"/>
              </a:rPr>
              <a:t>LPU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inference.</a:t>
            </a:r>
            <a:endParaRPr sz="1150">
              <a:latin typeface="Arial MT"/>
              <a:cs typeface="Arial MT"/>
            </a:endParaRPr>
          </a:p>
          <a:p>
            <a:pPr marL="91440" marR="784860" indent="92075">
              <a:lnSpc>
                <a:spcPct val="100000"/>
              </a:lnSpc>
              <a:buChar char="•"/>
              <a:tabLst>
                <a:tab pos="183515" algn="l"/>
              </a:tabLst>
            </a:pP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Dual-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Language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NLP: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Fluent Hinglish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and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military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English understanding.</a:t>
            </a:r>
            <a:endParaRPr sz="1150">
              <a:latin typeface="Arial MT"/>
              <a:cs typeface="Arial MT"/>
            </a:endParaRPr>
          </a:p>
          <a:p>
            <a:pPr marL="183515" indent="-92075">
              <a:lnSpc>
                <a:spcPct val="100000"/>
              </a:lnSpc>
              <a:buChar char="•"/>
              <a:tabLst>
                <a:tab pos="183515" algn="l"/>
              </a:tabLst>
            </a:pP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Local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RAG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Fallback: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Built-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in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semantic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engine operating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100%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offline.</a:t>
            </a:r>
            <a:endParaRPr sz="11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28800" y="228599"/>
            <a:ext cx="1871980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KEY</a:t>
            </a:r>
            <a:r>
              <a:rPr sz="1000" b="1" spc="-20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00" b="1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FEATURE</a:t>
            </a:r>
            <a:r>
              <a:rPr sz="1000" b="1" spc="-20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00" b="1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&amp;</a:t>
            </a:r>
            <a:r>
              <a:rPr sz="1000" b="1" spc="-20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00" b="1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DEMO</a:t>
            </a:r>
            <a:r>
              <a:rPr sz="1000" b="1" spc="-15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00" b="1" spc="-20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FLOW</a:t>
            </a:r>
            <a:endParaRPr sz="1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669540" y="510539"/>
            <a:ext cx="8486775" cy="3600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Conversational</a:t>
            </a:r>
            <a:r>
              <a:rPr spc="-130" dirty="0"/>
              <a:t> </a:t>
            </a:r>
            <a:r>
              <a:rPr dirty="0"/>
              <a:t>AI</a:t>
            </a:r>
            <a:r>
              <a:rPr spc="-45" dirty="0"/>
              <a:t> </a:t>
            </a:r>
            <a:r>
              <a:rPr dirty="0"/>
              <a:t>Copilot</a:t>
            </a:r>
            <a:r>
              <a:rPr spc="-40" dirty="0"/>
              <a:t> </a:t>
            </a:r>
            <a:r>
              <a:rPr dirty="0"/>
              <a:t>&amp;</a:t>
            </a:r>
            <a:r>
              <a:rPr spc="-40" dirty="0"/>
              <a:t> </a:t>
            </a:r>
            <a:r>
              <a:rPr spc="-20" dirty="0"/>
              <a:t>Real-</a:t>
            </a:r>
            <a:r>
              <a:rPr dirty="0"/>
              <a:t>Time</a:t>
            </a:r>
            <a:r>
              <a:rPr spc="-40" dirty="0"/>
              <a:t> </a:t>
            </a:r>
            <a:r>
              <a:rPr dirty="0"/>
              <a:t>Sensor</a:t>
            </a:r>
            <a:r>
              <a:rPr spc="-125" dirty="0"/>
              <a:t> </a:t>
            </a:r>
            <a:r>
              <a:rPr dirty="0"/>
              <a:t>Anomaly</a:t>
            </a:r>
            <a:r>
              <a:rPr spc="-45" dirty="0"/>
              <a:t> </a:t>
            </a:r>
            <a:r>
              <a:rPr spc="-20" dirty="0"/>
              <a:t>Flow</a:t>
            </a:r>
            <a:endParaRPr spc="-20" dirty="0"/>
          </a:p>
        </p:txBody>
      </p:sp>
      <p:sp>
        <p:nvSpPr>
          <p:cNvPr id="4" name="object 4"/>
          <p:cNvSpPr txBox="1"/>
          <p:nvPr/>
        </p:nvSpPr>
        <p:spPr>
          <a:xfrm>
            <a:off x="3505200" y="1012824"/>
            <a:ext cx="55403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From</a:t>
            </a:r>
            <a:r>
              <a:rPr sz="1200" spc="-10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raw</a:t>
            </a:r>
            <a:r>
              <a:rPr sz="1200" spc="-5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sensor</a:t>
            </a:r>
            <a:r>
              <a:rPr sz="1200" spc="-10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spike</a:t>
            </a:r>
            <a:r>
              <a:rPr sz="1200" spc="-10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to</a:t>
            </a:r>
            <a:r>
              <a:rPr sz="1200" spc="-10" dirty="0">
                <a:solidFill>
                  <a:srgbClr val="5B6472"/>
                </a:solidFill>
                <a:latin typeface="Arial MT"/>
                <a:cs typeface="Arial MT"/>
              </a:rPr>
              <a:t> root-</a:t>
            </a: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cause</a:t>
            </a:r>
            <a:r>
              <a:rPr sz="1200" spc="-15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diagnosis</a:t>
            </a:r>
            <a:r>
              <a:rPr sz="1200" spc="-5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and</a:t>
            </a:r>
            <a:r>
              <a:rPr sz="1200" spc="-10" dirty="0">
                <a:solidFill>
                  <a:srgbClr val="5B6472"/>
                </a:solidFill>
                <a:latin typeface="Arial MT"/>
                <a:cs typeface="Arial MT"/>
              </a:rPr>
              <a:t> one-</a:t>
            </a: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click</a:t>
            </a:r>
            <a:r>
              <a:rPr sz="1200" spc="-10" dirty="0">
                <a:solidFill>
                  <a:srgbClr val="5B6472"/>
                </a:solidFill>
                <a:latin typeface="Arial MT"/>
                <a:cs typeface="Arial MT"/>
              </a:rPr>
              <a:t> work-</a:t>
            </a: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order</a:t>
            </a:r>
            <a:r>
              <a:rPr sz="1200" spc="-5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5B6472"/>
                </a:solidFill>
                <a:latin typeface="Arial MT"/>
                <a:cs typeface="Arial MT"/>
              </a:rPr>
              <a:t>dispatch.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28650" y="1517650"/>
            <a:ext cx="2489200" cy="3124200"/>
            <a:chOff x="628650" y="1517650"/>
            <a:chExt cx="2489200" cy="3124200"/>
          </a:xfrm>
        </p:grpSpPr>
        <p:sp>
          <p:nvSpPr>
            <p:cNvPr id="6" name="object 6"/>
            <p:cNvSpPr/>
            <p:nvPr/>
          </p:nvSpPr>
          <p:spPr>
            <a:xfrm>
              <a:off x="635508" y="1524000"/>
              <a:ext cx="2476500" cy="3112135"/>
            </a:xfrm>
            <a:custGeom>
              <a:avLst/>
              <a:gdLst/>
              <a:ahLst/>
              <a:cxnLst/>
              <a:rect l="l" t="t" r="r" b="b"/>
              <a:pathLst>
                <a:path w="2476500" h="3112135">
                  <a:moveTo>
                    <a:pt x="2476500" y="3112007"/>
                  </a:moveTo>
                  <a:lnTo>
                    <a:pt x="0" y="3112007"/>
                  </a:lnTo>
                  <a:lnTo>
                    <a:pt x="0" y="0"/>
                  </a:lnTo>
                  <a:lnTo>
                    <a:pt x="2476500" y="0"/>
                  </a:lnTo>
                  <a:lnTo>
                    <a:pt x="2476500" y="3112007"/>
                  </a:lnTo>
                  <a:close/>
                </a:path>
              </a:pathLst>
            </a:custGeom>
            <a:solidFill>
              <a:srgbClr val="F1F3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28650" y="1517650"/>
              <a:ext cx="2489200" cy="3124200"/>
            </a:xfrm>
            <a:custGeom>
              <a:avLst/>
              <a:gdLst/>
              <a:ahLst/>
              <a:cxnLst/>
              <a:rect l="l" t="t" r="r" b="b"/>
              <a:pathLst>
                <a:path w="2489200" h="3124200">
                  <a:moveTo>
                    <a:pt x="2489200" y="3124200"/>
                  </a:moveTo>
                  <a:lnTo>
                    <a:pt x="0" y="3124200"/>
                  </a:lnTo>
                  <a:lnTo>
                    <a:pt x="0" y="0"/>
                  </a:lnTo>
                  <a:lnTo>
                    <a:pt x="2489200" y="0"/>
                  </a:lnTo>
                  <a:lnTo>
                    <a:pt x="2489200" y="6350"/>
                  </a:lnTo>
                  <a:lnTo>
                    <a:pt x="12700" y="6350"/>
                  </a:lnTo>
                  <a:lnTo>
                    <a:pt x="6350" y="12700"/>
                  </a:lnTo>
                  <a:lnTo>
                    <a:pt x="12700" y="12700"/>
                  </a:lnTo>
                  <a:lnTo>
                    <a:pt x="12700" y="3111500"/>
                  </a:lnTo>
                  <a:lnTo>
                    <a:pt x="6350" y="3111500"/>
                  </a:lnTo>
                  <a:lnTo>
                    <a:pt x="12700" y="3117850"/>
                  </a:lnTo>
                  <a:lnTo>
                    <a:pt x="2489200" y="3117850"/>
                  </a:lnTo>
                  <a:lnTo>
                    <a:pt x="2489200" y="3124200"/>
                  </a:lnTo>
                  <a:close/>
                </a:path>
                <a:path w="2489200" h="3124200">
                  <a:moveTo>
                    <a:pt x="12700" y="12700"/>
                  </a:moveTo>
                  <a:lnTo>
                    <a:pt x="6350" y="12700"/>
                  </a:lnTo>
                  <a:lnTo>
                    <a:pt x="12700" y="6350"/>
                  </a:lnTo>
                  <a:lnTo>
                    <a:pt x="12700" y="12700"/>
                  </a:lnTo>
                  <a:close/>
                </a:path>
                <a:path w="2489200" h="3124200">
                  <a:moveTo>
                    <a:pt x="2476500" y="12700"/>
                  </a:moveTo>
                  <a:lnTo>
                    <a:pt x="12700" y="12700"/>
                  </a:lnTo>
                  <a:lnTo>
                    <a:pt x="12700" y="6350"/>
                  </a:lnTo>
                  <a:lnTo>
                    <a:pt x="2476500" y="6350"/>
                  </a:lnTo>
                  <a:lnTo>
                    <a:pt x="2476500" y="12700"/>
                  </a:lnTo>
                  <a:close/>
                </a:path>
                <a:path w="2489200" h="3124200">
                  <a:moveTo>
                    <a:pt x="2476500" y="3117850"/>
                  </a:moveTo>
                  <a:lnTo>
                    <a:pt x="2476500" y="6350"/>
                  </a:lnTo>
                  <a:lnTo>
                    <a:pt x="2482850" y="12700"/>
                  </a:lnTo>
                  <a:lnTo>
                    <a:pt x="2489200" y="12700"/>
                  </a:lnTo>
                  <a:lnTo>
                    <a:pt x="2489200" y="3111500"/>
                  </a:lnTo>
                  <a:lnTo>
                    <a:pt x="2482850" y="3111500"/>
                  </a:lnTo>
                  <a:lnTo>
                    <a:pt x="2476500" y="3117850"/>
                  </a:lnTo>
                  <a:close/>
                </a:path>
                <a:path w="2489200" h="3124200">
                  <a:moveTo>
                    <a:pt x="2489200" y="12700"/>
                  </a:moveTo>
                  <a:lnTo>
                    <a:pt x="2482850" y="12700"/>
                  </a:lnTo>
                  <a:lnTo>
                    <a:pt x="2476500" y="6350"/>
                  </a:lnTo>
                  <a:lnTo>
                    <a:pt x="2489200" y="6350"/>
                  </a:lnTo>
                  <a:lnTo>
                    <a:pt x="2489200" y="12700"/>
                  </a:lnTo>
                  <a:close/>
                </a:path>
                <a:path w="2489200" h="3124200">
                  <a:moveTo>
                    <a:pt x="12700" y="3117850"/>
                  </a:moveTo>
                  <a:lnTo>
                    <a:pt x="6350" y="3111500"/>
                  </a:lnTo>
                  <a:lnTo>
                    <a:pt x="12700" y="3111500"/>
                  </a:lnTo>
                  <a:lnTo>
                    <a:pt x="12700" y="3117850"/>
                  </a:lnTo>
                  <a:close/>
                </a:path>
                <a:path w="2489200" h="3124200">
                  <a:moveTo>
                    <a:pt x="2476500" y="3117850"/>
                  </a:moveTo>
                  <a:lnTo>
                    <a:pt x="12700" y="3117850"/>
                  </a:lnTo>
                  <a:lnTo>
                    <a:pt x="12700" y="3111500"/>
                  </a:lnTo>
                  <a:lnTo>
                    <a:pt x="2476500" y="3111500"/>
                  </a:lnTo>
                  <a:lnTo>
                    <a:pt x="2476500" y="3117850"/>
                  </a:lnTo>
                  <a:close/>
                </a:path>
                <a:path w="2489200" h="3124200">
                  <a:moveTo>
                    <a:pt x="2489200" y="3117850"/>
                  </a:moveTo>
                  <a:lnTo>
                    <a:pt x="2476500" y="3117850"/>
                  </a:lnTo>
                  <a:lnTo>
                    <a:pt x="2482850" y="3111500"/>
                  </a:lnTo>
                  <a:lnTo>
                    <a:pt x="2489200" y="3111500"/>
                  </a:lnTo>
                  <a:lnTo>
                    <a:pt x="2489200" y="31178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35508" y="1524000"/>
              <a:ext cx="2476500" cy="50800"/>
            </a:xfrm>
            <a:custGeom>
              <a:avLst/>
              <a:gdLst/>
              <a:ahLst/>
              <a:cxnLst/>
              <a:rect l="l" t="t" r="r" b="b"/>
              <a:pathLst>
                <a:path w="2476500" h="50800">
                  <a:moveTo>
                    <a:pt x="2476500" y="50291"/>
                  </a:moveTo>
                  <a:lnTo>
                    <a:pt x="0" y="50291"/>
                  </a:lnTo>
                  <a:lnTo>
                    <a:pt x="0" y="0"/>
                  </a:lnTo>
                  <a:lnTo>
                    <a:pt x="2476500" y="0"/>
                  </a:lnTo>
                  <a:lnTo>
                    <a:pt x="2476500" y="50291"/>
                  </a:lnTo>
                  <a:close/>
                </a:path>
              </a:pathLst>
            </a:custGeom>
            <a:solidFill>
              <a:srgbClr val="0E749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825500" y="1654174"/>
            <a:ext cx="1826260" cy="9328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33528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Step</a:t>
            </a:r>
            <a:r>
              <a:rPr sz="1400" b="1" spc="-20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1:</a:t>
            </a:r>
            <a:r>
              <a:rPr sz="1400" b="1" spc="-15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10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Telemetry Spike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139700" indent="-86360">
              <a:lnSpc>
                <a:spcPts val="1135"/>
              </a:lnSpc>
              <a:buChar char="•"/>
              <a:tabLst>
                <a:tab pos="139700" algn="l"/>
              </a:tabLst>
            </a:pP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Live</a:t>
            </a:r>
            <a:r>
              <a:rPr sz="1100" spc="-4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WebSocket</a:t>
            </a:r>
            <a:r>
              <a:rPr sz="1100" spc="-3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stream</a:t>
            </a:r>
            <a:endParaRPr sz="1100">
              <a:latin typeface="Arial MT"/>
              <a:cs typeface="Arial MT"/>
            </a:endParaRPr>
          </a:p>
          <a:p>
            <a:pPr marL="53340" marR="5080">
              <a:lnSpc>
                <a:spcPct val="100000"/>
              </a:lnSpc>
            </a:pP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detects</a:t>
            </a:r>
            <a:r>
              <a:rPr sz="1100" spc="-3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anomaly</a:t>
            </a:r>
            <a:r>
              <a:rPr sz="1100" spc="-3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on</a:t>
            </a:r>
            <a:r>
              <a:rPr sz="1100" spc="-4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asset</a:t>
            </a:r>
            <a:r>
              <a:rPr sz="1100" spc="-3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1E2A3A"/>
                </a:solidFill>
                <a:latin typeface="Arial MT"/>
                <a:cs typeface="Arial MT"/>
              </a:rPr>
              <a:t>V-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102</a:t>
            </a:r>
            <a:r>
              <a:rPr sz="1100" spc="-3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(Main</a:t>
            </a:r>
            <a:r>
              <a:rPr sz="1100" spc="-3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Combat</a:t>
            </a:r>
            <a:r>
              <a:rPr sz="1100" spc="-2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Tank).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66139" y="2727960"/>
            <a:ext cx="1803400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9060" indent="-86360">
              <a:lnSpc>
                <a:spcPct val="100000"/>
              </a:lnSpc>
              <a:spcBef>
                <a:spcPts val="105"/>
              </a:spcBef>
              <a:buChar char="•"/>
              <a:tabLst>
                <a:tab pos="99060" algn="l"/>
              </a:tabLst>
            </a:pP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Vibration</a:t>
            </a:r>
            <a:r>
              <a:rPr sz="1100" spc="-3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spikes</a:t>
            </a:r>
            <a:r>
              <a:rPr sz="1100" spc="-2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from</a:t>
            </a:r>
            <a:r>
              <a:rPr sz="1100" spc="-3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2.1</a:t>
            </a:r>
            <a:r>
              <a:rPr sz="1100" spc="-3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35" dirty="0">
                <a:solidFill>
                  <a:srgbClr val="1E2A3A"/>
                </a:solidFill>
                <a:latin typeface="Arial MT"/>
                <a:cs typeface="Arial MT"/>
              </a:rPr>
              <a:t>to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8.4</a:t>
            </a:r>
            <a:r>
              <a:rPr sz="110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mm/s.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66139" y="3230880"/>
            <a:ext cx="1648460" cy="529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86360">
              <a:lnSpc>
                <a:spcPct val="100000"/>
              </a:lnSpc>
              <a:spcBef>
                <a:spcPts val="105"/>
              </a:spcBef>
              <a:buChar char="•"/>
              <a:tabLst>
                <a:tab pos="99060" algn="l"/>
              </a:tabLst>
            </a:pP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Dashboard</a:t>
            </a:r>
            <a:r>
              <a:rPr sz="1100" spc="-4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status</a:t>
            </a:r>
            <a:r>
              <a:rPr sz="1100" spc="-3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flips</a:t>
            </a:r>
            <a:r>
              <a:rPr sz="1100" spc="-3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1E2A3A"/>
                </a:solidFill>
                <a:latin typeface="Arial MT"/>
                <a:cs typeface="Arial MT"/>
              </a:rPr>
              <a:t>to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CRITICAL</a:t>
            </a:r>
            <a:r>
              <a:rPr sz="1100" spc="-4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with</a:t>
            </a:r>
            <a:r>
              <a:rPr sz="1100" spc="-4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red</a:t>
            </a:r>
            <a:r>
              <a:rPr sz="1100" spc="-4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visual indicator.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448050" y="1517650"/>
            <a:ext cx="2489200" cy="3124200"/>
            <a:chOff x="3448050" y="1517650"/>
            <a:chExt cx="2489200" cy="3124200"/>
          </a:xfrm>
        </p:grpSpPr>
        <p:sp>
          <p:nvSpPr>
            <p:cNvPr id="13" name="object 13"/>
            <p:cNvSpPr/>
            <p:nvPr/>
          </p:nvSpPr>
          <p:spPr>
            <a:xfrm>
              <a:off x="3454908" y="1524000"/>
              <a:ext cx="2476500" cy="3112135"/>
            </a:xfrm>
            <a:custGeom>
              <a:avLst/>
              <a:gdLst/>
              <a:ahLst/>
              <a:cxnLst/>
              <a:rect l="l" t="t" r="r" b="b"/>
              <a:pathLst>
                <a:path w="2476500" h="3112135">
                  <a:moveTo>
                    <a:pt x="2476500" y="3112007"/>
                  </a:moveTo>
                  <a:lnTo>
                    <a:pt x="0" y="3112007"/>
                  </a:lnTo>
                  <a:lnTo>
                    <a:pt x="0" y="0"/>
                  </a:lnTo>
                  <a:lnTo>
                    <a:pt x="2476500" y="0"/>
                  </a:lnTo>
                  <a:lnTo>
                    <a:pt x="2476500" y="3112007"/>
                  </a:lnTo>
                  <a:close/>
                </a:path>
              </a:pathLst>
            </a:custGeom>
            <a:solidFill>
              <a:srgbClr val="F1F3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448050" y="1517650"/>
              <a:ext cx="2489200" cy="3124200"/>
            </a:xfrm>
            <a:custGeom>
              <a:avLst/>
              <a:gdLst/>
              <a:ahLst/>
              <a:cxnLst/>
              <a:rect l="l" t="t" r="r" b="b"/>
              <a:pathLst>
                <a:path w="2489200" h="3124200">
                  <a:moveTo>
                    <a:pt x="2489200" y="3124200"/>
                  </a:moveTo>
                  <a:lnTo>
                    <a:pt x="0" y="3124200"/>
                  </a:lnTo>
                  <a:lnTo>
                    <a:pt x="0" y="0"/>
                  </a:lnTo>
                  <a:lnTo>
                    <a:pt x="2489200" y="0"/>
                  </a:lnTo>
                  <a:lnTo>
                    <a:pt x="2489200" y="6350"/>
                  </a:lnTo>
                  <a:lnTo>
                    <a:pt x="12700" y="6350"/>
                  </a:lnTo>
                  <a:lnTo>
                    <a:pt x="6350" y="12700"/>
                  </a:lnTo>
                  <a:lnTo>
                    <a:pt x="12700" y="12700"/>
                  </a:lnTo>
                  <a:lnTo>
                    <a:pt x="12700" y="3111500"/>
                  </a:lnTo>
                  <a:lnTo>
                    <a:pt x="6350" y="3111500"/>
                  </a:lnTo>
                  <a:lnTo>
                    <a:pt x="12700" y="3117850"/>
                  </a:lnTo>
                  <a:lnTo>
                    <a:pt x="2489200" y="3117850"/>
                  </a:lnTo>
                  <a:lnTo>
                    <a:pt x="2489200" y="3124200"/>
                  </a:lnTo>
                  <a:close/>
                </a:path>
                <a:path w="2489200" h="3124200">
                  <a:moveTo>
                    <a:pt x="12700" y="12700"/>
                  </a:moveTo>
                  <a:lnTo>
                    <a:pt x="6350" y="12700"/>
                  </a:lnTo>
                  <a:lnTo>
                    <a:pt x="12700" y="6350"/>
                  </a:lnTo>
                  <a:lnTo>
                    <a:pt x="12700" y="12700"/>
                  </a:lnTo>
                  <a:close/>
                </a:path>
                <a:path w="2489200" h="3124200">
                  <a:moveTo>
                    <a:pt x="2476500" y="12700"/>
                  </a:moveTo>
                  <a:lnTo>
                    <a:pt x="12700" y="12700"/>
                  </a:lnTo>
                  <a:lnTo>
                    <a:pt x="12700" y="6350"/>
                  </a:lnTo>
                  <a:lnTo>
                    <a:pt x="2476500" y="6350"/>
                  </a:lnTo>
                  <a:lnTo>
                    <a:pt x="2476500" y="12700"/>
                  </a:lnTo>
                  <a:close/>
                </a:path>
                <a:path w="2489200" h="3124200">
                  <a:moveTo>
                    <a:pt x="2476500" y="3117850"/>
                  </a:moveTo>
                  <a:lnTo>
                    <a:pt x="2476500" y="6350"/>
                  </a:lnTo>
                  <a:lnTo>
                    <a:pt x="2482850" y="12700"/>
                  </a:lnTo>
                  <a:lnTo>
                    <a:pt x="2489200" y="12700"/>
                  </a:lnTo>
                  <a:lnTo>
                    <a:pt x="2489200" y="3111500"/>
                  </a:lnTo>
                  <a:lnTo>
                    <a:pt x="2482850" y="3111500"/>
                  </a:lnTo>
                  <a:lnTo>
                    <a:pt x="2476500" y="3117850"/>
                  </a:lnTo>
                  <a:close/>
                </a:path>
                <a:path w="2489200" h="3124200">
                  <a:moveTo>
                    <a:pt x="2489200" y="12700"/>
                  </a:moveTo>
                  <a:lnTo>
                    <a:pt x="2482850" y="12700"/>
                  </a:lnTo>
                  <a:lnTo>
                    <a:pt x="2476500" y="6350"/>
                  </a:lnTo>
                  <a:lnTo>
                    <a:pt x="2489200" y="6350"/>
                  </a:lnTo>
                  <a:lnTo>
                    <a:pt x="2489200" y="12700"/>
                  </a:lnTo>
                  <a:close/>
                </a:path>
                <a:path w="2489200" h="3124200">
                  <a:moveTo>
                    <a:pt x="12700" y="3117850"/>
                  </a:moveTo>
                  <a:lnTo>
                    <a:pt x="6350" y="3111500"/>
                  </a:lnTo>
                  <a:lnTo>
                    <a:pt x="12700" y="3111500"/>
                  </a:lnTo>
                  <a:lnTo>
                    <a:pt x="12700" y="3117850"/>
                  </a:lnTo>
                  <a:close/>
                </a:path>
                <a:path w="2489200" h="3124200">
                  <a:moveTo>
                    <a:pt x="2476500" y="3117850"/>
                  </a:moveTo>
                  <a:lnTo>
                    <a:pt x="12700" y="3117850"/>
                  </a:lnTo>
                  <a:lnTo>
                    <a:pt x="12700" y="3111500"/>
                  </a:lnTo>
                  <a:lnTo>
                    <a:pt x="2476500" y="3111500"/>
                  </a:lnTo>
                  <a:lnTo>
                    <a:pt x="2476500" y="3117850"/>
                  </a:lnTo>
                  <a:close/>
                </a:path>
                <a:path w="2489200" h="3124200">
                  <a:moveTo>
                    <a:pt x="2489200" y="3117850"/>
                  </a:moveTo>
                  <a:lnTo>
                    <a:pt x="2476500" y="3117850"/>
                  </a:lnTo>
                  <a:lnTo>
                    <a:pt x="2482850" y="3111500"/>
                  </a:lnTo>
                  <a:lnTo>
                    <a:pt x="2489200" y="3111500"/>
                  </a:lnTo>
                  <a:lnTo>
                    <a:pt x="2489200" y="31178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454908" y="1524000"/>
              <a:ext cx="2476500" cy="50800"/>
            </a:xfrm>
            <a:custGeom>
              <a:avLst/>
              <a:gdLst/>
              <a:ahLst/>
              <a:cxnLst/>
              <a:rect l="l" t="t" r="r" b="b"/>
              <a:pathLst>
                <a:path w="2476500" h="50800">
                  <a:moveTo>
                    <a:pt x="2476500" y="50291"/>
                  </a:moveTo>
                  <a:lnTo>
                    <a:pt x="0" y="50291"/>
                  </a:lnTo>
                  <a:lnTo>
                    <a:pt x="0" y="0"/>
                  </a:lnTo>
                  <a:lnTo>
                    <a:pt x="2476500" y="0"/>
                  </a:lnTo>
                  <a:lnTo>
                    <a:pt x="2476500" y="50291"/>
                  </a:lnTo>
                  <a:close/>
                </a:path>
              </a:pathLst>
            </a:custGeom>
            <a:solidFill>
              <a:srgbClr val="0B8A5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3644900" y="1654174"/>
            <a:ext cx="176212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Step</a:t>
            </a:r>
            <a:r>
              <a:rPr sz="1400" b="1" spc="-20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2:</a:t>
            </a:r>
            <a:r>
              <a:rPr sz="1400" b="1" spc="-15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ML</a:t>
            </a:r>
            <a:r>
              <a:rPr sz="1400" b="1" spc="-45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10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Inference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685540" y="2057399"/>
            <a:ext cx="1741805" cy="529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86360">
              <a:lnSpc>
                <a:spcPct val="100000"/>
              </a:lnSpc>
              <a:spcBef>
                <a:spcPts val="105"/>
              </a:spcBef>
              <a:buChar char="•"/>
              <a:tabLst>
                <a:tab pos="99060" algn="l"/>
              </a:tabLst>
            </a:pP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Pre-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trained</a:t>
            </a:r>
            <a:r>
              <a:rPr sz="110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AI4I</a:t>
            </a:r>
            <a:r>
              <a:rPr sz="110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&amp;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 Bearing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models</a:t>
            </a:r>
            <a:r>
              <a:rPr sz="1100" spc="-3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score</a:t>
            </a:r>
            <a:r>
              <a:rPr sz="1100" spc="-4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telemetry</a:t>
            </a:r>
            <a:r>
              <a:rPr sz="1100" spc="-3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1E2A3A"/>
                </a:solidFill>
                <a:latin typeface="Arial MT"/>
                <a:cs typeface="Arial MT"/>
              </a:rPr>
              <a:t>in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&lt;50ms.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685540" y="2727960"/>
            <a:ext cx="1880870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86360">
              <a:lnSpc>
                <a:spcPct val="100000"/>
              </a:lnSpc>
              <a:spcBef>
                <a:spcPts val="105"/>
              </a:spcBef>
              <a:buChar char="•"/>
              <a:tabLst>
                <a:tab pos="99060" algn="l"/>
              </a:tabLst>
            </a:pP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Failure</a:t>
            </a:r>
            <a:r>
              <a:rPr sz="1100" spc="-6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probability</a:t>
            </a:r>
            <a:r>
              <a:rPr sz="1100" spc="-5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calculated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at</a:t>
            </a:r>
            <a:r>
              <a:rPr sz="110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94.2%.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685540" y="3230880"/>
            <a:ext cx="1889125" cy="529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86360">
              <a:lnSpc>
                <a:spcPct val="100000"/>
              </a:lnSpc>
              <a:spcBef>
                <a:spcPts val="105"/>
              </a:spcBef>
              <a:buChar char="•"/>
              <a:tabLst>
                <a:tab pos="99060" algn="l"/>
              </a:tabLst>
            </a:pP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Remaining</a:t>
            </a:r>
            <a:r>
              <a:rPr sz="1100" spc="-5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Useful</a:t>
            </a:r>
            <a:r>
              <a:rPr sz="1100" spc="-4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Life</a:t>
            </a:r>
            <a:r>
              <a:rPr sz="1100" spc="-4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1E2A3A"/>
                </a:solidFill>
                <a:latin typeface="Arial MT"/>
                <a:cs typeface="Arial MT"/>
              </a:rPr>
              <a:t>(RUL)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estimated</a:t>
            </a:r>
            <a:r>
              <a:rPr sz="1100" spc="-2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at</a:t>
            </a:r>
            <a:r>
              <a:rPr sz="110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14</a:t>
            </a:r>
            <a:r>
              <a:rPr sz="1100" spc="-2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operational hours.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267450" y="1517650"/>
            <a:ext cx="2489200" cy="3124200"/>
            <a:chOff x="6267450" y="1517650"/>
            <a:chExt cx="2489200" cy="3124200"/>
          </a:xfrm>
        </p:grpSpPr>
        <p:sp>
          <p:nvSpPr>
            <p:cNvPr id="21" name="object 21"/>
            <p:cNvSpPr/>
            <p:nvPr/>
          </p:nvSpPr>
          <p:spPr>
            <a:xfrm>
              <a:off x="6274308" y="1524000"/>
              <a:ext cx="2476500" cy="3112135"/>
            </a:xfrm>
            <a:custGeom>
              <a:avLst/>
              <a:gdLst/>
              <a:ahLst/>
              <a:cxnLst/>
              <a:rect l="l" t="t" r="r" b="b"/>
              <a:pathLst>
                <a:path w="2476500" h="3112135">
                  <a:moveTo>
                    <a:pt x="2476499" y="3112007"/>
                  </a:moveTo>
                  <a:lnTo>
                    <a:pt x="0" y="3112007"/>
                  </a:lnTo>
                  <a:lnTo>
                    <a:pt x="0" y="0"/>
                  </a:lnTo>
                  <a:lnTo>
                    <a:pt x="2476499" y="0"/>
                  </a:lnTo>
                  <a:lnTo>
                    <a:pt x="2476499" y="3112007"/>
                  </a:lnTo>
                  <a:close/>
                </a:path>
              </a:pathLst>
            </a:custGeom>
            <a:solidFill>
              <a:srgbClr val="F1F3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6267450" y="1517650"/>
              <a:ext cx="2489200" cy="3124200"/>
            </a:xfrm>
            <a:custGeom>
              <a:avLst/>
              <a:gdLst/>
              <a:ahLst/>
              <a:cxnLst/>
              <a:rect l="l" t="t" r="r" b="b"/>
              <a:pathLst>
                <a:path w="2489200" h="3124200">
                  <a:moveTo>
                    <a:pt x="2489200" y="3124200"/>
                  </a:moveTo>
                  <a:lnTo>
                    <a:pt x="0" y="3124200"/>
                  </a:lnTo>
                  <a:lnTo>
                    <a:pt x="0" y="0"/>
                  </a:lnTo>
                  <a:lnTo>
                    <a:pt x="2489200" y="0"/>
                  </a:lnTo>
                  <a:lnTo>
                    <a:pt x="2489200" y="6350"/>
                  </a:lnTo>
                  <a:lnTo>
                    <a:pt x="12700" y="6350"/>
                  </a:lnTo>
                  <a:lnTo>
                    <a:pt x="6350" y="12700"/>
                  </a:lnTo>
                  <a:lnTo>
                    <a:pt x="12700" y="12700"/>
                  </a:lnTo>
                  <a:lnTo>
                    <a:pt x="12700" y="3111500"/>
                  </a:lnTo>
                  <a:lnTo>
                    <a:pt x="6350" y="3111500"/>
                  </a:lnTo>
                  <a:lnTo>
                    <a:pt x="12700" y="3117850"/>
                  </a:lnTo>
                  <a:lnTo>
                    <a:pt x="2489200" y="3117850"/>
                  </a:lnTo>
                  <a:lnTo>
                    <a:pt x="2489200" y="3124200"/>
                  </a:lnTo>
                  <a:close/>
                </a:path>
                <a:path w="2489200" h="3124200">
                  <a:moveTo>
                    <a:pt x="12700" y="12700"/>
                  </a:moveTo>
                  <a:lnTo>
                    <a:pt x="6350" y="12700"/>
                  </a:lnTo>
                  <a:lnTo>
                    <a:pt x="12700" y="6350"/>
                  </a:lnTo>
                  <a:lnTo>
                    <a:pt x="12700" y="12700"/>
                  </a:lnTo>
                  <a:close/>
                </a:path>
                <a:path w="2489200" h="3124200">
                  <a:moveTo>
                    <a:pt x="2476500" y="12700"/>
                  </a:moveTo>
                  <a:lnTo>
                    <a:pt x="12700" y="12700"/>
                  </a:lnTo>
                  <a:lnTo>
                    <a:pt x="12700" y="6350"/>
                  </a:lnTo>
                  <a:lnTo>
                    <a:pt x="2476500" y="6350"/>
                  </a:lnTo>
                  <a:lnTo>
                    <a:pt x="2476500" y="12700"/>
                  </a:lnTo>
                  <a:close/>
                </a:path>
                <a:path w="2489200" h="3124200">
                  <a:moveTo>
                    <a:pt x="2476500" y="3117850"/>
                  </a:moveTo>
                  <a:lnTo>
                    <a:pt x="2476500" y="6350"/>
                  </a:lnTo>
                  <a:lnTo>
                    <a:pt x="2482850" y="12700"/>
                  </a:lnTo>
                  <a:lnTo>
                    <a:pt x="2489200" y="12700"/>
                  </a:lnTo>
                  <a:lnTo>
                    <a:pt x="2489200" y="3111500"/>
                  </a:lnTo>
                  <a:lnTo>
                    <a:pt x="2482850" y="3111500"/>
                  </a:lnTo>
                  <a:lnTo>
                    <a:pt x="2476500" y="3117850"/>
                  </a:lnTo>
                  <a:close/>
                </a:path>
                <a:path w="2489200" h="3124200">
                  <a:moveTo>
                    <a:pt x="2489200" y="12700"/>
                  </a:moveTo>
                  <a:lnTo>
                    <a:pt x="2482850" y="12700"/>
                  </a:lnTo>
                  <a:lnTo>
                    <a:pt x="2476500" y="6350"/>
                  </a:lnTo>
                  <a:lnTo>
                    <a:pt x="2489200" y="6350"/>
                  </a:lnTo>
                  <a:lnTo>
                    <a:pt x="2489200" y="12700"/>
                  </a:lnTo>
                  <a:close/>
                </a:path>
                <a:path w="2489200" h="3124200">
                  <a:moveTo>
                    <a:pt x="12700" y="3117850"/>
                  </a:moveTo>
                  <a:lnTo>
                    <a:pt x="6350" y="3111500"/>
                  </a:lnTo>
                  <a:lnTo>
                    <a:pt x="12700" y="3111500"/>
                  </a:lnTo>
                  <a:lnTo>
                    <a:pt x="12700" y="3117850"/>
                  </a:lnTo>
                  <a:close/>
                </a:path>
                <a:path w="2489200" h="3124200">
                  <a:moveTo>
                    <a:pt x="2476500" y="3117850"/>
                  </a:moveTo>
                  <a:lnTo>
                    <a:pt x="12700" y="3117850"/>
                  </a:lnTo>
                  <a:lnTo>
                    <a:pt x="12700" y="3111500"/>
                  </a:lnTo>
                  <a:lnTo>
                    <a:pt x="2476500" y="3111500"/>
                  </a:lnTo>
                  <a:lnTo>
                    <a:pt x="2476500" y="3117850"/>
                  </a:lnTo>
                  <a:close/>
                </a:path>
                <a:path w="2489200" h="3124200">
                  <a:moveTo>
                    <a:pt x="2489200" y="3117850"/>
                  </a:moveTo>
                  <a:lnTo>
                    <a:pt x="2476500" y="3117850"/>
                  </a:lnTo>
                  <a:lnTo>
                    <a:pt x="2482850" y="3111500"/>
                  </a:lnTo>
                  <a:lnTo>
                    <a:pt x="2489200" y="3111500"/>
                  </a:lnTo>
                  <a:lnTo>
                    <a:pt x="2489200" y="31178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6274308" y="1524000"/>
              <a:ext cx="2476500" cy="50800"/>
            </a:xfrm>
            <a:custGeom>
              <a:avLst/>
              <a:gdLst/>
              <a:ahLst/>
              <a:cxnLst/>
              <a:rect l="l" t="t" r="r" b="b"/>
              <a:pathLst>
                <a:path w="2476500" h="50800">
                  <a:moveTo>
                    <a:pt x="2476499" y="50291"/>
                  </a:moveTo>
                  <a:lnTo>
                    <a:pt x="0" y="50291"/>
                  </a:lnTo>
                  <a:lnTo>
                    <a:pt x="0" y="0"/>
                  </a:lnTo>
                  <a:lnTo>
                    <a:pt x="2476499" y="0"/>
                  </a:lnTo>
                  <a:lnTo>
                    <a:pt x="2476499" y="50291"/>
                  </a:lnTo>
                  <a:close/>
                </a:path>
              </a:pathLst>
            </a:custGeom>
            <a:solidFill>
              <a:srgbClr val="92650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6464300" y="1654174"/>
            <a:ext cx="184467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92650B"/>
                </a:solidFill>
                <a:latin typeface="Arial" panose="020B0604020202020204"/>
                <a:cs typeface="Arial" panose="020B0604020202020204"/>
              </a:rPr>
              <a:t>Step</a:t>
            </a:r>
            <a:r>
              <a:rPr sz="1400" b="1" spc="-25" dirty="0">
                <a:solidFill>
                  <a:srgbClr val="92650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92650B"/>
                </a:solidFill>
                <a:latin typeface="Arial" panose="020B0604020202020204"/>
                <a:cs typeface="Arial" panose="020B0604020202020204"/>
              </a:rPr>
              <a:t>3:</a:t>
            </a:r>
            <a:r>
              <a:rPr sz="1400" b="1" spc="-20" dirty="0">
                <a:solidFill>
                  <a:srgbClr val="92650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92650B"/>
                </a:solidFill>
                <a:latin typeface="Arial" panose="020B0604020202020204"/>
                <a:cs typeface="Arial" panose="020B0604020202020204"/>
              </a:rPr>
              <a:t>Copilot</a:t>
            </a:r>
            <a:r>
              <a:rPr sz="1400" b="1" spc="-20" dirty="0">
                <a:solidFill>
                  <a:srgbClr val="92650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10" dirty="0">
                <a:solidFill>
                  <a:srgbClr val="92650B"/>
                </a:solidFill>
                <a:latin typeface="Arial" panose="020B0604020202020204"/>
                <a:cs typeface="Arial" panose="020B0604020202020204"/>
              </a:rPr>
              <a:t>Query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504940" y="2057399"/>
            <a:ext cx="1694814" cy="529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86360">
              <a:lnSpc>
                <a:spcPct val="100000"/>
              </a:lnSpc>
              <a:spcBef>
                <a:spcPts val="105"/>
              </a:spcBef>
              <a:buChar char="•"/>
              <a:tabLst>
                <a:tab pos="99060" algn="l"/>
              </a:tabLst>
            </a:pP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Technician</a:t>
            </a:r>
            <a:r>
              <a:rPr sz="1100" spc="-4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types</a:t>
            </a:r>
            <a:r>
              <a:rPr sz="1100" spc="-3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query</a:t>
            </a:r>
            <a:r>
              <a:rPr sz="1100" spc="-3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1E2A3A"/>
                </a:solidFill>
                <a:latin typeface="Arial MT"/>
                <a:cs typeface="Arial MT"/>
              </a:rPr>
              <a:t>in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Hinglish: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'V-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102</a:t>
            </a:r>
            <a:r>
              <a:rPr sz="1100" spc="-3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kyu</a:t>
            </a:r>
            <a:r>
              <a:rPr sz="1100" spc="-2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critical</a:t>
            </a:r>
            <a:r>
              <a:rPr sz="1100" spc="-2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1E2A3A"/>
                </a:solidFill>
                <a:latin typeface="Arial MT"/>
                <a:cs typeface="Arial MT"/>
              </a:rPr>
              <a:t>he?'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504940" y="2727960"/>
            <a:ext cx="1901825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86360">
              <a:lnSpc>
                <a:spcPct val="100000"/>
              </a:lnSpc>
              <a:spcBef>
                <a:spcPts val="105"/>
              </a:spcBef>
              <a:buChar char="•"/>
              <a:tabLst>
                <a:tab pos="99060" algn="l"/>
              </a:tabLst>
            </a:pP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Copilot</a:t>
            </a:r>
            <a:r>
              <a:rPr sz="1100" spc="-3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queries</a:t>
            </a:r>
            <a:r>
              <a:rPr sz="1100" spc="-3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ML</a:t>
            </a:r>
            <a:r>
              <a:rPr sz="1100" spc="-4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models</a:t>
            </a:r>
            <a:r>
              <a:rPr sz="1100" spc="-3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50" dirty="0">
                <a:solidFill>
                  <a:srgbClr val="1E2A3A"/>
                </a:solidFill>
                <a:latin typeface="Arial MT"/>
                <a:cs typeface="Arial MT"/>
              </a:rPr>
              <a:t>&amp;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telemetry</a:t>
            </a:r>
            <a:r>
              <a:rPr sz="1100" spc="-2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store</a:t>
            </a:r>
            <a:r>
              <a:rPr sz="1100" spc="-3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via</a:t>
            </a:r>
            <a:r>
              <a:rPr sz="1100" spc="-3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tool</a:t>
            </a:r>
            <a:r>
              <a:rPr sz="110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calling.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504940" y="3230880"/>
            <a:ext cx="1889125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86360">
              <a:lnSpc>
                <a:spcPct val="100000"/>
              </a:lnSpc>
              <a:spcBef>
                <a:spcPts val="105"/>
              </a:spcBef>
              <a:buChar char="•"/>
              <a:tabLst>
                <a:tab pos="99060" algn="l"/>
              </a:tabLst>
            </a:pP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Responds</a:t>
            </a:r>
            <a:r>
              <a:rPr sz="1100" spc="-3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in</a:t>
            </a:r>
            <a:r>
              <a:rPr sz="1100" spc="-3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natural</a:t>
            </a:r>
            <a:r>
              <a:rPr sz="1100" spc="-3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Hinglish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with</a:t>
            </a:r>
            <a:r>
              <a:rPr sz="1100" spc="-3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exact</a:t>
            </a:r>
            <a:r>
              <a:rPr sz="1100" spc="-2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sensor</a:t>
            </a:r>
            <a:r>
              <a:rPr sz="1100" spc="-2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figures.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9074150" y="1517650"/>
            <a:ext cx="2489200" cy="3124200"/>
            <a:chOff x="9074150" y="1517650"/>
            <a:chExt cx="2489200" cy="3124200"/>
          </a:xfrm>
        </p:grpSpPr>
        <p:sp>
          <p:nvSpPr>
            <p:cNvPr id="29" name="object 29"/>
            <p:cNvSpPr/>
            <p:nvPr/>
          </p:nvSpPr>
          <p:spPr>
            <a:xfrm>
              <a:off x="9079992" y="1524000"/>
              <a:ext cx="2476500" cy="3112135"/>
            </a:xfrm>
            <a:custGeom>
              <a:avLst/>
              <a:gdLst/>
              <a:ahLst/>
              <a:cxnLst/>
              <a:rect l="l" t="t" r="r" b="b"/>
              <a:pathLst>
                <a:path w="2476500" h="3112135">
                  <a:moveTo>
                    <a:pt x="2476500" y="3112007"/>
                  </a:moveTo>
                  <a:lnTo>
                    <a:pt x="0" y="3112007"/>
                  </a:lnTo>
                  <a:lnTo>
                    <a:pt x="0" y="0"/>
                  </a:lnTo>
                  <a:lnTo>
                    <a:pt x="2476500" y="0"/>
                  </a:lnTo>
                  <a:lnTo>
                    <a:pt x="2476500" y="3112007"/>
                  </a:lnTo>
                  <a:close/>
                </a:path>
              </a:pathLst>
            </a:custGeom>
            <a:solidFill>
              <a:srgbClr val="F1F3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9074150" y="1517650"/>
              <a:ext cx="2489200" cy="3124200"/>
            </a:xfrm>
            <a:custGeom>
              <a:avLst/>
              <a:gdLst/>
              <a:ahLst/>
              <a:cxnLst/>
              <a:rect l="l" t="t" r="r" b="b"/>
              <a:pathLst>
                <a:path w="2489200" h="3124200">
                  <a:moveTo>
                    <a:pt x="2489200" y="3124200"/>
                  </a:moveTo>
                  <a:lnTo>
                    <a:pt x="0" y="3124200"/>
                  </a:lnTo>
                  <a:lnTo>
                    <a:pt x="0" y="0"/>
                  </a:lnTo>
                  <a:lnTo>
                    <a:pt x="2489200" y="0"/>
                  </a:lnTo>
                  <a:lnTo>
                    <a:pt x="2489200" y="6350"/>
                  </a:lnTo>
                  <a:lnTo>
                    <a:pt x="12700" y="6350"/>
                  </a:lnTo>
                  <a:lnTo>
                    <a:pt x="6350" y="12700"/>
                  </a:lnTo>
                  <a:lnTo>
                    <a:pt x="12700" y="12700"/>
                  </a:lnTo>
                  <a:lnTo>
                    <a:pt x="12700" y="3111500"/>
                  </a:lnTo>
                  <a:lnTo>
                    <a:pt x="6350" y="3111500"/>
                  </a:lnTo>
                  <a:lnTo>
                    <a:pt x="12700" y="3117850"/>
                  </a:lnTo>
                  <a:lnTo>
                    <a:pt x="2489200" y="3117850"/>
                  </a:lnTo>
                  <a:lnTo>
                    <a:pt x="2489200" y="3124200"/>
                  </a:lnTo>
                  <a:close/>
                </a:path>
                <a:path w="2489200" h="3124200">
                  <a:moveTo>
                    <a:pt x="12700" y="12700"/>
                  </a:moveTo>
                  <a:lnTo>
                    <a:pt x="6350" y="12700"/>
                  </a:lnTo>
                  <a:lnTo>
                    <a:pt x="12700" y="6350"/>
                  </a:lnTo>
                  <a:lnTo>
                    <a:pt x="12700" y="12700"/>
                  </a:lnTo>
                  <a:close/>
                </a:path>
                <a:path w="2489200" h="3124200">
                  <a:moveTo>
                    <a:pt x="2476500" y="12700"/>
                  </a:moveTo>
                  <a:lnTo>
                    <a:pt x="12700" y="12700"/>
                  </a:lnTo>
                  <a:lnTo>
                    <a:pt x="12700" y="6350"/>
                  </a:lnTo>
                  <a:lnTo>
                    <a:pt x="2476500" y="6350"/>
                  </a:lnTo>
                  <a:lnTo>
                    <a:pt x="2476500" y="12700"/>
                  </a:lnTo>
                  <a:close/>
                </a:path>
                <a:path w="2489200" h="3124200">
                  <a:moveTo>
                    <a:pt x="2476500" y="3117850"/>
                  </a:moveTo>
                  <a:lnTo>
                    <a:pt x="2476500" y="6350"/>
                  </a:lnTo>
                  <a:lnTo>
                    <a:pt x="2482850" y="12700"/>
                  </a:lnTo>
                  <a:lnTo>
                    <a:pt x="2489200" y="12700"/>
                  </a:lnTo>
                  <a:lnTo>
                    <a:pt x="2489200" y="3111500"/>
                  </a:lnTo>
                  <a:lnTo>
                    <a:pt x="2482850" y="3111500"/>
                  </a:lnTo>
                  <a:lnTo>
                    <a:pt x="2476500" y="3117850"/>
                  </a:lnTo>
                  <a:close/>
                </a:path>
                <a:path w="2489200" h="3124200">
                  <a:moveTo>
                    <a:pt x="2489200" y="12700"/>
                  </a:moveTo>
                  <a:lnTo>
                    <a:pt x="2482850" y="12700"/>
                  </a:lnTo>
                  <a:lnTo>
                    <a:pt x="2476500" y="6350"/>
                  </a:lnTo>
                  <a:lnTo>
                    <a:pt x="2489200" y="6350"/>
                  </a:lnTo>
                  <a:lnTo>
                    <a:pt x="2489200" y="12700"/>
                  </a:lnTo>
                  <a:close/>
                </a:path>
                <a:path w="2489200" h="3124200">
                  <a:moveTo>
                    <a:pt x="12700" y="3117850"/>
                  </a:moveTo>
                  <a:lnTo>
                    <a:pt x="6350" y="3111500"/>
                  </a:lnTo>
                  <a:lnTo>
                    <a:pt x="12700" y="3111500"/>
                  </a:lnTo>
                  <a:lnTo>
                    <a:pt x="12700" y="3117850"/>
                  </a:lnTo>
                  <a:close/>
                </a:path>
                <a:path w="2489200" h="3124200">
                  <a:moveTo>
                    <a:pt x="2476500" y="3117850"/>
                  </a:moveTo>
                  <a:lnTo>
                    <a:pt x="12700" y="3117850"/>
                  </a:lnTo>
                  <a:lnTo>
                    <a:pt x="12700" y="3111500"/>
                  </a:lnTo>
                  <a:lnTo>
                    <a:pt x="2476500" y="3111500"/>
                  </a:lnTo>
                  <a:lnTo>
                    <a:pt x="2476500" y="3117850"/>
                  </a:lnTo>
                  <a:close/>
                </a:path>
                <a:path w="2489200" h="3124200">
                  <a:moveTo>
                    <a:pt x="2489200" y="3117850"/>
                  </a:moveTo>
                  <a:lnTo>
                    <a:pt x="2476500" y="3117850"/>
                  </a:lnTo>
                  <a:lnTo>
                    <a:pt x="2482850" y="3111500"/>
                  </a:lnTo>
                  <a:lnTo>
                    <a:pt x="2489200" y="3111500"/>
                  </a:lnTo>
                  <a:lnTo>
                    <a:pt x="2489200" y="31178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9079992" y="1524000"/>
              <a:ext cx="2476500" cy="50800"/>
            </a:xfrm>
            <a:custGeom>
              <a:avLst/>
              <a:gdLst/>
              <a:ahLst/>
              <a:cxnLst/>
              <a:rect l="l" t="t" r="r" b="b"/>
              <a:pathLst>
                <a:path w="2476500" h="50800">
                  <a:moveTo>
                    <a:pt x="2476500" y="50291"/>
                  </a:moveTo>
                  <a:lnTo>
                    <a:pt x="0" y="50291"/>
                  </a:lnTo>
                  <a:lnTo>
                    <a:pt x="0" y="0"/>
                  </a:lnTo>
                  <a:lnTo>
                    <a:pt x="2476500" y="0"/>
                  </a:lnTo>
                  <a:lnTo>
                    <a:pt x="2476500" y="50291"/>
                  </a:lnTo>
                  <a:close/>
                </a:path>
              </a:pathLst>
            </a:custGeom>
            <a:solidFill>
              <a:srgbClr val="0E749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9271000" y="1654174"/>
            <a:ext cx="195389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Step</a:t>
            </a:r>
            <a:r>
              <a:rPr sz="1400" b="1" spc="-25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4:</a:t>
            </a:r>
            <a:r>
              <a:rPr sz="1400" b="1" spc="-20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Dispatch</a:t>
            </a:r>
            <a:r>
              <a:rPr sz="1400" b="1" spc="-25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10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Order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9311640" y="2057399"/>
            <a:ext cx="2008505" cy="529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86360">
              <a:lnSpc>
                <a:spcPct val="100000"/>
              </a:lnSpc>
              <a:spcBef>
                <a:spcPts val="105"/>
              </a:spcBef>
              <a:buChar char="•"/>
              <a:tabLst>
                <a:tab pos="99060" algn="l"/>
              </a:tabLst>
            </a:pP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Copilot</a:t>
            </a:r>
            <a:r>
              <a:rPr sz="1100" spc="-5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recommends:</a:t>
            </a:r>
            <a:r>
              <a:rPr sz="1100" spc="-5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'Replace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inner</a:t>
            </a:r>
            <a:r>
              <a:rPr sz="1100" spc="-2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bearing</a:t>
            </a:r>
            <a:r>
              <a:rPr sz="1100" spc="-3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race</a:t>
            </a:r>
            <a:r>
              <a:rPr sz="1100" spc="-2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&amp;</a:t>
            </a:r>
            <a:r>
              <a:rPr sz="1100" spc="-2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1E2A3A"/>
                </a:solidFill>
                <a:latin typeface="Arial MT"/>
                <a:cs typeface="Arial MT"/>
              </a:rPr>
              <a:t>flush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hydraulic</a:t>
            </a:r>
            <a:r>
              <a:rPr sz="1100" spc="-5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fluid.'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9311640" y="2727960"/>
            <a:ext cx="1934845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86360">
              <a:lnSpc>
                <a:spcPct val="100000"/>
              </a:lnSpc>
              <a:spcBef>
                <a:spcPts val="105"/>
              </a:spcBef>
              <a:buChar char="•"/>
              <a:tabLst>
                <a:tab pos="99060" algn="l"/>
              </a:tabLst>
            </a:pP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Generates</a:t>
            </a:r>
            <a:r>
              <a:rPr sz="1100" spc="-2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Depot</a:t>
            </a:r>
            <a:r>
              <a:rPr sz="1100" spc="-2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Work</a:t>
            </a:r>
            <a:r>
              <a:rPr sz="1100" spc="-2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1E2A3A"/>
                </a:solidFill>
                <a:latin typeface="Arial MT"/>
                <a:cs typeface="Arial MT"/>
              </a:rPr>
              <a:t>Order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#WO-2026-</a:t>
            </a:r>
            <a:r>
              <a:rPr sz="1100" spc="-25" dirty="0">
                <a:solidFill>
                  <a:srgbClr val="1E2A3A"/>
                </a:solidFill>
                <a:latin typeface="Arial MT"/>
                <a:cs typeface="Arial MT"/>
              </a:rPr>
              <a:t>08.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9311640" y="3230880"/>
            <a:ext cx="1649095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86360">
              <a:lnSpc>
                <a:spcPct val="100000"/>
              </a:lnSpc>
              <a:spcBef>
                <a:spcPts val="105"/>
              </a:spcBef>
              <a:buChar char="•"/>
              <a:tabLst>
                <a:tab pos="99060" algn="l"/>
              </a:tabLst>
            </a:pP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1-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Click</a:t>
            </a:r>
            <a:r>
              <a:rPr sz="1100" spc="-3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download</a:t>
            </a:r>
            <a:r>
              <a:rPr sz="1100" spc="-3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of</a:t>
            </a:r>
            <a:r>
              <a:rPr sz="1100" spc="-3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1E2A3A"/>
                </a:solidFill>
                <a:latin typeface="Arial MT"/>
                <a:cs typeface="Arial MT"/>
              </a:rPr>
              <a:t>PDF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mission</a:t>
            </a:r>
            <a:r>
              <a:rPr sz="1100" spc="-5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readiness</a:t>
            </a:r>
            <a:r>
              <a:rPr sz="1100" spc="-5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report.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628650" y="4883150"/>
            <a:ext cx="10934700" cy="1409700"/>
            <a:chOff x="628650" y="4883150"/>
            <a:chExt cx="10934700" cy="1409700"/>
          </a:xfrm>
        </p:grpSpPr>
        <p:sp>
          <p:nvSpPr>
            <p:cNvPr id="37" name="object 37"/>
            <p:cNvSpPr/>
            <p:nvPr/>
          </p:nvSpPr>
          <p:spPr>
            <a:xfrm>
              <a:off x="635508" y="4888992"/>
              <a:ext cx="10921365" cy="1397635"/>
            </a:xfrm>
            <a:custGeom>
              <a:avLst/>
              <a:gdLst/>
              <a:ahLst/>
              <a:cxnLst/>
              <a:rect l="l" t="t" r="r" b="b"/>
              <a:pathLst>
                <a:path w="10921365" h="1397635">
                  <a:moveTo>
                    <a:pt x="10920984" y="1397508"/>
                  </a:moveTo>
                  <a:lnTo>
                    <a:pt x="0" y="1397508"/>
                  </a:lnTo>
                  <a:lnTo>
                    <a:pt x="0" y="0"/>
                  </a:lnTo>
                  <a:lnTo>
                    <a:pt x="10920984" y="0"/>
                  </a:lnTo>
                  <a:lnTo>
                    <a:pt x="10920984" y="1397508"/>
                  </a:lnTo>
                  <a:close/>
                </a:path>
              </a:pathLst>
            </a:custGeom>
            <a:solidFill>
              <a:srgbClr val="F1F3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628650" y="4883150"/>
              <a:ext cx="10934700" cy="1409700"/>
            </a:xfrm>
            <a:custGeom>
              <a:avLst/>
              <a:gdLst/>
              <a:ahLst/>
              <a:cxnLst/>
              <a:rect l="l" t="t" r="r" b="b"/>
              <a:pathLst>
                <a:path w="10934700" h="1409700">
                  <a:moveTo>
                    <a:pt x="10934700" y="1409700"/>
                  </a:moveTo>
                  <a:lnTo>
                    <a:pt x="0" y="1409700"/>
                  </a:lnTo>
                  <a:lnTo>
                    <a:pt x="0" y="0"/>
                  </a:lnTo>
                  <a:lnTo>
                    <a:pt x="10934700" y="0"/>
                  </a:lnTo>
                  <a:lnTo>
                    <a:pt x="10934700" y="6350"/>
                  </a:lnTo>
                  <a:lnTo>
                    <a:pt x="12700" y="6350"/>
                  </a:lnTo>
                  <a:lnTo>
                    <a:pt x="6350" y="12700"/>
                  </a:lnTo>
                  <a:lnTo>
                    <a:pt x="12700" y="12700"/>
                  </a:lnTo>
                  <a:lnTo>
                    <a:pt x="12700" y="1397000"/>
                  </a:lnTo>
                  <a:lnTo>
                    <a:pt x="6350" y="1397000"/>
                  </a:lnTo>
                  <a:lnTo>
                    <a:pt x="12700" y="1403350"/>
                  </a:lnTo>
                  <a:lnTo>
                    <a:pt x="10934700" y="1403350"/>
                  </a:lnTo>
                  <a:lnTo>
                    <a:pt x="10934700" y="1409700"/>
                  </a:lnTo>
                  <a:close/>
                </a:path>
                <a:path w="10934700" h="1409700">
                  <a:moveTo>
                    <a:pt x="12700" y="12700"/>
                  </a:moveTo>
                  <a:lnTo>
                    <a:pt x="6350" y="12700"/>
                  </a:lnTo>
                  <a:lnTo>
                    <a:pt x="12700" y="6350"/>
                  </a:lnTo>
                  <a:lnTo>
                    <a:pt x="12700" y="12700"/>
                  </a:lnTo>
                  <a:close/>
                </a:path>
                <a:path w="10934700" h="1409700">
                  <a:moveTo>
                    <a:pt x="10922000" y="12700"/>
                  </a:moveTo>
                  <a:lnTo>
                    <a:pt x="12700" y="12700"/>
                  </a:lnTo>
                  <a:lnTo>
                    <a:pt x="12700" y="6350"/>
                  </a:lnTo>
                  <a:lnTo>
                    <a:pt x="10922000" y="6350"/>
                  </a:lnTo>
                  <a:lnTo>
                    <a:pt x="10922000" y="12700"/>
                  </a:lnTo>
                  <a:close/>
                </a:path>
                <a:path w="10934700" h="1409700">
                  <a:moveTo>
                    <a:pt x="10922000" y="1403350"/>
                  </a:moveTo>
                  <a:lnTo>
                    <a:pt x="10922000" y="6350"/>
                  </a:lnTo>
                  <a:lnTo>
                    <a:pt x="10928350" y="12700"/>
                  </a:lnTo>
                  <a:lnTo>
                    <a:pt x="10934700" y="12700"/>
                  </a:lnTo>
                  <a:lnTo>
                    <a:pt x="10934700" y="1397000"/>
                  </a:lnTo>
                  <a:lnTo>
                    <a:pt x="10928350" y="1397000"/>
                  </a:lnTo>
                  <a:lnTo>
                    <a:pt x="10922000" y="1403350"/>
                  </a:lnTo>
                  <a:close/>
                </a:path>
                <a:path w="10934700" h="1409700">
                  <a:moveTo>
                    <a:pt x="10934700" y="12700"/>
                  </a:moveTo>
                  <a:lnTo>
                    <a:pt x="10928350" y="12700"/>
                  </a:lnTo>
                  <a:lnTo>
                    <a:pt x="10922000" y="6350"/>
                  </a:lnTo>
                  <a:lnTo>
                    <a:pt x="10934700" y="6350"/>
                  </a:lnTo>
                  <a:lnTo>
                    <a:pt x="10934700" y="12700"/>
                  </a:lnTo>
                  <a:close/>
                </a:path>
                <a:path w="10934700" h="1409700">
                  <a:moveTo>
                    <a:pt x="12700" y="1403350"/>
                  </a:moveTo>
                  <a:lnTo>
                    <a:pt x="6350" y="1397000"/>
                  </a:lnTo>
                  <a:lnTo>
                    <a:pt x="12700" y="1397000"/>
                  </a:lnTo>
                  <a:lnTo>
                    <a:pt x="12700" y="1403350"/>
                  </a:lnTo>
                  <a:close/>
                </a:path>
                <a:path w="10934700" h="1409700">
                  <a:moveTo>
                    <a:pt x="10922000" y="1403350"/>
                  </a:moveTo>
                  <a:lnTo>
                    <a:pt x="12700" y="1403350"/>
                  </a:lnTo>
                  <a:lnTo>
                    <a:pt x="12700" y="1397000"/>
                  </a:lnTo>
                  <a:lnTo>
                    <a:pt x="10922000" y="1397000"/>
                  </a:lnTo>
                  <a:lnTo>
                    <a:pt x="10922000" y="1403350"/>
                  </a:lnTo>
                  <a:close/>
                </a:path>
                <a:path w="10934700" h="1409700">
                  <a:moveTo>
                    <a:pt x="10934700" y="1403350"/>
                  </a:moveTo>
                  <a:lnTo>
                    <a:pt x="10922000" y="1403350"/>
                  </a:lnTo>
                  <a:lnTo>
                    <a:pt x="10928350" y="1397000"/>
                  </a:lnTo>
                  <a:lnTo>
                    <a:pt x="10934700" y="1397000"/>
                  </a:lnTo>
                  <a:lnTo>
                    <a:pt x="10934700" y="14033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635508" y="4888992"/>
              <a:ext cx="10921365" cy="52069"/>
            </a:xfrm>
            <a:custGeom>
              <a:avLst/>
              <a:gdLst/>
              <a:ahLst/>
              <a:cxnLst/>
              <a:rect l="l" t="t" r="r" b="b"/>
              <a:pathLst>
                <a:path w="10921365" h="52070">
                  <a:moveTo>
                    <a:pt x="10920984" y="51815"/>
                  </a:moveTo>
                  <a:lnTo>
                    <a:pt x="0" y="51815"/>
                  </a:lnTo>
                  <a:lnTo>
                    <a:pt x="0" y="0"/>
                  </a:lnTo>
                  <a:lnTo>
                    <a:pt x="10920984" y="0"/>
                  </a:lnTo>
                  <a:lnTo>
                    <a:pt x="10920984" y="51815"/>
                  </a:lnTo>
                  <a:close/>
                </a:path>
              </a:pathLst>
            </a:custGeom>
            <a:solidFill>
              <a:srgbClr val="0B8A5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/>
          <p:cNvSpPr txBox="1"/>
          <p:nvPr/>
        </p:nvSpPr>
        <p:spPr>
          <a:xfrm>
            <a:off x="825500" y="5019675"/>
            <a:ext cx="9791065" cy="8915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Demo</a:t>
            </a:r>
            <a:r>
              <a:rPr sz="1400" b="1" spc="-35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Highlight:</a:t>
            </a:r>
            <a:r>
              <a:rPr sz="1400" b="1" spc="-35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Live</a:t>
            </a:r>
            <a:r>
              <a:rPr sz="1400" b="1" spc="-35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Bilingual</a:t>
            </a:r>
            <a:r>
              <a:rPr sz="1400" b="1" spc="-30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10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Reasoning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91440">
              <a:lnSpc>
                <a:spcPct val="100000"/>
              </a:lnSpc>
              <a:spcBef>
                <a:spcPts val="995"/>
              </a:spcBef>
            </a:pP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User: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'V-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102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kyu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critical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he?'</a:t>
            </a:r>
            <a:endParaRPr sz="1150">
              <a:latin typeface="Arial MT"/>
              <a:cs typeface="Arial MT"/>
            </a:endParaRPr>
          </a:p>
          <a:p>
            <a:pPr marL="91440" marR="5080">
              <a:lnSpc>
                <a:spcPct val="100000"/>
              </a:lnSpc>
            </a:pP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Copilot: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'V-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102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critical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hai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kyunki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vibration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8.4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mm/s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tak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chali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gayi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hai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aur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AI4I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model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94.2%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failure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risk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show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kar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raha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hai.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RUL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sirf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14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hours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bachi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hai.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Recommendation: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Drive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bearing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replace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karein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aur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oil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pressure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check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karein.'</a:t>
            </a:r>
            <a:endParaRPr sz="11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94205" y="287019"/>
            <a:ext cx="2176145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IBM</a:t>
            </a:r>
            <a:r>
              <a:rPr sz="1000" b="1" spc="-20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00" b="1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TECHNOLOGIES</a:t>
            </a:r>
            <a:r>
              <a:rPr sz="1000" b="1" spc="-25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00" b="1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&amp;</a:t>
            </a:r>
            <a:r>
              <a:rPr sz="1000" b="1" spc="-25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00" b="1" spc="-10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PLATFORM</a:t>
            </a:r>
            <a:endParaRPr sz="1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761615" y="575309"/>
            <a:ext cx="8486775" cy="3600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Specifically</a:t>
            </a:r>
            <a:r>
              <a:rPr spc="-65" dirty="0"/>
              <a:t> </a:t>
            </a:r>
            <a:r>
              <a:rPr dirty="0"/>
              <a:t>How</a:t>
            </a:r>
            <a:r>
              <a:rPr spc="-65" dirty="0"/>
              <a:t> </a:t>
            </a:r>
            <a:r>
              <a:rPr dirty="0"/>
              <a:t>IBM</a:t>
            </a:r>
            <a:r>
              <a:rPr spc="-65" dirty="0"/>
              <a:t> </a:t>
            </a:r>
            <a:r>
              <a:rPr dirty="0"/>
              <a:t>Innovations</a:t>
            </a:r>
            <a:r>
              <a:rPr spc="-65" dirty="0"/>
              <a:t> </a:t>
            </a:r>
            <a:r>
              <a:rPr spc="-10" dirty="0"/>
              <a:t>Powered</a:t>
            </a:r>
            <a:r>
              <a:rPr spc="-140" dirty="0"/>
              <a:t> </a:t>
            </a:r>
            <a:r>
              <a:rPr spc="-10" dirty="0"/>
              <a:t>AEGIS</a:t>
            </a:r>
            <a:endParaRPr spc="-10" dirty="0"/>
          </a:p>
        </p:txBody>
      </p:sp>
      <p:sp>
        <p:nvSpPr>
          <p:cNvPr id="4" name="object 4"/>
          <p:cNvSpPr txBox="1"/>
          <p:nvPr/>
        </p:nvSpPr>
        <p:spPr>
          <a:xfrm>
            <a:off x="4038600" y="990599"/>
            <a:ext cx="50139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Leveraging</a:t>
            </a:r>
            <a:r>
              <a:rPr sz="1200" spc="-30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IBM</a:t>
            </a:r>
            <a:r>
              <a:rPr sz="1200" spc="-15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Bob</a:t>
            </a:r>
            <a:r>
              <a:rPr sz="1200" spc="-20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5B6472"/>
                </a:solidFill>
                <a:latin typeface="Arial MT"/>
                <a:cs typeface="Arial MT"/>
              </a:rPr>
              <a:t>IDE,</a:t>
            </a:r>
            <a:r>
              <a:rPr sz="1200" spc="-70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Agentic</a:t>
            </a:r>
            <a:r>
              <a:rPr sz="1200" spc="-15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Workflows,</a:t>
            </a:r>
            <a:r>
              <a:rPr sz="1200" spc="-15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and</a:t>
            </a:r>
            <a:r>
              <a:rPr sz="1200" spc="-15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5B6472"/>
                </a:solidFill>
                <a:latin typeface="Arial MT"/>
                <a:cs typeface="Arial MT"/>
              </a:rPr>
              <a:t>watsonx.ai</a:t>
            </a:r>
            <a:r>
              <a:rPr sz="1200" spc="-75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5B6472"/>
                </a:solidFill>
                <a:latin typeface="Arial MT"/>
                <a:cs typeface="Arial MT"/>
              </a:rPr>
              <a:t>Architecture.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28650" y="1454150"/>
            <a:ext cx="3441700" cy="4838700"/>
            <a:chOff x="628650" y="1454150"/>
            <a:chExt cx="3441700" cy="4838700"/>
          </a:xfrm>
        </p:grpSpPr>
        <p:sp>
          <p:nvSpPr>
            <p:cNvPr id="6" name="object 6"/>
            <p:cNvSpPr/>
            <p:nvPr/>
          </p:nvSpPr>
          <p:spPr>
            <a:xfrm>
              <a:off x="635508" y="1459992"/>
              <a:ext cx="3429000" cy="4826635"/>
            </a:xfrm>
            <a:custGeom>
              <a:avLst/>
              <a:gdLst/>
              <a:ahLst/>
              <a:cxnLst/>
              <a:rect l="l" t="t" r="r" b="b"/>
              <a:pathLst>
                <a:path w="3429000" h="4826635">
                  <a:moveTo>
                    <a:pt x="3429000" y="4826508"/>
                  </a:moveTo>
                  <a:lnTo>
                    <a:pt x="0" y="4826508"/>
                  </a:lnTo>
                  <a:lnTo>
                    <a:pt x="0" y="0"/>
                  </a:lnTo>
                  <a:lnTo>
                    <a:pt x="3429000" y="0"/>
                  </a:lnTo>
                  <a:lnTo>
                    <a:pt x="3429000" y="4826508"/>
                  </a:lnTo>
                  <a:close/>
                </a:path>
              </a:pathLst>
            </a:custGeom>
            <a:solidFill>
              <a:srgbClr val="F1F3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28650" y="1454150"/>
              <a:ext cx="3441700" cy="4838700"/>
            </a:xfrm>
            <a:custGeom>
              <a:avLst/>
              <a:gdLst/>
              <a:ahLst/>
              <a:cxnLst/>
              <a:rect l="l" t="t" r="r" b="b"/>
              <a:pathLst>
                <a:path w="3441700" h="4838700">
                  <a:moveTo>
                    <a:pt x="3441700" y="4838700"/>
                  </a:moveTo>
                  <a:lnTo>
                    <a:pt x="0" y="4838700"/>
                  </a:lnTo>
                  <a:lnTo>
                    <a:pt x="0" y="0"/>
                  </a:lnTo>
                  <a:lnTo>
                    <a:pt x="3441700" y="0"/>
                  </a:lnTo>
                  <a:lnTo>
                    <a:pt x="3441700" y="6350"/>
                  </a:lnTo>
                  <a:lnTo>
                    <a:pt x="12700" y="6350"/>
                  </a:lnTo>
                  <a:lnTo>
                    <a:pt x="6350" y="12700"/>
                  </a:lnTo>
                  <a:lnTo>
                    <a:pt x="12700" y="12700"/>
                  </a:lnTo>
                  <a:lnTo>
                    <a:pt x="12700" y="4826000"/>
                  </a:lnTo>
                  <a:lnTo>
                    <a:pt x="6350" y="4826000"/>
                  </a:lnTo>
                  <a:lnTo>
                    <a:pt x="12700" y="4832350"/>
                  </a:lnTo>
                  <a:lnTo>
                    <a:pt x="3441700" y="4832350"/>
                  </a:lnTo>
                  <a:lnTo>
                    <a:pt x="3441700" y="4838700"/>
                  </a:lnTo>
                  <a:close/>
                </a:path>
                <a:path w="3441700" h="4838700">
                  <a:moveTo>
                    <a:pt x="12700" y="12700"/>
                  </a:moveTo>
                  <a:lnTo>
                    <a:pt x="6350" y="12700"/>
                  </a:lnTo>
                  <a:lnTo>
                    <a:pt x="12700" y="6350"/>
                  </a:lnTo>
                  <a:lnTo>
                    <a:pt x="12700" y="12700"/>
                  </a:lnTo>
                  <a:close/>
                </a:path>
                <a:path w="3441700" h="4838700">
                  <a:moveTo>
                    <a:pt x="3429000" y="12700"/>
                  </a:moveTo>
                  <a:lnTo>
                    <a:pt x="12700" y="12700"/>
                  </a:lnTo>
                  <a:lnTo>
                    <a:pt x="12700" y="6350"/>
                  </a:lnTo>
                  <a:lnTo>
                    <a:pt x="3429000" y="6350"/>
                  </a:lnTo>
                  <a:lnTo>
                    <a:pt x="3429000" y="12700"/>
                  </a:lnTo>
                  <a:close/>
                </a:path>
                <a:path w="3441700" h="4838700">
                  <a:moveTo>
                    <a:pt x="3429000" y="4832350"/>
                  </a:moveTo>
                  <a:lnTo>
                    <a:pt x="3429000" y="6350"/>
                  </a:lnTo>
                  <a:lnTo>
                    <a:pt x="3435350" y="12700"/>
                  </a:lnTo>
                  <a:lnTo>
                    <a:pt x="3441700" y="12700"/>
                  </a:lnTo>
                  <a:lnTo>
                    <a:pt x="3441700" y="4826000"/>
                  </a:lnTo>
                  <a:lnTo>
                    <a:pt x="3435350" y="4826000"/>
                  </a:lnTo>
                  <a:lnTo>
                    <a:pt x="3429000" y="4832350"/>
                  </a:lnTo>
                  <a:close/>
                </a:path>
                <a:path w="3441700" h="4838700">
                  <a:moveTo>
                    <a:pt x="3441700" y="12700"/>
                  </a:moveTo>
                  <a:lnTo>
                    <a:pt x="3435350" y="12700"/>
                  </a:lnTo>
                  <a:lnTo>
                    <a:pt x="3429000" y="6350"/>
                  </a:lnTo>
                  <a:lnTo>
                    <a:pt x="3441700" y="6350"/>
                  </a:lnTo>
                  <a:lnTo>
                    <a:pt x="3441700" y="12700"/>
                  </a:lnTo>
                  <a:close/>
                </a:path>
                <a:path w="3441700" h="4838700">
                  <a:moveTo>
                    <a:pt x="12700" y="4832350"/>
                  </a:moveTo>
                  <a:lnTo>
                    <a:pt x="6350" y="4826000"/>
                  </a:lnTo>
                  <a:lnTo>
                    <a:pt x="12700" y="4826000"/>
                  </a:lnTo>
                  <a:lnTo>
                    <a:pt x="12700" y="4832350"/>
                  </a:lnTo>
                  <a:close/>
                </a:path>
                <a:path w="3441700" h="4838700">
                  <a:moveTo>
                    <a:pt x="3429000" y="4832350"/>
                  </a:moveTo>
                  <a:lnTo>
                    <a:pt x="12700" y="4832350"/>
                  </a:lnTo>
                  <a:lnTo>
                    <a:pt x="12700" y="4826000"/>
                  </a:lnTo>
                  <a:lnTo>
                    <a:pt x="3429000" y="4826000"/>
                  </a:lnTo>
                  <a:lnTo>
                    <a:pt x="3429000" y="4832350"/>
                  </a:lnTo>
                  <a:close/>
                </a:path>
                <a:path w="3441700" h="4838700">
                  <a:moveTo>
                    <a:pt x="3441700" y="4832350"/>
                  </a:moveTo>
                  <a:lnTo>
                    <a:pt x="3429000" y="4832350"/>
                  </a:lnTo>
                  <a:lnTo>
                    <a:pt x="3435350" y="4826000"/>
                  </a:lnTo>
                  <a:lnTo>
                    <a:pt x="3441700" y="4826000"/>
                  </a:lnTo>
                  <a:lnTo>
                    <a:pt x="3441700" y="48323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35508" y="1459992"/>
              <a:ext cx="3429000" cy="52069"/>
            </a:xfrm>
            <a:custGeom>
              <a:avLst/>
              <a:gdLst/>
              <a:ahLst/>
              <a:cxnLst/>
              <a:rect l="l" t="t" r="r" b="b"/>
              <a:pathLst>
                <a:path w="3429000" h="52069">
                  <a:moveTo>
                    <a:pt x="3429000" y="51816"/>
                  </a:moveTo>
                  <a:lnTo>
                    <a:pt x="0" y="51816"/>
                  </a:lnTo>
                  <a:lnTo>
                    <a:pt x="0" y="0"/>
                  </a:lnTo>
                  <a:lnTo>
                    <a:pt x="3429000" y="0"/>
                  </a:lnTo>
                  <a:lnTo>
                    <a:pt x="3429000" y="51816"/>
                  </a:lnTo>
                  <a:close/>
                </a:path>
              </a:pathLst>
            </a:custGeom>
            <a:solidFill>
              <a:srgbClr val="0E749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825500" y="1590674"/>
            <a:ext cx="1936114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1.</a:t>
            </a:r>
            <a:r>
              <a:rPr sz="1400" b="1" spc="-10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IBM</a:t>
            </a:r>
            <a:r>
              <a:rPr sz="1400" b="1" spc="-15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Bob</a:t>
            </a:r>
            <a:r>
              <a:rPr sz="1400" b="1" spc="-65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AI</a:t>
            </a:r>
            <a:r>
              <a:rPr sz="1400" b="1" spc="-5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10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Platform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04239" y="1994534"/>
            <a:ext cx="2747645" cy="551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92075">
              <a:lnSpc>
                <a:spcPct val="100000"/>
              </a:lnSpc>
              <a:spcBef>
                <a:spcPts val="100"/>
              </a:spcBef>
              <a:buChar char="•"/>
              <a:tabLst>
                <a:tab pos="104775" algn="l"/>
              </a:tabLst>
            </a:pP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Primary</a:t>
            </a:r>
            <a:r>
              <a:rPr sz="1150" spc="-3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Development</a:t>
            </a:r>
            <a:r>
              <a:rPr sz="1150" spc="-2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Environment:</a:t>
            </a:r>
            <a:r>
              <a:rPr sz="1150" spc="50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Built,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developed,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and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orchestrated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end-</a:t>
            </a:r>
            <a:r>
              <a:rPr sz="1150" spc="-25" dirty="0">
                <a:solidFill>
                  <a:srgbClr val="1E2A3A"/>
                </a:solidFill>
                <a:latin typeface="Arial MT"/>
                <a:cs typeface="Arial MT"/>
              </a:rPr>
              <a:t>to-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end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within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IBM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Bob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IDE.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04239" y="2695575"/>
            <a:ext cx="2883535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4775" indent="-92075">
              <a:lnSpc>
                <a:spcPct val="100000"/>
              </a:lnSpc>
              <a:spcBef>
                <a:spcPts val="100"/>
              </a:spcBef>
              <a:buChar char="•"/>
              <a:tabLst>
                <a:tab pos="104775" algn="l"/>
              </a:tabLst>
            </a:pP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Agentic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Acceleration:</a:t>
            </a:r>
            <a:endParaRPr sz="115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Used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Bob's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intelligent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developer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sidecar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25" dirty="0">
                <a:solidFill>
                  <a:srgbClr val="1E2A3A"/>
                </a:solidFill>
                <a:latin typeface="Arial MT"/>
                <a:cs typeface="Arial MT"/>
              </a:rPr>
              <a:t>to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rapidly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scaffold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FastAPI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routers,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WebSocket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handlers,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and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React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telemetry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hooks.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04239" y="3571875"/>
            <a:ext cx="2438400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4775" indent="-92075" algn="just">
              <a:lnSpc>
                <a:spcPct val="100000"/>
              </a:lnSpc>
              <a:spcBef>
                <a:spcPts val="100"/>
              </a:spcBef>
              <a:buChar char="•"/>
              <a:tabLst>
                <a:tab pos="104775" algn="l"/>
              </a:tabLst>
            </a:pP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Task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Session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Integrity:</a:t>
            </a:r>
            <a:endParaRPr sz="1150">
              <a:latin typeface="Arial MT"/>
              <a:cs typeface="Arial MT"/>
            </a:endParaRPr>
          </a:p>
          <a:p>
            <a:pPr marL="12700" marR="5080" algn="just">
              <a:lnSpc>
                <a:spcPct val="100000"/>
              </a:lnSpc>
            </a:pP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Maintained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full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git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version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control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25" dirty="0">
                <a:solidFill>
                  <a:srgbClr val="1E2A3A"/>
                </a:solidFill>
                <a:latin typeface="Arial MT"/>
                <a:cs typeface="Arial MT"/>
              </a:rPr>
              <a:t>and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reproducibility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required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for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hackathon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submission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guidelines.</a:t>
            </a:r>
            <a:endParaRPr sz="115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375150" y="1454150"/>
            <a:ext cx="3441700" cy="4838700"/>
            <a:chOff x="4375150" y="1454150"/>
            <a:chExt cx="3441700" cy="4838700"/>
          </a:xfrm>
        </p:grpSpPr>
        <p:sp>
          <p:nvSpPr>
            <p:cNvPr id="14" name="object 14"/>
            <p:cNvSpPr/>
            <p:nvPr/>
          </p:nvSpPr>
          <p:spPr>
            <a:xfrm>
              <a:off x="4381500" y="1459992"/>
              <a:ext cx="3429000" cy="4826635"/>
            </a:xfrm>
            <a:custGeom>
              <a:avLst/>
              <a:gdLst/>
              <a:ahLst/>
              <a:cxnLst/>
              <a:rect l="l" t="t" r="r" b="b"/>
              <a:pathLst>
                <a:path w="3429000" h="4826635">
                  <a:moveTo>
                    <a:pt x="3429000" y="4826508"/>
                  </a:moveTo>
                  <a:lnTo>
                    <a:pt x="0" y="4826508"/>
                  </a:lnTo>
                  <a:lnTo>
                    <a:pt x="0" y="0"/>
                  </a:lnTo>
                  <a:lnTo>
                    <a:pt x="3429000" y="0"/>
                  </a:lnTo>
                  <a:lnTo>
                    <a:pt x="3429000" y="4826508"/>
                  </a:lnTo>
                  <a:close/>
                </a:path>
              </a:pathLst>
            </a:custGeom>
            <a:solidFill>
              <a:srgbClr val="F1F3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375150" y="1454150"/>
              <a:ext cx="3441700" cy="4838700"/>
            </a:xfrm>
            <a:custGeom>
              <a:avLst/>
              <a:gdLst/>
              <a:ahLst/>
              <a:cxnLst/>
              <a:rect l="l" t="t" r="r" b="b"/>
              <a:pathLst>
                <a:path w="3441700" h="4838700">
                  <a:moveTo>
                    <a:pt x="3441700" y="4838700"/>
                  </a:moveTo>
                  <a:lnTo>
                    <a:pt x="0" y="4838700"/>
                  </a:lnTo>
                  <a:lnTo>
                    <a:pt x="0" y="0"/>
                  </a:lnTo>
                  <a:lnTo>
                    <a:pt x="3441700" y="0"/>
                  </a:lnTo>
                  <a:lnTo>
                    <a:pt x="3441700" y="6350"/>
                  </a:lnTo>
                  <a:lnTo>
                    <a:pt x="12700" y="6350"/>
                  </a:lnTo>
                  <a:lnTo>
                    <a:pt x="6350" y="12700"/>
                  </a:lnTo>
                  <a:lnTo>
                    <a:pt x="12700" y="12700"/>
                  </a:lnTo>
                  <a:lnTo>
                    <a:pt x="12700" y="4826000"/>
                  </a:lnTo>
                  <a:lnTo>
                    <a:pt x="6350" y="4826000"/>
                  </a:lnTo>
                  <a:lnTo>
                    <a:pt x="12700" y="4832350"/>
                  </a:lnTo>
                  <a:lnTo>
                    <a:pt x="3441700" y="4832350"/>
                  </a:lnTo>
                  <a:lnTo>
                    <a:pt x="3441700" y="4838700"/>
                  </a:lnTo>
                  <a:close/>
                </a:path>
                <a:path w="3441700" h="4838700">
                  <a:moveTo>
                    <a:pt x="12700" y="12700"/>
                  </a:moveTo>
                  <a:lnTo>
                    <a:pt x="6350" y="12700"/>
                  </a:lnTo>
                  <a:lnTo>
                    <a:pt x="12700" y="6350"/>
                  </a:lnTo>
                  <a:lnTo>
                    <a:pt x="12700" y="12700"/>
                  </a:lnTo>
                  <a:close/>
                </a:path>
                <a:path w="3441700" h="4838700">
                  <a:moveTo>
                    <a:pt x="3429000" y="12700"/>
                  </a:moveTo>
                  <a:lnTo>
                    <a:pt x="12700" y="12700"/>
                  </a:lnTo>
                  <a:lnTo>
                    <a:pt x="12700" y="6350"/>
                  </a:lnTo>
                  <a:lnTo>
                    <a:pt x="3429000" y="6350"/>
                  </a:lnTo>
                  <a:lnTo>
                    <a:pt x="3429000" y="12700"/>
                  </a:lnTo>
                  <a:close/>
                </a:path>
                <a:path w="3441700" h="4838700">
                  <a:moveTo>
                    <a:pt x="3429000" y="4832350"/>
                  </a:moveTo>
                  <a:lnTo>
                    <a:pt x="3429000" y="6350"/>
                  </a:lnTo>
                  <a:lnTo>
                    <a:pt x="3435350" y="12700"/>
                  </a:lnTo>
                  <a:lnTo>
                    <a:pt x="3441700" y="12700"/>
                  </a:lnTo>
                  <a:lnTo>
                    <a:pt x="3441700" y="4826000"/>
                  </a:lnTo>
                  <a:lnTo>
                    <a:pt x="3435350" y="4826000"/>
                  </a:lnTo>
                  <a:lnTo>
                    <a:pt x="3429000" y="4832350"/>
                  </a:lnTo>
                  <a:close/>
                </a:path>
                <a:path w="3441700" h="4838700">
                  <a:moveTo>
                    <a:pt x="3441700" y="12700"/>
                  </a:moveTo>
                  <a:lnTo>
                    <a:pt x="3435350" y="12700"/>
                  </a:lnTo>
                  <a:lnTo>
                    <a:pt x="3429000" y="6350"/>
                  </a:lnTo>
                  <a:lnTo>
                    <a:pt x="3441700" y="6350"/>
                  </a:lnTo>
                  <a:lnTo>
                    <a:pt x="3441700" y="12700"/>
                  </a:lnTo>
                  <a:close/>
                </a:path>
                <a:path w="3441700" h="4838700">
                  <a:moveTo>
                    <a:pt x="12700" y="4832350"/>
                  </a:moveTo>
                  <a:lnTo>
                    <a:pt x="6350" y="4826000"/>
                  </a:lnTo>
                  <a:lnTo>
                    <a:pt x="12700" y="4826000"/>
                  </a:lnTo>
                  <a:lnTo>
                    <a:pt x="12700" y="4832350"/>
                  </a:lnTo>
                  <a:close/>
                </a:path>
                <a:path w="3441700" h="4838700">
                  <a:moveTo>
                    <a:pt x="3429000" y="4832350"/>
                  </a:moveTo>
                  <a:lnTo>
                    <a:pt x="12700" y="4832350"/>
                  </a:lnTo>
                  <a:lnTo>
                    <a:pt x="12700" y="4826000"/>
                  </a:lnTo>
                  <a:lnTo>
                    <a:pt x="3429000" y="4826000"/>
                  </a:lnTo>
                  <a:lnTo>
                    <a:pt x="3429000" y="4832350"/>
                  </a:lnTo>
                  <a:close/>
                </a:path>
                <a:path w="3441700" h="4838700">
                  <a:moveTo>
                    <a:pt x="3441700" y="4832350"/>
                  </a:moveTo>
                  <a:lnTo>
                    <a:pt x="3429000" y="4832350"/>
                  </a:lnTo>
                  <a:lnTo>
                    <a:pt x="3435350" y="4826000"/>
                  </a:lnTo>
                  <a:lnTo>
                    <a:pt x="3441700" y="4826000"/>
                  </a:lnTo>
                  <a:lnTo>
                    <a:pt x="3441700" y="48323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4381500" y="1459992"/>
              <a:ext cx="3429000" cy="52069"/>
            </a:xfrm>
            <a:custGeom>
              <a:avLst/>
              <a:gdLst/>
              <a:ahLst/>
              <a:cxnLst/>
              <a:rect l="l" t="t" r="r" b="b"/>
              <a:pathLst>
                <a:path w="3429000" h="52069">
                  <a:moveTo>
                    <a:pt x="3429000" y="51816"/>
                  </a:moveTo>
                  <a:lnTo>
                    <a:pt x="0" y="51816"/>
                  </a:lnTo>
                  <a:lnTo>
                    <a:pt x="0" y="0"/>
                  </a:lnTo>
                  <a:lnTo>
                    <a:pt x="3429000" y="0"/>
                  </a:lnTo>
                  <a:lnTo>
                    <a:pt x="3429000" y="51816"/>
                  </a:lnTo>
                  <a:close/>
                </a:path>
              </a:pathLst>
            </a:custGeom>
            <a:solidFill>
              <a:srgbClr val="92650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4572000" y="1590674"/>
            <a:ext cx="235458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92650B"/>
                </a:solidFill>
                <a:latin typeface="Arial" panose="020B0604020202020204"/>
                <a:cs typeface="Arial" panose="020B0604020202020204"/>
              </a:rPr>
              <a:t>2.</a:t>
            </a:r>
            <a:r>
              <a:rPr sz="1400" b="1" spc="-15" dirty="0">
                <a:solidFill>
                  <a:srgbClr val="92650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92650B"/>
                </a:solidFill>
                <a:latin typeface="Arial" panose="020B0604020202020204"/>
                <a:cs typeface="Arial" panose="020B0604020202020204"/>
              </a:rPr>
              <a:t>Bob</a:t>
            </a:r>
            <a:r>
              <a:rPr sz="1400" b="1" spc="-75" dirty="0">
                <a:solidFill>
                  <a:srgbClr val="92650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92650B"/>
                </a:solidFill>
                <a:latin typeface="Arial" panose="020B0604020202020204"/>
                <a:cs typeface="Arial" panose="020B0604020202020204"/>
              </a:rPr>
              <a:t>Agentic</a:t>
            </a:r>
            <a:r>
              <a:rPr sz="1400" b="1" spc="-75" dirty="0">
                <a:solidFill>
                  <a:srgbClr val="92650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10" dirty="0">
                <a:solidFill>
                  <a:srgbClr val="92650B"/>
                </a:solidFill>
                <a:latin typeface="Arial" panose="020B0604020202020204"/>
                <a:cs typeface="Arial" panose="020B0604020202020204"/>
              </a:rPr>
              <a:t>Architecture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650740" y="1994534"/>
            <a:ext cx="2828925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4775" indent="-92075">
              <a:lnSpc>
                <a:spcPct val="100000"/>
              </a:lnSpc>
              <a:spcBef>
                <a:spcPts val="100"/>
              </a:spcBef>
              <a:buChar char="•"/>
              <a:tabLst>
                <a:tab pos="104775" algn="l"/>
              </a:tabLst>
            </a:pP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Tool-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Calling</a:t>
            </a:r>
            <a:r>
              <a:rPr sz="1150" spc="3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Paradigm:</a:t>
            </a:r>
            <a:endParaRPr sz="115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Directly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mirrors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IBM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Bob's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multi-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tool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agent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pattern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where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the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LLM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does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not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hallucinate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numbers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but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queries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specialized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ML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tools.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650740" y="2870834"/>
            <a:ext cx="2171700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4775" indent="-92075">
              <a:lnSpc>
                <a:spcPct val="100000"/>
              </a:lnSpc>
              <a:spcBef>
                <a:spcPts val="100"/>
              </a:spcBef>
              <a:buChar char="•"/>
              <a:tabLst>
                <a:tab pos="104775" algn="l"/>
              </a:tabLst>
            </a:pP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Specialized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Tool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Definitions:</a:t>
            </a:r>
            <a:endParaRPr sz="1150">
              <a:latin typeface="Arial MT"/>
              <a:cs typeface="Arial MT"/>
            </a:endParaRPr>
          </a:p>
          <a:p>
            <a:pPr marL="182880" lvl="1" indent="-89535">
              <a:lnSpc>
                <a:spcPct val="100000"/>
              </a:lnSpc>
              <a:buChar char="-"/>
              <a:tabLst>
                <a:tab pos="182880" algn="l"/>
              </a:tabLst>
            </a:pP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get_asset_status(asset_id)</a:t>
            </a:r>
            <a:endParaRPr sz="1150">
              <a:latin typeface="Arial MT"/>
              <a:cs typeface="Arial MT"/>
            </a:endParaRPr>
          </a:p>
          <a:p>
            <a:pPr marL="182880" lvl="1" indent="-89535">
              <a:lnSpc>
                <a:spcPct val="100000"/>
              </a:lnSpc>
              <a:buChar char="-"/>
              <a:tabLst>
                <a:tab pos="182880" algn="l"/>
              </a:tabLst>
            </a:pP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predict_rul(sensor_data)</a:t>
            </a:r>
            <a:endParaRPr sz="1150">
              <a:latin typeface="Arial MT"/>
              <a:cs typeface="Arial MT"/>
            </a:endParaRPr>
          </a:p>
          <a:p>
            <a:pPr marL="182880" lvl="1" indent="-89535">
              <a:lnSpc>
                <a:spcPct val="100000"/>
              </a:lnSpc>
              <a:buChar char="-"/>
              <a:tabLst>
                <a:tab pos="182880" algn="l"/>
              </a:tabLst>
            </a:pP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generate_work_order(params)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650740" y="3747134"/>
            <a:ext cx="2576195" cy="551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4775" indent="-92075">
              <a:lnSpc>
                <a:spcPct val="100000"/>
              </a:lnSpc>
              <a:spcBef>
                <a:spcPts val="100"/>
              </a:spcBef>
              <a:buChar char="•"/>
              <a:tabLst>
                <a:tab pos="104775" algn="l"/>
              </a:tabLst>
            </a:pP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Structured</a:t>
            </a:r>
            <a:r>
              <a:rPr sz="1150" spc="-3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Grounding:</a:t>
            </a:r>
            <a:endParaRPr sz="115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Feeds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live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database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telemetry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into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25" dirty="0">
                <a:solidFill>
                  <a:srgbClr val="1E2A3A"/>
                </a:solidFill>
                <a:latin typeface="Arial MT"/>
                <a:cs typeface="Arial MT"/>
              </a:rPr>
              <a:t>LLM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context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window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for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zero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hallucination.</a:t>
            </a:r>
            <a:endParaRPr sz="115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8121650" y="1454150"/>
            <a:ext cx="3441700" cy="4838700"/>
            <a:chOff x="8121650" y="1454150"/>
            <a:chExt cx="3441700" cy="4838700"/>
          </a:xfrm>
        </p:grpSpPr>
        <p:sp>
          <p:nvSpPr>
            <p:cNvPr id="22" name="object 22"/>
            <p:cNvSpPr/>
            <p:nvPr/>
          </p:nvSpPr>
          <p:spPr>
            <a:xfrm>
              <a:off x="8127492" y="1459992"/>
              <a:ext cx="3429000" cy="4826635"/>
            </a:xfrm>
            <a:custGeom>
              <a:avLst/>
              <a:gdLst/>
              <a:ahLst/>
              <a:cxnLst/>
              <a:rect l="l" t="t" r="r" b="b"/>
              <a:pathLst>
                <a:path w="3429000" h="4826635">
                  <a:moveTo>
                    <a:pt x="3429000" y="4826508"/>
                  </a:moveTo>
                  <a:lnTo>
                    <a:pt x="0" y="4826508"/>
                  </a:lnTo>
                  <a:lnTo>
                    <a:pt x="0" y="0"/>
                  </a:lnTo>
                  <a:lnTo>
                    <a:pt x="3429000" y="0"/>
                  </a:lnTo>
                  <a:lnTo>
                    <a:pt x="3429000" y="4826508"/>
                  </a:lnTo>
                  <a:close/>
                </a:path>
              </a:pathLst>
            </a:custGeom>
            <a:solidFill>
              <a:srgbClr val="F1F3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8121650" y="1454150"/>
              <a:ext cx="3441700" cy="4838700"/>
            </a:xfrm>
            <a:custGeom>
              <a:avLst/>
              <a:gdLst/>
              <a:ahLst/>
              <a:cxnLst/>
              <a:rect l="l" t="t" r="r" b="b"/>
              <a:pathLst>
                <a:path w="3441700" h="4838700">
                  <a:moveTo>
                    <a:pt x="3441700" y="4838700"/>
                  </a:moveTo>
                  <a:lnTo>
                    <a:pt x="0" y="4838700"/>
                  </a:lnTo>
                  <a:lnTo>
                    <a:pt x="0" y="0"/>
                  </a:lnTo>
                  <a:lnTo>
                    <a:pt x="3441700" y="0"/>
                  </a:lnTo>
                  <a:lnTo>
                    <a:pt x="3441700" y="6350"/>
                  </a:lnTo>
                  <a:lnTo>
                    <a:pt x="12700" y="6350"/>
                  </a:lnTo>
                  <a:lnTo>
                    <a:pt x="6350" y="12700"/>
                  </a:lnTo>
                  <a:lnTo>
                    <a:pt x="12700" y="12700"/>
                  </a:lnTo>
                  <a:lnTo>
                    <a:pt x="12700" y="4826000"/>
                  </a:lnTo>
                  <a:lnTo>
                    <a:pt x="6350" y="4826000"/>
                  </a:lnTo>
                  <a:lnTo>
                    <a:pt x="12700" y="4832350"/>
                  </a:lnTo>
                  <a:lnTo>
                    <a:pt x="3441700" y="4832350"/>
                  </a:lnTo>
                  <a:lnTo>
                    <a:pt x="3441700" y="4838700"/>
                  </a:lnTo>
                  <a:close/>
                </a:path>
                <a:path w="3441700" h="4838700">
                  <a:moveTo>
                    <a:pt x="12700" y="12700"/>
                  </a:moveTo>
                  <a:lnTo>
                    <a:pt x="6350" y="12700"/>
                  </a:lnTo>
                  <a:lnTo>
                    <a:pt x="12700" y="6350"/>
                  </a:lnTo>
                  <a:lnTo>
                    <a:pt x="12700" y="12700"/>
                  </a:lnTo>
                  <a:close/>
                </a:path>
                <a:path w="3441700" h="4838700">
                  <a:moveTo>
                    <a:pt x="3429000" y="12700"/>
                  </a:moveTo>
                  <a:lnTo>
                    <a:pt x="12700" y="12700"/>
                  </a:lnTo>
                  <a:lnTo>
                    <a:pt x="12700" y="6350"/>
                  </a:lnTo>
                  <a:lnTo>
                    <a:pt x="3429000" y="6350"/>
                  </a:lnTo>
                  <a:lnTo>
                    <a:pt x="3429000" y="12700"/>
                  </a:lnTo>
                  <a:close/>
                </a:path>
                <a:path w="3441700" h="4838700">
                  <a:moveTo>
                    <a:pt x="3429000" y="4832350"/>
                  </a:moveTo>
                  <a:lnTo>
                    <a:pt x="3429000" y="6350"/>
                  </a:lnTo>
                  <a:lnTo>
                    <a:pt x="3435350" y="12700"/>
                  </a:lnTo>
                  <a:lnTo>
                    <a:pt x="3441700" y="12700"/>
                  </a:lnTo>
                  <a:lnTo>
                    <a:pt x="3441700" y="4826000"/>
                  </a:lnTo>
                  <a:lnTo>
                    <a:pt x="3435350" y="4826000"/>
                  </a:lnTo>
                  <a:lnTo>
                    <a:pt x="3429000" y="4832350"/>
                  </a:lnTo>
                  <a:close/>
                </a:path>
                <a:path w="3441700" h="4838700">
                  <a:moveTo>
                    <a:pt x="3441700" y="12700"/>
                  </a:moveTo>
                  <a:lnTo>
                    <a:pt x="3435350" y="12700"/>
                  </a:lnTo>
                  <a:lnTo>
                    <a:pt x="3429000" y="6350"/>
                  </a:lnTo>
                  <a:lnTo>
                    <a:pt x="3441700" y="6350"/>
                  </a:lnTo>
                  <a:lnTo>
                    <a:pt x="3441700" y="12700"/>
                  </a:lnTo>
                  <a:close/>
                </a:path>
                <a:path w="3441700" h="4838700">
                  <a:moveTo>
                    <a:pt x="12700" y="4832350"/>
                  </a:moveTo>
                  <a:lnTo>
                    <a:pt x="6350" y="4826000"/>
                  </a:lnTo>
                  <a:lnTo>
                    <a:pt x="12700" y="4826000"/>
                  </a:lnTo>
                  <a:lnTo>
                    <a:pt x="12700" y="4832350"/>
                  </a:lnTo>
                  <a:close/>
                </a:path>
                <a:path w="3441700" h="4838700">
                  <a:moveTo>
                    <a:pt x="3429000" y="4832350"/>
                  </a:moveTo>
                  <a:lnTo>
                    <a:pt x="12700" y="4832350"/>
                  </a:lnTo>
                  <a:lnTo>
                    <a:pt x="12700" y="4826000"/>
                  </a:lnTo>
                  <a:lnTo>
                    <a:pt x="3429000" y="4826000"/>
                  </a:lnTo>
                  <a:lnTo>
                    <a:pt x="3429000" y="4832350"/>
                  </a:lnTo>
                  <a:close/>
                </a:path>
                <a:path w="3441700" h="4838700">
                  <a:moveTo>
                    <a:pt x="3441700" y="4832350"/>
                  </a:moveTo>
                  <a:lnTo>
                    <a:pt x="3429000" y="4832350"/>
                  </a:lnTo>
                  <a:lnTo>
                    <a:pt x="3435350" y="4826000"/>
                  </a:lnTo>
                  <a:lnTo>
                    <a:pt x="3441700" y="4826000"/>
                  </a:lnTo>
                  <a:lnTo>
                    <a:pt x="3441700" y="48323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8127492" y="1459992"/>
              <a:ext cx="3429000" cy="52069"/>
            </a:xfrm>
            <a:custGeom>
              <a:avLst/>
              <a:gdLst/>
              <a:ahLst/>
              <a:cxnLst/>
              <a:rect l="l" t="t" r="r" b="b"/>
              <a:pathLst>
                <a:path w="3429000" h="52069">
                  <a:moveTo>
                    <a:pt x="3429000" y="51816"/>
                  </a:moveTo>
                  <a:lnTo>
                    <a:pt x="0" y="51816"/>
                  </a:lnTo>
                  <a:lnTo>
                    <a:pt x="0" y="0"/>
                  </a:lnTo>
                  <a:lnTo>
                    <a:pt x="3429000" y="0"/>
                  </a:lnTo>
                  <a:lnTo>
                    <a:pt x="3429000" y="51816"/>
                  </a:lnTo>
                  <a:close/>
                </a:path>
              </a:pathLst>
            </a:custGeom>
            <a:solidFill>
              <a:srgbClr val="0B8A5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8318500" y="1590674"/>
            <a:ext cx="268605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3.</a:t>
            </a:r>
            <a:r>
              <a:rPr sz="1400" b="1" spc="-35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watsonx.ai</a:t>
            </a:r>
            <a:r>
              <a:rPr sz="1400" b="1" spc="-30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Integration</a:t>
            </a:r>
            <a:r>
              <a:rPr sz="1400" b="1" spc="-35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20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Ready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397240" y="1994534"/>
            <a:ext cx="2803525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4775" indent="-92075">
              <a:lnSpc>
                <a:spcPct val="100000"/>
              </a:lnSpc>
              <a:spcBef>
                <a:spcPts val="100"/>
              </a:spcBef>
              <a:buChar char="•"/>
              <a:tabLst>
                <a:tab pos="104775" algn="l"/>
              </a:tabLst>
            </a:pP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IBM</a:t>
            </a:r>
            <a:r>
              <a:rPr sz="1150" spc="-2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Granite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Readiness:</a:t>
            </a:r>
            <a:endParaRPr sz="115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Prompt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structures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and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API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layers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designed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for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turnkey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connection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to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IBM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Granite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25" dirty="0">
                <a:solidFill>
                  <a:srgbClr val="1E2A3A"/>
                </a:solidFill>
                <a:latin typeface="Arial MT"/>
                <a:cs typeface="Arial MT"/>
              </a:rPr>
              <a:t>13B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and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Granite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Code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foundation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models.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397240" y="2870834"/>
            <a:ext cx="2795905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4775" indent="-92075">
              <a:lnSpc>
                <a:spcPct val="100000"/>
              </a:lnSpc>
              <a:spcBef>
                <a:spcPts val="100"/>
              </a:spcBef>
              <a:buChar char="•"/>
              <a:tabLst>
                <a:tab pos="104775" algn="l"/>
              </a:tabLst>
            </a:pP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Enterprise</a:t>
            </a:r>
            <a:r>
              <a:rPr sz="1150" spc="-3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Compliance:</a:t>
            </a:r>
            <a:endParaRPr sz="115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Built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for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regulated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defense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environments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adhering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to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IBM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trustworthy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AI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governance principles.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397240" y="3747134"/>
            <a:ext cx="2755265" cy="551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4775" indent="-92075">
              <a:lnSpc>
                <a:spcPct val="100000"/>
              </a:lnSpc>
              <a:spcBef>
                <a:spcPts val="100"/>
              </a:spcBef>
              <a:buChar char="•"/>
              <a:tabLst>
                <a:tab pos="104775" algn="l"/>
              </a:tabLst>
            </a:pP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Hybrid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Cloud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Scalability:</a:t>
            </a:r>
            <a:endParaRPr sz="115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Container-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ready</a:t>
            </a:r>
            <a:r>
              <a:rPr sz="1150" spc="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microservices</a:t>
            </a:r>
            <a:r>
              <a:rPr sz="1150" spc="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deployable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on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Red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Hat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OpenShift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on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IBM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Cloud.</a:t>
            </a:r>
            <a:endParaRPr sz="11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76400" y="304799"/>
            <a:ext cx="2076450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RESULTS</a:t>
            </a:r>
            <a:r>
              <a:rPr sz="1000" b="1" spc="-30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00" b="1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&amp;</a:t>
            </a:r>
            <a:r>
              <a:rPr sz="1000" b="1" spc="-25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00" b="1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QUANTIFIED</a:t>
            </a:r>
            <a:r>
              <a:rPr sz="1000" b="1" spc="-25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00" b="1" spc="-10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IMPACT</a:t>
            </a:r>
            <a:endParaRPr sz="1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048000" y="481330"/>
            <a:ext cx="8558530" cy="426720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Proven</a:t>
            </a:r>
            <a:r>
              <a:rPr spc="-70" dirty="0"/>
              <a:t> </a:t>
            </a:r>
            <a:r>
              <a:rPr dirty="0"/>
              <a:t>Metrics</a:t>
            </a:r>
            <a:r>
              <a:rPr spc="-65" dirty="0"/>
              <a:t> </a:t>
            </a:r>
            <a:r>
              <a:rPr dirty="0"/>
              <a:t>&amp;</a:t>
            </a:r>
            <a:r>
              <a:rPr spc="-65" dirty="0"/>
              <a:t> </a:t>
            </a:r>
            <a:r>
              <a:rPr dirty="0"/>
              <a:t>Defense</a:t>
            </a:r>
            <a:r>
              <a:rPr spc="-65" dirty="0"/>
              <a:t> </a:t>
            </a:r>
            <a:r>
              <a:rPr dirty="0"/>
              <a:t>Operational</a:t>
            </a:r>
            <a:r>
              <a:rPr spc="-75" dirty="0"/>
              <a:t> </a:t>
            </a:r>
            <a:r>
              <a:rPr spc="-10" dirty="0"/>
              <a:t>Value</a:t>
            </a:r>
            <a:endParaRPr spc="-10" dirty="0"/>
          </a:p>
        </p:txBody>
      </p:sp>
      <p:sp>
        <p:nvSpPr>
          <p:cNvPr id="4" name="object 4"/>
          <p:cNvSpPr txBox="1"/>
          <p:nvPr/>
        </p:nvSpPr>
        <p:spPr>
          <a:xfrm>
            <a:off x="2895600" y="1092199"/>
            <a:ext cx="65468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Demonstrated</a:t>
            </a:r>
            <a:r>
              <a:rPr sz="1200" spc="-40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performance</a:t>
            </a:r>
            <a:r>
              <a:rPr sz="1200" spc="-40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across</a:t>
            </a:r>
            <a:r>
              <a:rPr sz="1200" spc="-40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inference</a:t>
            </a:r>
            <a:r>
              <a:rPr sz="1200" spc="-35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5B6472"/>
                </a:solidFill>
                <a:latin typeface="Arial MT"/>
                <a:cs typeface="Arial MT"/>
              </a:rPr>
              <a:t>latency,</a:t>
            </a:r>
            <a:r>
              <a:rPr sz="1200" spc="-40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fleet</a:t>
            </a:r>
            <a:r>
              <a:rPr sz="1200" spc="-35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coverage,</a:t>
            </a:r>
            <a:r>
              <a:rPr sz="1200" spc="-35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and</a:t>
            </a:r>
            <a:r>
              <a:rPr sz="1200" spc="-40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maintenance</a:t>
            </a:r>
            <a:r>
              <a:rPr sz="1200" spc="-40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5B6472"/>
                </a:solidFill>
                <a:latin typeface="Arial MT"/>
                <a:cs typeface="Arial MT"/>
              </a:rPr>
              <a:t>efficiency.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28650" y="1454150"/>
            <a:ext cx="2552700" cy="1663700"/>
            <a:chOff x="628650" y="1454150"/>
            <a:chExt cx="2552700" cy="1663700"/>
          </a:xfrm>
        </p:grpSpPr>
        <p:sp>
          <p:nvSpPr>
            <p:cNvPr id="6" name="object 6"/>
            <p:cNvSpPr/>
            <p:nvPr/>
          </p:nvSpPr>
          <p:spPr>
            <a:xfrm>
              <a:off x="635508" y="1459992"/>
              <a:ext cx="2539365" cy="1652270"/>
            </a:xfrm>
            <a:custGeom>
              <a:avLst/>
              <a:gdLst/>
              <a:ahLst/>
              <a:cxnLst/>
              <a:rect l="l" t="t" r="r" b="b"/>
              <a:pathLst>
                <a:path w="2539365" h="1652270">
                  <a:moveTo>
                    <a:pt x="2538984" y="1652016"/>
                  </a:moveTo>
                  <a:lnTo>
                    <a:pt x="0" y="1652016"/>
                  </a:lnTo>
                  <a:lnTo>
                    <a:pt x="0" y="0"/>
                  </a:lnTo>
                  <a:lnTo>
                    <a:pt x="2538984" y="0"/>
                  </a:lnTo>
                  <a:lnTo>
                    <a:pt x="2538984" y="1652016"/>
                  </a:lnTo>
                  <a:close/>
                </a:path>
              </a:pathLst>
            </a:custGeom>
            <a:solidFill>
              <a:srgbClr val="F1F3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28650" y="1454150"/>
              <a:ext cx="2552700" cy="1663700"/>
            </a:xfrm>
            <a:custGeom>
              <a:avLst/>
              <a:gdLst/>
              <a:ahLst/>
              <a:cxnLst/>
              <a:rect l="l" t="t" r="r" b="b"/>
              <a:pathLst>
                <a:path w="2552700" h="1663700">
                  <a:moveTo>
                    <a:pt x="2552700" y="1663700"/>
                  </a:moveTo>
                  <a:lnTo>
                    <a:pt x="0" y="1663700"/>
                  </a:lnTo>
                  <a:lnTo>
                    <a:pt x="0" y="0"/>
                  </a:lnTo>
                  <a:lnTo>
                    <a:pt x="2552700" y="0"/>
                  </a:lnTo>
                  <a:lnTo>
                    <a:pt x="2552700" y="6350"/>
                  </a:lnTo>
                  <a:lnTo>
                    <a:pt x="12700" y="6350"/>
                  </a:lnTo>
                  <a:lnTo>
                    <a:pt x="6350" y="12700"/>
                  </a:lnTo>
                  <a:lnTo>
                    <a:pt x="12700" y="12700"/>
                  </a:lnTo>
                  <a:lnTo>
                    <a:pt x="12700" y="1651000"/>
                  </a:lnTo>
                  <a:lnTo>
                    <a:pt x="6350" y="1651000"/>
                  </a:lnTo>
                  <a:lnTo>
                    <a:pt x="12700" y="1657350"/>
                  </a:lnTo>
                  <a:lnTo>
                    <a:pt x="2552700" y="1657350"/>
                  </a:lnTo>
                  <a:lnTo>
                    <a:pt x="2552700" y="1663700"/>
                  </a:lnTo>
                  <a:close/>
                </a:path>
                <a:path w="2552700" h="1663700">
                  <a:moveTo>
                    <a:pt x="12700" y="12700"/>
                  </a:moveTo>
                  <a:lnTo>
                    <a:pt x="6350" y="12700"/>
                  </a:lnTo>
                  <a:lnTo>
                    <a:pt x="12700" y="6350"/>
                  </a:lnTo>
                  <a:lnTo>
                    <a:pt x="12700" y="12700"/>
                  </a:lnTo>
                  <a:close/>
                </a:path>
                <a:path w="2552700" h="1663700">
                  <a:moveTo>
                    <a:pt x="2540000" y="12700"/>
                  </a:moveTo>
                  <a:lnTo>
                    <a:pt x="12700" y="12700"/>
                  </a:lnTo>
                  <a:lnTo>
                    <a:pt x="12700" y="6350"/>
                  </a:lnTo>
                  <a:lnTo>
                    <a:pt x="2540000" y="6350"/>
                  </a:lnTo>
                  <a:lnTo>
                    <a:pt x="2540000" y="12700"/>
                  </a:lnTo>
                  <a:close/>
                </a:path>
                <a:path w="2552700" h="1663700">
                  <a:moveTo>
                    <a:pt x="2540000" y="1657350"/>
                  </a:moveTo>
                  <a:lnTo>
                    <a:pt x="2540000" y="6350"/>
                  </a:lnTo>
                  <a:lnTo>
                    <a:pt x="2546350" y="12700"/>
                  </a:lnTo>
                  <a:lnTo>
                    <a:pt x="2552700" y="12700"/>
                  </a:lnTo>
                  <a:lnTo>
                    <a:pt x="2552700" y="1651000"/>
                  </a:lnTo>
                  <a:lnTo>
                    <a:pt x="2546350" y="1651000"/>
                  </a:lnTo>
                  <a:lnTo>
                    <a:pt x="2540000" y="1657350"/>
                  </a:lnTo>
                  <a:close/>
                </a:path>
                <a:path w="2552700" h="1663700">
                  <a:moveTo>
                    <a:pt x="2552700" y="12700"/>
                  </a:moveTo>
                  <a:lnTo>
                    <a:pt x="2546350" y="12700"/>
                  </a:lnTo>
                  <a:lnTo>
                    <a:pt x="2540000" y="6350"/>
                  </a:lnTo>
                  <a:lnTo>
                    <a:pt x="2552700" y="6350"/>
                  </a:lnTo>
                  <a:lnTo>
                    <a:pt x="2552700" y="12700"/>
                  </a:lnTo>
                  <a:close/>
                </a:path>
                <a:path w="2552700" h="1663700">
                  <a:moveTo>
                    <a:pt x="12700" y="1657350"/>
                  </a:moveTo>
                  <a:lnTo>
                    <a:pt x="6350" y="1651000"/>
                  </a:lnTo>
                  <a:lnTo>
                    <a:pt x="12700" y="1651000"/>
                  </a:lnTo>
                  <a:lnTo>
                    <a:pt x="12700" y="1657350"/>
                  </a:lnTo>
                  <a:close/>
                </a:path>
                <a:path w="2552700" h="1663700">
                  <a:moveTo>
                    <a:pt x="2540000" y="1657350"/>
                  </a:moveTo>
                  <a:lnTo>
                    <a:pt x="12700" y="1657350"/>
                  </a:lnTo>
                  <a:lnTo>
                    <a:pt x="12700" y="1651000"/>
                  </a:lnTo>
                  <a:lnTo>
                    <a:pt x="2540000" y="1651000"/>
                  </a:lnTo>
                  <a:lnTo>
                    <a:pt x="2540000" y="1657350"/>
                  </a:lnTo>
                  <a:close/>
                </a:path>
                <a:path w="2552700" h="1663700">
                  <a:moveTo>
                    <a:pt x="2552700" y="1657350"/>
                  </a:moveTo>
                  <a:lnTo>
                    <a:pt x="2540000" y="1657350"/>
                  </a:lnTo>
                  <a:lnTo>
                    <a:pt x="2546350" y="1651000"/>
                  </a:lnTo>
                  <a:lnTo>
                    <a:pt x="2552700" y="1651000"/>
                  </a:lnTo>
                  <a:lnTo>
                    <a:pt x="2552700" y="16573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35508" y="1459992"/>
              <a:ext cx="2539365" cy="52069"/>
            </a:xfrm>
            <a:custGeom>
              <a:avLst/>
              <a:gdLst/>
              <a:ahLst/>
              <a:cxnLst/>
              <a:rect l="l" t="t" r="r" b="b"/>
              <a:pathLst>
                <a:path w="2539365" h="52069">
                  <a:moveTo>
                    <a:pt x="2538984" y="51816"/>
                  </a:moveTo>
                  <a:lnTo>
                    <a:pt x="0" y="51816"/>
                  </a:lnTo>
                  <a:lnTo>
                    <a:pt x="0" y="0"/>
                  </a:lnTo>
                  <a:lnTo>
                    <a:pt x="2538984" y="0"/>
                  </a:lnTo>
                  <a:lnTo>
                    <a:pt x="2538984" y="51816"/>
                  </a:lnTo>
                  <a:close/>
                </a:path>
              </a:pathLst>
            </a:custGeom>
            <a:solidFill>
              <a:srgbClr val="0E749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825500" y="1590674"/>
            <a:ext cx="63500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&lt; </a:t>
            </a:r>
            <a:r>
              <a:rPr sz="1400" b="1" spc="-20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50ms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04239" y="2120899"/>
            <a:ext cx="1971039" cy="529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ML</a:t>
            </a:r>
            <a:r>
              <a:rPr sz="1100" spc="-3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Inference</a:t>
            </a:r>
            <a:r>
              <a:rPr sz="1100" spc="-2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Latency</a:t>
            </a:r>
            <a:endParaRPr sz="11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Sub-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second</a:t>
            </a:r>
            <a:r>
              <a:rPr sz="1100" spc="-3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RUL</a:t>
            </a:r>
            <a:r>
              <a:rPr sz="1100" spc="-3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&amp;</a:t>
            </a:r>
            <a:r>
              <a:rPr sz="110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failure</a:t>
            </a:r>
            <a:r>
              <a:rPr sz="1100" spc="-3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1E2A3A"/>
                </a:solidFill>
                <a:latin typeface="Arial MT"/>
                <a:cs typeface="Arial MT"/>
              </a:rPr>
              <a:t>risk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scoring</a:t>
            </a:r>
            <a:r>
              <a:rPr sz="1100" spc="-3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on</a:t>
            </a:r>
            <a:r>
              <a:rPr sz="1100" spc="-3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real</a:t>
            </a:r>
            <a:r>
              <a:rPr sz="1100" spc="-2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sensor</a:t>
            </a:r>
            <a:r>
              <a:rPr sz="110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streams.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422650" y="1454150"/>
            <a:ext cx="2552700" cy="1663700"/>
            <a:chOff x="3422650" y="1454150"/>
            <a:chExt cx="2552700" cy="1663700"/>
          </a:xfrm>
        </p:grpSpPr>
        <p:sp>
          <p:nvSpPr>
            <p:cNvPr id="12" name="object 12"/>
            <p:cNvSpPr/>
            <p:nvPr/>
          </p:nvSpPr>
          <p:spPr>
            <a:xfrm>
              <a:off x="3429000" y="1459992"/>
              <a:ext cx="2540635" cy="1652270"/>
            </a:xfrm>
            <a:custGeom>
              <a:avLst/>
              <a:gdLst/>
              <a:ahLst/>
              <a:cxnLst/>
              <a:rect l="l" t="t" r="r" b="b"/>
              <a:pathLst>
                <a:path w="2540635" h="1652270">
                  <a:moveTo>
                    <a:pt x="2540507" y="1652016"/>
                  </a:moveTo>
                  <a:lnTo>
                    <a:pt x="0" y="1652016"/>
                  </a:lnTo>
                  <a:lnTo>
                    <a:pt x="0" y="0"/>
                  </a:lnTo>
                  <a:lnTo>
                    <a:pt x="2540507" y="0"/>
                  </a:lnTo>
                  <a:lnTo>
                    <a:pt x="2540507" y="1652016"/>
                  </a:lnTo>
                  <a:close/>
                </a:path>
              </a:pathLst>
            </a:custGeom>
            <a:solidFill>
              <a:srgbClr val="F1F3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422650" y="1454150"/>
              <a:ext cx="2552700" cy="1663700"/>
            </a:xfrm>
            <a:custGeom>
              <a:avLst/>
              <a:gdLst/>
              <a:ahLst/>
              <a:cxnLst/>
              <a:rect l="l" t="t" r="r" b="b"/>
              <a:pathLst>
                <a:path w="2552700" h="1663700">
                  <a:moveTo>
                    <a:pt x="2552700" y="1663700"/>
                  </a:moveTo>
                  <a:lnTo>
                    <a:pt x="0" y="1663700"/>
                  </a:lnTo>
                  <a:lnTo>
                    <a:pt x="0" y="0"/>
                  </a:lnTo>
                  <a:lnTo>
                    <a:pt x="2552700" y="0"/>
                  </a:lnTo>
                  <a:lnTo>
                    <a:pt x="2552700" y="6350"/>
                  </a:lnTo>
                  <a:lnTo>
                    <a:pt x="12700" y="6350"/>
                  </a:lnTo>
                  <a:lnTo>
                    <a:pt x="6350" y="12700"/>
                  </a:lnTo>
                  <a:lnTo>
                    <a:pt x="12700" y="12700"/>
                  </a:lnTo>
                  <a:lnTo>
                    <a:pt x="12700" y="1651000"/>
                  </a:lnTo>
                  <a:lnTo>
                    <a:pt x="6350" y="1651000"/>
                  </a:lnTo>
                  <a:lnTo>
                    <a:pt x="12700" y="1657350"/>
                  </a:lnTo>
                  <a:lnTo>
                    <a:pt x="2552700" y="1657350"/>
                  </a:lnTo>
                  <a:lnTo>
                    <a:pt x="2552700" y="1663700"/>
                  </a:lnTo>
                  <a:close/>
                </a:path>
                <a:path w="2552700" h="1663700">
                  <a:moveTo>
                    <a:pt x="12700" y="12700"/>
                  </a:moveTo>
                  <a:lnTo>
                    <a:pt x="6350" y="12700"/>
                  </a:lnTo>
                  <a:lnTo>
                    <a:pt x="12700" y="6350"/>
                  </a:lnTo>
                  <a:lnTo>
                    <a:pt x="12700" y="12700"/>
                  </a:lnTo>
                  <a:close/>
                </a:path>
                <a:path w="2552700" h="1663700">
                  <a:moveTo>
                    <a:pt x="2540000" y="12700"/>
                  </a:moveTo>
                  <a:lnTo>
                    <a:pt x="12700" y="12700"/>
                  </a:lnTo>
                  <a:lnTo>
                    <a:pt x="12700" y="6350"/>
                  </a:lnTo>
                  <a:lnTo>
                    <a:pt x="2540000" y="6350"/>
                  </a:lnTo>
                  <a:lnTo>
                    <a:pt x="2540000" y="12700"/>
                  </a:lnTo>
                  <a:close/>
                </a:path>
                <a:path w="2552700" h="1663700">
                  <a:moveTo>
                    <a:pt x="2540000" y="1657350"/>
                  </a:moveTo>
                  <a:lnTo>
                    <a:pt x="2540000" y="6350"/>
                  </a:lnTo>
                  <a:lnTo>
                    <a:pt x="2546350" y="12700"/>
                  </a:lnTo>
                  <a:lnTo>
                    <a:pt x="2552700" y="12700"/>
                  </a:lnTo>
                  <a:lnTo>
                    <a:pt x="2552700" y="1651000"/>
                  </a:lnTo>
                  <a:lnTo>
                    <a:pt x="2546350" y="1651000"/>
                  </a:lnTo>
                  <a:lnTo>
                    <a:pt x="2540000" y="1657350"/>
                  </a:lnTo>
                  <a:close/>
                </a:path>
                <a:path w="2552700" h="1663700">
                  <a:moveTo>
                    <a:pt x="2552700" y="12700"/>
                  </a:moveTo>
                  <a:lnTo>
                    <a:pt x="2546350" y="12700"/>
                  </a:lnTo>
                  <a:lnTo>
                    <a:pt x="2540000" y="6350"/>
                  </a:lnTo>
                  <a:lnTo>
                    <a:pt x="2552700" y="6350"/>
                  </a:lnTo>
                  <a:lnTo>
                    <a:pt x="2552700" y="12700"/>
                  </a:lnTo>
                  <a:close/>
                </a:path>
                <a:path w="2552700" h="1663700">
                  <a:moveTo>
                    <a:pt x="12700" y="1657350"/>
                  </a:moveTo>
                  <a:lnTo>
                    <a:pt x="6350" y="1651000"/>
                  </a:lnTo>
                  <a:lnTo>
                    <a:pt x="12700" y="1651000"/>
                  </a:lnTo>
                  <a:lnTo>
                    <a:pt x="12700" y="1657350"/>
                  </a:lnTo>
                  <a:close/>
                </a:path>
                <a:path w="2552700" h="1663700">
                  <a:moveTo>
                    <a:pt x="2540000" y="1657350"/>
                  </a:moveTo>
                  <a:lnTo>
                    <a:pt x="12700" y="1657350"/>
                  </a:lnTo>
                  <a:lnTo>
                    <a:pt x="12700" y="1651000"/>
                  </a:lnTo>
                  <a:lnTo>
                    <a:pt x="2540000" y="1651000"/>
                  </a:lnTo>
                  <a:lnTo>
                    <a:pt x="2540000" y="1657350"/>
                  </a:lnTo>
                  <a:close/>
                </a:path>
                <a:path w="2552700" h="1663700">
                  <a:moveTo>
                    <a:pt x="2552700" y="1657350"/>
                  </a:moveTo>
                  <a:lnTo>
                    <a:pt x="2540000" y="1657350"/>
                  </a:lnTo>
                  <a:lnTo>
                    <a:pt x="2546350" y="1651000"/>
                  </a:lnTo>
                  <a:lnTo>
                    <a:pt x="2552700" y="1651000"/>
                  </a:lnTo>
                  <a:lnTo>
                    <a:pt x="2552700" y="16573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429000" y="1459992"/>
              <a:ext cx="2540635" cy="52069"/>
            </a:xfrm>
            <a:custGeom>
              <a:avLst/>
              <a:gdLst/>
              <a:ahLst/>
              <a:cxnLst/>
              <a:rect l="l" t="t" r="r" b="b"/>
              <a:pathLst>
                <a:path w="2540635" h="52069">
                  <a:moveTo>
                    <a:pt x="2540507" y="51816"/>
                  </a:moveTo>
                  <a:lnTo>
                    <a:pt x="0" y="51816"/>
                  </a:lnTo>
                  <a:lnTo>
                    <a:pt x="0" y="0"/>
                  </a:lnTo>
                  <a:lnTo>
                    <a:pt x="2540507" y="0"/>
                  </a:lnTo>
                  <a:lnTo>
                    <a:pt x="2540507" y="51816"/>
                  </a:lnTo>
                  <a:close/>
                </a:path>
              </a:pathLst>
            </a:custGeom>
            <a:solidFill>
              <a:srgbClr val="0B8A5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3619500" y="1590674"/>
            <a:ext cx="48133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0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100%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698240" y="2120899"/>
            <a:ext cx="19240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167005">
              <a:lnSpc>
                <a:spcPct val="100000"/>
              </a:lnSpc>
              <a:spcBef>
                <a:spcPts val="105"/>
              </a:spcBef>
            </a:pP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Tri-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Domain</a:t>
            </a:r>
            <a:r>
              <a:rPr sz="1100" spc="-4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Coverage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Trained</a:t>
            </a:r>
            <a:r>
              <a:rPr sz="1100" spc="-5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models</a:t>
            </a:r>
            <a:r>
              <a:rPr sz="1100" spc="-4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covering</a:t>
            </a:r>
            <a:r>
              <a:rPr sz="1100" spc="-4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1E2A3A"/>
                </a:solidFill>
                <a:latin typeface="Arial MT"/>
                <a:cs typeface="Arial MT"/>
              </a:rPr>
              <a:t>Air</a:t>
            </a:r>
            <a:endParaRPr sz="11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(Turbofan),</a:t>
            </a:r>
            <a:r>
              <a:rPr sz="1100" spc="-4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Sea</a:t>
            </a:r>
            <a:r>
              <a:rPr sz="1100" spc="-4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(Bearing),</a:t>
            </a:r>
            <a:r>
              <a:rPr sz="1100" spc="-3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1E2A3A"/>
                </a:solidFill>
                <a:latin typeface="Arial MT"/>
                <a:cs typeface="Arial MT"/>
              </a:rPr>
              <a:t>and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Ground</a:t>
            </a:r>
            <a:r>
              <a:rPr sz="1100" spc="-2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(Armor).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216650" y="1454150"/>
            <a:ext cx="2552700" cy="1663700"/>
            <a:chOff x="6216650" y="1454150"/>
            <a:chExt cx="2552700" cy="1663700"/>
          </a:xfrm>
        </p:grpSpPr>
        <p:sp>
          <p:nvSpPr>
            <p:cNvPr id="18" name="object 18"/>
            <p:cNvSpPr/>
            <p:nvPr/>
          </p:nvSpPr>
          <p:spPr>
            <a:xfrm>
              <a:off x="6222492" y="1459992"/>
              <a:ext cx="2540635" cy="1652270"/>
            </a:xfrm>
            <a:custGeom>
              <a:avLst/>
              <a:gdLst/>
              <a:ahLst/>
              <a:cxnLst/>
              <a:rect l="l" t="t" r="r" b="b"/>
              <a:pathLst>
                <a:path w="2540634" h="1652270">
                  <a:moveTo>
                    <a:pt x="2540508" y="1652016"/>
                  </a:moveTo>
                  <a:lnTo>
                    <a:pt x="0" y="1652016"/>
                  </a:lnTo>
                  <a:lnTo>
                    <a:pt x="0" y="0"/>
                  </a:lnTo>
                  <a:lnTo>
                    <a:pt x="2540508" y="0"/>
                  </a:lnTo>
                  <a:lnTo>
                    <a:pt x="2540508" y="1652016"/>
                  </a:lnTo>
                  <a:close/>
                </a:path>
              </a:pathLst>
            </a:custGeom>
            <a:solidFill>
              <a:srgbClr val="F1F3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6216650" y="1454150"/>
              <a:ext cx="2552700" cy="1663700"/>
            </a:xfrm>
            <a:custGeom>
              <a:avLst/>
              <a:gdLst/>
              <a:ahLst/>
              <a:cxnLst/>
              <a:rect l="l" t="t" r="r" b="b"/>
              <a:pathLst>
                <a:path w="2552700" h="1663700">
                  <a:moveTo>
                    <a:pt x="2552700" y="1663700"/>
                  </a:moveTo>
                  <a:lnTo>
                    <a:pt x="0" y="1663700"/>
                  </a:lnTo>
                  <a:lnTo>
                    <a:pt x="0" y="0"/>
                  </a:lnTo>
                  <a:lnTo>
                    <a:pt x="2552700" y="0"/>
                  </a:lnTo>
                  <a:lnTo>
                    <a:pt x="2552700" y="6350"/>
                  </a:lnTo>
                  <a:lnTo>
                    <a:pt x="12700" y="6350"/>
                  </a:lnTo>
                  <a:lnTo>
                    <a:pt x="6350" y="12700"/>
                  </a:lnTo>
                  <a:lnTo>
                    <a:pt x="12700" y="12700"/>
                  </a:lnTo>
                  <a:lnTo>
                    <a:pt x="12700" y="1651000"/>
                  </a:lnTo>
                  <a:lnTo>
                    <a:pt x="6350" y="1651000"/>
                  </a:lnTo>
                  <a:lnTo>
                    <a:pt x="12700" y="1657350"/>
                  </a:lnTo>
                  <a:lnTo>
                    <a:pt x="2552700" y="1657350"/>
                  </a:lnTo>
                  <a:lnTo>
                    <a:pt x="2552700" y="1663700"/>
                  </a:lnTo>
                  <a:close/>
                </a:path>
                <a:path w="2552700" h="1663700">
                  <a:moveTo>
                    <a:pt x="12700" y="12700"/>
                  </a:moveTo>
                  <a:lnTo>
                    <a:pt x="6350" y="12700"/>
                  </a:lnTo>
                  <a:lnTo>
                    <a:pt x="12700" y="6350"/>
                  </a:lnTo>
                  <a:lnTo>
                    <a:pt x="12700" y="12700"/>
                  </a:lnTo>
                  <a:close/>
                </a:path>
                <a:path w="2552700" h="1663700">
                  <a:moveTo>
                    <a:pt x="2540000" y="12700"/>
                  </a:moveTo>
                  <a:lnTo>
                    <a:pt x="12700" y="12700"/>
                  </a:lnTo>
                  <a:lnTo>
                    <a:pt x="12700" y="6350"/>
                  </a:lnTo>
                  <a:lnTo>
                    <a:pt x="2540000" y="6350"/>
                  </a:lnTo>
                  <a:lnTo>
                    <a:pt x="2540000" y="12700"/>
                  </a:lnTo>
                  <a:close/>
                </a:path>
                <a:path w="2552700" h="1663700">
                  <a:moveTo>
                    <a:pt x="2540000" y="1657350"/>
                  </a:moveTo>
                  <a:lnTo>
                    <a:pt x="2540000" y="6350"/>
                  </a:lnTo>
                  <a:lnTo>
                    <a:pt x="2546350" y="12700"/>
                  </a:lnTo>
                  <a:lnTo>
                    <a:pt x="2552700" y="12700"/>
                  </a:lnTo>
                  <a:lnTo>
                    <a:pt x="2552700" y="1651000"/>
                  </a:lnTo>
                  <a:lnTo>
                    <a:pt x="2546350" y="1651000"/>
                  </a:lnTo>
                  <a:lnTo>
                    <a:pt x="2540000" y="1657350"/>
                  </a:lnTo>
                  <a:close/>
                </a:path>
                <a:path w="2552700" h="1663700">
                  <a:moveTo>
                    <a:pt x="2552700" y="12700"/>
                  </a:moveTo>
                  <a:lnTo>
                    <a:pt x="2546350" y="12700"/>
                  </a:lnTo>
                  <a:lnTo>
                    <a:pt x="2540000" y="6350"/>
                  </a:lnTo>
                  <a:lnTo>
                    <a:pt x="2552700" y="6350"/>
                  </a:lnTo>
                  <a:lnTo>
                    <a:pt x="2552700" y="12700"/>
                  </a:lnTo>
                  <a:close/>
                </a:path>
                <a:path w="2552700" h="1663700">
                  <a:moveTo>
                    <a:pt x="12700" y="1657350"/>
                  </a:moveTo>
                  <a:lnTo>
                    <a:pt x="6350" y="1651000"/>
                  </a:lnTo>
                  <a:lnTo>
                    <a:pt x="12700" y="1651000"/>
                  </a:lnTo>
                  <a:lnTo>
                    <a:pt x="12700" y="1657350"/>
                  </a:lnTo>
                  <a:close/>
                </a:path>
                <a:path w="2552700" h="1663700">
                  <a:moveTo>
                    <a:pt x="2540000" y="1657350"/>
                  </a:moveTo>
                  <a:lnTo>
                    <a:pt x="12700" y="1657350"/>
                  </a:lnTo>
                  <a:lnTo>
                    <a:pt x="12700" y="1651000"/>
                  </a:lnTo>
                  <a:lnTo>
                    <a:pt x="2540000" y="1651000"/>
                  </a:lnTo>
                  <a:lnTo>
                    <a:pt x="2540000" y="1657350"/>
                  </a:lnTo>
                  <a:close/>
                </a:path>
                <a:path w="2552700" h="1663700">
                  <a:moveTo>
                    <a:pt x="2552700" y="1657350"/>
                  </a:moveTo>
                  <a:lnTo>
                    <a:pt x="2540000" y="1657350"/>
                  </a:lnTo>
                  <a:lnTo>
                    <a:pt x="2546350" y="1651000"/>
                  </a:lnTo>
                  <a:lnTo>
                    <a:pt x="2552700" y="1651000"/>
                  </a:lnTo>
                  <a:lnTo>
                    <a:pt x="2552700" y="16573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6222492" y="1459992"/>
              <a:ext cx="2540635" cy="52069"/>
            </a:xfrm>
            <a:custGeom>
              <a:avLst/>
              <a:gdLst/>
              <a:ahLst/>
              <a:cxnLst/>
              <a:rect l="l" t="t" r="r" b="b"/>
              <a:pathLst>
                <a:path w="2540634" h="52069">
                  <a:moveTo>
                    <a:pt x="2540508" y="51816"/>
                  </a:moveTo>
                  <a:lnTo>
                    <a:pt x="0" y="51816"/>
                  </a:lnTo>
                  <a:lnTo>
                    <a:pt x="0" y="0"/>
                  </a:lnTo>
                  <a:lnTo>
                    <a:pt x="2540508" y="0"/>
                  </a:lnTo>
                  <a:lnTo>
                    <a:pt x="2540508" y="51816"/>
                  </a:lnTo>
                  <a:close/>
                </a:path>
              </a:pathLst>
            </a:custGeom>
            <a:solidFill>
              <a:srgbClr val="92650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6413500" y="1590674"/>
            <a:ext cx="96583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92650B"/>
                </a:solidFill>
                <a:latin typeface="Arial" panose="020B0604020202020204"/>
                <a:cs typeface="Arial" panose="020B0604020202020204"/>
              </a:rPr>
              <a:t>85%</a:t>
            </a:r>
            <a:r>
              <a:rPr sz="1400" b="1" spc="-30" dirty="0">
                <a:solidFill>
                  <a:srgbClr val="92650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10" dirty="0">
                <a:solidFill>
                  <a:srgbClr val="92650B"/>
                </a:solidFill>
                <a:latin typeface="Arial" panose="020B0604020202020204"/>
                <a:cs typeface="Arial" panose="020B0604020202020204"/>
              </a:rPr>
              <a:t>Faster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492240" y="2120899"/>
            <a:ext cx="193293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Incident</a:t>
            </a:r>
            <a:r>
              <a:rPr sz="1100" spc="-5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Diagnosis</a:t>
            </a:r>
            <a:r>
              <a:rPr sz="1100" spc="-5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1E2A3A"/>
                </a:solidFill>
                <a:latin typeface="Arial MT"/>
                <a:cs typeface="Arial MT"/>
              </a:rPr>
              <a:t>Time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Replaces</a:t>
            </a:r>
            <a:r>
              <a:rPr sz="1100" spc="-4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manual</a:t>
            </a:r>
            <a:r>
              <a:rPr sz="1100" spc="-4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log</a:t>
            </a:r>
            <a:r>
              <a:rPr sz="1100" spc="-4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searches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with</a:t>
            </a:r>
            <a:r>
              <a:rPr sz="1100" spc="-3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natural</a:t>
            </a:r>
            <a:r>
              <a:rPr sz="1100" spc="-3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conversational copilot.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9010650" y="1454150"/>
            <a:ext cx="2552700" cy="1663700"/>
            <a:chOff x="9010650" y="1454150"/>
            <a:chExt cx="2552700" cy="1663700"/>
          </a:xfrm>
        </p:grpSpPr>
        <p:sp>
          <p:nvSpPr>
            <p:cNvPr id="24" name="object 24"/>
            <p:cNvSpPr/>
            <p:nvPr/>
          </p:nvSpPr>
          <p:spPr>
            <a:xfrm>
              <a:off x="9017508" y="1459992"/>
              <a:ext cx="2539365" cy="1652270"/>
            </a:xfrm>
            <a:custGeom>
              <a:avLst/>
              <a:gdLst/>
              <a:ahLst/>
              <a:cxnLst/>
              <a:rect l="l" t="t" r="r" b="b"/>
              <a:pathLst>
                <a:path w="2539365" h="1652270">
                  <a:moveTo>
                    <a:pt x="2538983" y="1652016"/>
                  </a:moveTo>
                  <a:lnTo>
                    <a:pt x="0" y="1652016"/>
                  </a:lnTo>
                  <a:lnTo>
                    <a:pt x="0" y="0"/>
                  </a:lnTo>
                  <a:lnTo>
                    <a:pt x="2538983" y="0"/>
                  </a:lnTo>
                  <a:lnTo>
                    <a:pt x="2538983" y="1652016"/>
                  </a:lnTo>
                  <a:close/>
                </a:path>
              </a:pathLst>
            </a:custGeom>
            <a:solidFill>
              <a:srgbClr val="F1F3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9010650" y="1454150"/>
              <a:ext cx="2552700" cy="1663700"/>
            </a:xfrm>
            <a:custGeom>
              <a:avLst/>
              <a:gdLst/>
              <a:ahLst/>
              <a:cxnLst/>
              <a:rect l="l" t="t" r="r" b="b"/>
              <a:pathLst>
                <a:path w="2552700" h="1663700">
                  <a:moveTo>
                    <a:pt x="2552700" y="1663700"/>
                  </a:moveTo>
                  <a:lnTo>
                    <a:pt x="0" y="1663700"/>
                  </a:lnTo>
                  <a:lnTo>
                    <a:pt x="0" y="0"/>
                  </a:lnTo>
                  <a:lnTo>
                    <a:pt x="2552700" y="0"/>
                  </a:lnTo>
                  <a:lnTo>
                    <a:pt x="2552700" y="6350"/>
                  </a:lnTo>
                  <a:lnTo>
                    <a:pt x="12700" y="6350"/>
                  </a:lnTo>
                  <a:lnTo>
                    <a:pt x="6350" y="12700"/>
                  </a:lnTo>
                  <a:lnTo>
                    <a:pt x="12700" y="12700"/>
                  </a:lnTo>
                  <a:lnTo>
                    <a:pt x="12700" y="1651000"/>
                  </a:lnTo>
                  <a:lnTo>
                    <a:pt x="6350" y="1651000"/>
                  </a:lnTo>
                  <a:lnTo>
                    <a:pt x="12700" y="1657350"/>
                  </a:lnTo>
                  <a:lnTo>
                    <a:pt x="2552700" y="1657350"/>
                  </a:lnTo>
                  <a:lnTo>
                    <a:pt x="2552700" y="1663700"/>
                  </a:lnTo>
                  <a:close/>
                </a:path>
                <a:path w="2552700" h="1663700">
                  <a:moveTo>
                    <a:pt x="12700" y="12700"/>
                  </a:moveTo>
                  <a:lnTo>
                    <a:pt x="6350" y="12700"/>
                  </a:lnTo>
                  <a:lnTo>
                    <a:pt x="12700" y="6350"/>
                  </a:lnTo>
                  <a:lnTo>
                    <a:pt x="12700" y="12700"/>
                  </a:lnTo>
                  <a:close/>
                </a:path>
                <a:path w="2552700" h="1663700">
                  <a:moveTo>
                    <a:pt x="2540000" y="12700"/>
                  </a:moveTo>
                  <a:lnTo>
                    <a:pt x="12700" y="12700"/>
                  </a:lnTo>
                  <a:lnTo>
                    <a:pt x="12700" y="6350"/>
                  </a:lnTo>
                  <a:lnTo>
                    <a:pt x="2540000" y="6350"/>
                  </a:lnTo>
                  <a:lnTo>
                    <a:pt x="2540000" y="12700"/>
                  </a:lnTo>
                  <a:close/>
                </a:path>
                <a:path w="2552700" h="1663700">
                  <a:moveTo>
                    <a:pt x="2540000" y="1657350"/>
                  </a:moveTo>
                  <a:lnTo>
                    <a:pt x="2540000" y="6350"/>
                  </a:lnTo>
                  <a:lnTo>
                    <a:pt x="2546350" y="12700"/>
                  </a:lnTo>
                  <a:lnTo>
                    <a:pt x="2552700" y="12700"/>
                  </a:lnTo>
                  <a:lnTo>
                    <a:pt x="2552700" y="1651000"/>
                  </a:lnTo>
                  <a:lnTo>
                    <a:pt x="2546350" y="1651000"/>
                  </a:lnTo>
                  <a:lnTo>
                    <a:pt x="2540000" y="1657350"/>
                  </a:lnTo>
                  <a:close/>
                </a:path>
                <a:path w="2552700" h="1663700">
                  <a:moveTo>
                    <a:pt x="2552700" y="12700"/>
                  </a:moveTo>
                  <a:lnTo>
                    <a:pt x="2546350" y="12700"/>
                  </a:lnTo>
                  <a:lnTo>
                    <a:pt x="2540000" y="6350"/>
                  </a:lnTo>
                  <a:lnTo>
                    <a:pt x="2552700" y="6350"/>
                  </a:lnTo>
                  <a:lnTo>
                    <a:pt x="2552700" y="12700"/>
                  </a:lnTo>
                  <a:close/>
                </a:path>
                <a:path w="2552700" h="1663700">
                  <a:moveTo>
                    <a:pt x="12700" y="1657350"/>
                  </a:moveTo>
                  <a:lnTo>
                    <a:pt x="6350" y="1651000"/>
                  </a:lnTo>
                  <a:lnTo>
                    <a:pt x="12700" y="1651000"/>
                  </a:lnTo>
                  <a:lnTo>
                    <a:pt x="12700" y="1657350"/>
                  </a:lnTo>
                  <a:close/>
                </a:path>
                <a:path w="2552700" h="1663700">
                  <a:moveTo>
                    <a:pt x="2540000" y="1657350"/>
                  </a:moveTo>
                  <a:lnTo>
                    <a:pt x="12700" y="1657350"/>
                  </a:lnTo>
                  <a:lnTo>
                    <a:pt x="12700" y="1651000"/>
                  </a:lnTo>
                  <a:lnTo>
                    <a:pt x="2540000" y="1651000"/>
                  </a:lnTo>
                  <a:lnTo>
                    <a:pt x="2540000" y="1657350"/>
                  </a:lnTo>
                  <a:close/>
                </a:path>
                <a:path w="2552700" h="1663700">
                  <a:moveTo>
                    <a:pt x="2552700" y="1657350"/>
                  </a:moveTo>
                  <a:lnTo>
                    <a:pt x="2540000" y="1657350"/>
                  </a:lnTo>
                  <a:lnTo>
                    <a:pt x="2546350" y="1651000"/>
                  </a:lnTo>
                  <a:lnTo>
                    <a:pt x="2552700" y="1651000"/>
                  </a:lnTo>
                  <a:lnTo>
                    <a:pt x="2552700" y="16573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9017508" y="1459992"/>
              <a:ext cx="2539365" cy="52069"/>
            </a:xfrm>
            <a:custGeom>
              <a:avLst/>
              <a:gdLst/>
              <a:ahLst/>
              <a:cxnLst/>
              <a:rect l="l" t="t" r="r" b="b"/>
              <a:pathLst>
                <a:path w="2539365" h="52069">
                  <a:moveTo>
                    <a:pt x="2538983" y="51816"/>
                  </a:moveTo>
                  <a:lnTo>
                    <a:pt x="0" y="51816"/>
                  </a:lnTo>
                  <a:lnTo>
                    <a:pt x="0" y="0"/>
                  </a:lnTo>
                  <a:lnTo>
                    <a:pt x="2538983" y="0"/>
                  </a:lnTo>
                  <a:lnTo>
                    <a:pt x="2538983" y="51816"/>
                  </a:lnTo>
                  <a:close/>
                </a:path>
              </a:pathLst>
            </a:custGeom>
            <a:solidFill>
              <a:srgbClr val="0E749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9207500" y="1590674"/>
            <a:ext cx="77724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Bilingual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286240" y="2120899"/>
            <a:ext cx="193293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Field</a:t>
            </a:r>
            <a:r>
              <a:rPr sz="1100" spc="-5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Accessibility</a:t>
            </a:r>
            <a:endParaRPr sz="11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Native</a:t>
            </a:r>
            <a:r>
              <a:rPr sz="1100" spc="-3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support</a:t>
            </a:r>
            <a:r>
              <a:rPr sz="110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for</a:t>
            </a:r>
            <a:r>
              <a:rPr sz="110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both</a:t>
            </a:r>
            <a:r>
              <a:rPr sz="1100" spc="-2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English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and</a:t>
            </a:r>
            <a:r>
              <a:rPr sz="1100" spc="-4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Hinglish</a:t>
            </a:r>
            <a:r>
              <a:rPr sz="1100" spc="-4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technical terminology.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628650" y="3359150"/>
            <a:ext cx="10934700" cy="2933700"/>
            <a:chOff x="628650" y="3359150"/>
            <a:chExt cx="10934700" cy="2933700"/>
          </a:xfrm>
        </p:grpSpPr>
        <p:sp>
          <p:nvSpPr>
            <p:cNvPr id="30" name="object 30"/>
            <p:cNvSpPr/>
            <p:nvPr/>
          </p:nvSpPr>
          <p:spPr>
            <a:xfrm>
              <a:off x="635508" y="3364992"/>
              <a:ext cx="10921365" cy="2921635"/>
            </a:xfrm>
            <a:custGeom>
              <a:avLst/>
              <a:gdLst/>
              <a:ahLst/>
              <a:cxnLst/>
              <a:rect l="l" t="t" r="r" b="b"/>
              <a:pathLst>
                <a:path w="10921365" h="2921635">
                  <a:moveTo>
                    <a:pt x="10920984" y="2921508"/>
                  </a:moveTo>
                  <a:lnTo>
                    <a:pt x="0" y="2921508"/>
                  </a:lnTo>
                  <a:lnTo>
                    <a:pt x="0" y="0"/>
                  </a:lnTo>
                  <a:lnTo>
                    <a:pt x="10920984" y="0"/>
                  </a:lnTo>
                  <a:lnTo>
                    <a:pt x="10920984" y="2921508"/>
                  </a:lnTo>
                  <a:close/>
                </a:path>
              </a:pathLst>
            </a:custGeom>
            <a:solidFill>
              <a:srgbClr val="F1F3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628650" y="3359150"/>
              <a:ext cx="10934700" cy="2933700"/>
            </a:xfrm>
            <a:custGeom>
              <a:avLst/>
              <a:gdLst/>
              <a:ahLst/>
              <a:cxnLst/>
              <a:rect l="l" t="t" r="r" b="b"/>
              <a:pathLst>
                <a:path w="10934700" h="2933700">
                  <a:moveTo>
                    <a:pt x="10934700" y="2933700"/>
                  </a:moveTo>
                  <a:lnTo>
                    <a:pt x="0" y="2933700"/>
                  </a:lnTo>
                  <a:lnTo>
                    <a:pt x="0" y="0"/>
                  </a:lnTo>
                  <a:lnTo>
                    <a:pt x="10934700" y="0"/>
                  </a:lnTo>
                  <a:lnTo>
                    <a:pt x="10934700" y="6350"/>
                  </a:lnTo>
                  <a:lnTo>
                    <a:pt x="12700" y="6350"/>
                  </a:lnTo>
                  <a:lnTo>
                    <a:pt x="6350" y="12700"/>
                  </a:lnTo>
                  <a:lnTo>
                    <a:pt x="12700" y="12700"/>
                  </a:lnTo>
                  <a:lnTo>
                    <a:pt x="12700" y="2921000"/>
                  </a:lnTo>
                  <a:lnTo>
                    <a:pt x="6350" y="2921000"/>
                  </a:lnTo>
                  <a:lnTo>
                    <a:pt x="12700" y="2927350"/>
                  </a:lnTo>
                  <a:lnTo>
                    <a:pt x="10934700" y="2927350"/>
                  </a:lnTo>
                  <a:lnTo>
                    <a:pt x="10934700" y="2933700"/>
                  </a:lnTo>
                  <a:close/>
                </a:path>
                <a:path w="10934700" h="2933700">
                  <a:moveTo>
                    <a:pt x="12700" y="12700"/>
                  </a:moveTo>
                  <a:lnTo>
                    <a:pt x="6350" y="12700"/>
                  </a:lnTo>
                  <a:lnTo>
                    <a:pt x="12700" y="6350"/>
                  </a:lnTo>
                  <a:lnTo>
                    <a:pt x="12700" y="12700"/>
                  </a:lnTo>
                  <a:close/>
                </a:path>
                <a:path w="10934700" h="2933700">
                  <a:moveTo>
                    <a:pt x="10922000" y="12700"/>
                  </a:moveTo>
                  <a:lnTo>
                    <a:pt x="12700" y="12700"/>
                  </a:lnTo>
                  <a:lnTo>
                    <a:pt x="12700" y="6350"/>
                  </a:lnTo>
                  <a:lnTo>
                    <a:pt x="10922000" y="6350"/>
                  </a:lnTo>
                  <a:lnTo>
                    <a:pt x="10922000" y="12700"/>
                  </a:lnTo>
                  <a:close/>
                </a:path>
                <a:path w="10934700" h="2933700">
                  <a:moveTo>
                    <a:pt x="10922000" y="2927350"/>
                  </a:moveTo>
                  <a:lnTo>
                    <a:pt x="10922000" y="6350"/>
                  </a:lnTo>
                  <a:lnTo>
                    <a:pt x="10928350" y="12700"/>
                  </a:lnTo>
                  <a:lnTo>
                    <a:pt x="10934700" y="12700"/>
                  </a:lnTo>
                  <a:lnTo>
                    <a:pt x="10934700" y="2921000"/>
                  </a:lnTo>
                  <a:lnTo>
                    <a:pt x="10928350" y="2921000"/>
                  </a:lnTo>
                  <a:lnTo>
                    <a:pt x="10922000" y="2927350"/>
                  </a:lnTo>
                  <a:close/>
                </a:path>
                <a:path w="10934700" h="2933700">
                  <a:moveTo>
                    <a:pt x="10934700" y="12700"/>
                  </a:moveTo>
                  <a:lnTo>
                    <a:pt x="10928350" y="12700"/>
                  </a:lnTo>
                  <a:lnTo>
                    <a:pt x="10922000" y="6350"/>
                  </a:lnTo>
                  <a:lnTo>
                    <a:pt x="10934700" y="6350"/>
                  </a:lnTo>
                  <a:lnTo>
                    <a:pt x="10934700" y="12700"/>
                  </a:lnTo>
                  <a:close/>
                </a:path>
                <a:path w="10934700" h="2933700">
                  <a:moveTo>
                    <a:pt x="12700" y="2927350"/>
                  </a:moveTo>
                  <a:lnTo>
                    <a:pt x="6350" y="2921000"/>
                  </a:lnTo>
                  <a:lnTo>
                    <a:pt x="12700" y="2921000"/>
                  </a:lnTo>
                  <a:lnTo>
                    <a:pt x="12700" y="2927350"/>
                  </a:lnTo>
                  <a:close/>
                </a:path>
                <a:path w="10934700" h="2933700">
                  <a:moveTo>
                    <a:pt x="10922000" y="2927350"/>
                  </a:moveTo>
                  <a:lnTo>
                    <a:pt x="12700" y="2927350"/>
                  </a:lnTo>
                  <a:lnTo>
                    <a:pt x="12700" y="2921000"/>
                  </a:lnTo>
                  <a:lnTo>
                    <a:pt x="10922000" y="2921000"/>
                  </a:lnTo>
                  <a:lnTo>
                    <a:pt x="10922000" y="2927350"/>
                  </a:lnTo>
                  <a:close/>
                </a:path>
                <a:path w="10934700" h="2933700">
                  <a:moveTo>
                    <a:pt x="10934700" y="2927350"/>
                  </a:moveTo>
                  <a:lnTo>
                    <a:pt x="10922000" y="2927350"/>
                  </a:lnTo>
                  <a:lnTo>
                    <a:pt x="10928350" y="2921000"/>
                  </a:lnTo>
                  <a:lnTo>
                    <a:pt x="10934700" y="2921000"/>
                  </a:lnTo>
                  <a:lnTo>
                    <a:pt x="10934700" y="29273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635508" y="3364992"/>
              <a:ext cx="10921365" cy="52069"/>
            </a:xfrm>
            <a:custGeom>
              <a:avLst/>
              <a:gdLst/>
              <a:ahLst/>
              <a:cxnLst/>
              <a:rect l="l" t="t" r="r" b="b"/>
              <a:pathLst>
                <a:path w="10921365" h="52070">
                  <a:moveTo>
                    <a:pt x="10920984" y="51815"/>
                  </a:moveTo>
                  <a:lnTo>
                    <a:pt x="0" y="51815"/>
                  </a:lnTo>
                  <a:lnTo>
                    <a:pt x="0" y="0"/>
                  </a:lnTo>
                  <a:lnTo>
                    <a:pt x="10920984" y="0"/>
                  </a:lnTo>
                  <a:lnTo>
                    <a:pt x="10920984" y="51815"/>
                  </a:lnTo>
                  <a:close/>
                </a:path>
              </a:pathLst>
            </a:custGeom>
            <a:solidFill>
              <a:srgbClr val="0B8A5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825500" y="3495675"/>
            <a:ext cx="10079355" cy="23571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Defense</a:t>
            </a:r>
            <a:r>
              <a:rPr sz="1400" b="1" spc="-40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Operational</a:t>
            </a:r>
            <a:r>
              <a:rPr sz="1400" b="1" spc="-30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&amp;</a:t>
            </a:r>
            <a:r>
              <a:rPr sz="1400" b="1" spc="-35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Strategic</a:t>
            </a:r>
            <a:r>
              <a:rPr sz="1400" b="1" spc="-35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10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Value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247015" indent="-92075">
              <a:lnSpc>
                <a:spcPct val="100000"/>
              </a:lnSpc>
              <a:spcBef>
                <a:spcPts val="1495"/>
              </a:spcBef>
              <a:buChar char="•"/>
              <a:tabLst>
                <a:tab pos="247015" algn="l"/>
              </a:tabLst>
            </a:pP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Zero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In-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Mission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Breakdown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Policy:</a:t>
            </a:r>
            <a:endParaRPr sz="1150">
              <a:latin typeface="Arial MT"/>
              <a:cs typeface="Arial MT"/>
            </a:endParaRPr>
          </a:p>
          <a:p>
            <a:pPr marL="154940">
              <a:lnSpc>
                <a:spcPct val="100000"/>
              </a:lnSpc>
            </a:pP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Predicting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remaining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useful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life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before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dispatch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ensures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combat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units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are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never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stranded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in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enemy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engagement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zones.</a:t>
            </a:r>
            <a:endParaRPr sz="11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150">
              <a:latin typeface="Arial MT"/>
              <a:cs typeface="Arial MT"/>
            </a:endParaRPr>
          </a:p>
          <a:p>
            <a:pPr marL="247015" indent="-92075">
              <a:lnSpc>
                <a:spcPct val="100000"/>
              </a:lnSpc>
              <a:buChar char="•"/>
              <a:tabLst>
                <a:tab pos="247015" algn="l"/>
              </a:tabLst>
            </a:pP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Substantial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Lifecycle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Cost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Reductions:</a:t>
            </a:r>
            <a:endParaRPr sz="1150">
              <a:latin typeface="Arial MT"/>
              <a:cs typeface="Arial MT"/>
            </a:endParaRPr>
          </a:p>
          <a:p>
            <a:pPr marL="154940">
              <a:lnSpc>
                <a:spcPct val="100000"/>
              </a:lnSpc>
            </a:pP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Condition-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based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maintenance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eliminates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premature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teardowns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of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multi-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million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dollar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turbofan engines,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maximizing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component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utility.</a:t>
            </a:r>
            <a:endParaRPr sz="11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150">
              <a:latin typeface="Arial MT"/>
              <a:cs typeface="Arial MT"/>
            </a:endParaRPr>
          </a:p>
          <a:p>
            <a:pPr marL="247015" indent="-92075">
              <a:lnSpc>
                <a:spcPct val="100000"/>
              </a:lnSpc>
              <a:buChar char="•"/>
              <a:tabLst>
                <a:tab pos="247015" algn="l"/>
              </a:tabLst>
            </a:pP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Immediate</a:t>
            </a:r>
            <a:r>
              <a:rPr sz="1150" spc="-2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Ground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Crew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Usability:</a:t>
            </a:r>
            <a:endParaRPr sz="1150">
              <a:latin typeface="Arial MT"/>
              <a:cs typeface="Arial MT"/>
            </a:endParaRPr>
          </a:p>
          <a:p>
            <a:pPr marL="154940">
              <a:lnSpc>
                <a:spcPct val="100000"/>
              </a:lnSpc>
            </a:pP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Junior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depot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technicians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can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query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complex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vibration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and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thermodynamic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anomalies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in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natural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colloquial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language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without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deep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data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science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knowledge.</a:t>
            </a:r>
            <a:endParaRPr sz="11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150">
              <a:latin typeface="Arial MT"/>
              <a:cs typeface="Arial MT"/>
            </a:endParaRPr>
          </a:p>
          <a:p>
            <a:pPr marL="247015" indent="-92075">
              <a:lnSpc>
                <a:spcPct val="100000"/>
              </a:lnSpc>
              <a:buChar char="•"/>
              <a:tabLst>
                <a:tab pos="247015" algn="l"/>
              </a:tabLst>
            </a:pP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Resilient</a:t>
            </a:r>
            <a:r>
              <a:rPr sz="115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Offline</a:t>
            </a:r>
            <a:r>
              <a:rPr sz="115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Capability:</a:t>
            </a:r>
            <a:endParaRPr sz="1150">
              <a:latin typeface="Arial MT"/>
              <a:cs typeface="Arial MT"/>
            </a:endParaRPr>
          </a:p>
          <a:p>
            <a:pPr marL="154940">
              <a:lnSpc>
                <a:spcPct val="100000"/>
              </a:lnSpc>
            </a:pP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Equipped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with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local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fallback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RAG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ensuring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copilot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operation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continues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even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during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tactical</a:t>
            </a:r>
            <a:r>
              <a:rPr sz="1150" spc="-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electronic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jamming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or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E2A3A"/>
                </a:solidFill>
                <a:latin typeface="Arial MT"/>
                <a:cs typeface="Arial MT"/>
              </a:rPr>
              <a:t>remote</a:t>
            </a:r>
            <a:r>
              <a:rPr sz="1150" spc="-10" dirty="0">
                <a:solidFill>
                  <a:srgbClr val="1E2A3A"/>
                </a:solidFill>
                <a:latin typeface="Arial MT"/>
                <a:cs typeface="Arial MT"/>
              </a:rPr>
              <a:t> disconnection.</a:t>
            </a:r>
            <a:endParaRPr sz="11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76400" y="287019"/>
            <a:ext cx="673100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1000" b="1" spc="-15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00" b="1" spc="-20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TEAM</a:t>
            </a:r>
            <a:endParaRPr sz="1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743200" y="522604"/>
            <a:ext cx="8486775" cy="3600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Team</a:t>
            </a:r>
            <a:r>
              <a:rPr spc="-35" dirty="0"/>
              <a:t> </a:t>
            </a:r>
            <a:r>
              <a:rPr dirty="0"/>
              <a:t>X:</a:t>
            </a:r>
            <a:r>
              <a:rPr spc="-35" dirty="0"/>
              <a:t> </a:t>
            </a:r>
            <a:r>
              <a:rPr spc="-10" dirty="0"/>
              <a:t>Multidisciplinary</a:t>
            </a:r>
            <a:r>
              <a:rPr spc="-30" dirty="0"/>
              <a:t> </a:t>
            </a:r>
            <a:r>
              <a:rPr spc="-10" dirty="0"/>
              <a:t>Defense</a:t>
            </a:r>
            <a:r>
              <a:rPr spc="-114" dirty="0"/>
              <a:t> </a:t>
            </a:r>
            <a:r>
              <a:rPr dirty="0"/>
              <a:t>AI</a:t>
            </a:r>
            <a:r>
              <a:rPr spc="-35" dirty="0"/>
              <a:t> </a:t>
            </a:r>
            <a:r>
              <a:rPr spc="-10" dirty="0"/>
              <a:t>Engineering</a:t>
            </a:r>
            <a:endParaRPr spc="-10" dirty="0"/>
          </a:p>
        </p:txBody>
      </p:sp>
      <p:sp>
        <p:nvSpPr>
          <p:cNvPr id="4" name="object 4"/>
          <p:cNvSpPr txBox="1"/>
          <p:nvPr/>
        </p:nvSpPr>
        <p:spPr>
          <a:xfrm>
            <a:off x="3505200" y="998219"/>
            <a:ext cx="44735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Clear</a:t>
            </a:r>
            <a:r>
              <a:rPr sz="1200" spc="-30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roles,</a:t>
            </a:r>
            <a:r>
              <a:rPr sz="1200" spc="-25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collaborative</a:t>
            </a:r>
            <a:r>
              <a:rPr sz="1200" spc="-30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ownership,</a:t>
            </a:r>
            <a:r>
              <a:rPr sz="1200" spc="-30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and</a:t>
            </a:r>
            <a:r>
              <a:rPr sz="1200" spc="-30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what</a:t>
            </a:r>
            <a:r>
              <a:rPr sz="1200" spc="-25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each</a:t>
            </a:r>
            <a:r>
              <a:rPr sz="1200" spc="-30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6472"/>
                </a:solidFill>
                <a:latin typeface="Arial MT"/>
                <a:cs typeface="Arial MT"/>
              </a:rPr>
              <a:t>member</a:t>
            </a:r>
            <a:r>
              <a:rPr sz="1200" spc="-30" dirty="0">
                <a:solidFill>
                  <a:srgbClr val="5B6472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5B6472"/>
                </a:solidFill>
                <a:latin typeface="Arial MT"/>
                <a:cs typeface="Arial MT"/>
              </a:rPr>
              <a:t>built.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28650" y="1454150"/>
            <a:ext cx="2616200" cy="3441700"/>
            <a:chOff x="628650" y="1454150"/>
            <a:chExt cx="2616200" cy="3441700"/>
          </a:xfrm>
        </p:grpSpPr>
        <p:sp>
          <p:nvSpPr>
            <p:cNvPr id="6" name="object 6"/>
            <p:cNvSpPr/>
            <p:nvPr/>
          </p:nvSpPr>
          <p:spPr>
            <a:xfrm>
              <a:off x="635508" y="1459992"/>
              <a:ext cx="2603500" cy="3429000"/>
            </a:xfrm>
            <a:custGeom>
              <a:avLst/>
              <a:gdLst/>
              <a:ahLst/>
              <a:cxnLst/>
              <a:rect l="l" t="t" r="r" b="b"/>
              <a:pathLst>
                <a:path w="2603500" h="3429000">
                  <a:moveTo>
                    <a:pt x="2602992" y="3429000"/>
                  </a:moveTo>
                  <a:lnTo>
                    <a:pt x="0" y="3429000"/>
                  </a:lnTo>
                  <a:lnTo>
                    <a:pt x="0" y="0"/>
                  </a:lnTo>
                  <a:lnTo>
                    <a:pt x="2602992" y="0"/>
                  </a:lnTo>
                  <a:lnTo>
                    <a:pt x="2602992" y="3429000"/>
                  </a:lnTo>
                  <a:close/>
                </a:path>
              </a:pathLst>
            </a:custGeom>
            <a:solidFill>
              <a:srgbClr val="F1F3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28650" y="1454150"/>
              <a:ext cx="2616200" cy="3441700"/>
            </a:xfrm>
            <a:custGeom>
              <a:avLst/>
              <a:gdLst/>
              <a:ahLst/>
              <a:cxnLst/>
              <a:rect l="l" t="t" r="r" b="b"/>
              <a:pathLst>
                <a:path w="2616200" h="3441700">
                  <a:moveTo>
                    <a:pt x="2616200" y="3441700"/>
                  </a:moveTo>
                  <a:lnTo>
                    <a:pt x="0" y="3441700"/>
                  </a:lnTo>
                  <a:lnTo>
                    <a:pt x="0" y="0"/>
                  </a:lnTo>
                  <a:lnTo>
                    <a:pt x="2616200" y="0"/>
                  </a:lnTo>
                  <a:lnTo>
                    <a:pt x="2616200" y="6350"/>
                  </a:lnTo>
                  <a:lnTo>
                    <a:pt x="12700" y="6350"/>
                  </a:lnTo>
                  <a:lnTo>
                    <a:pt x="6350" y="12700"/>
                  </a:lnTo>
                  <a:lnTo>
                    <a:pt x="12700" y="12700"/>
                  </a:lnTo>
                  <a:lnTo>
                    <a:pt x="12700" y="3429000"/>
                  </a:lnTo>
                  <a:lnTo>
                    <a:pt x="6350" y="3429000"/>
                  </a:lnTo>
                  <a:lnTo>
                    <a:pt x="12700" y="3435350"/>
                  </a:lnTo>
                  <a:lnTo>
                    <a:pt x="2616200" y="3435350"/>
                  </a:lnTo>
                  <a:lnTo>
                    <a:pt x="2616200" y="3441700"/>
                  </a:lnTo>
                  <a:close/>
                </a:path>
                <a:path w="2616200" h="3441700">
                  <a:moveTo>
                    <a:pt x="12700" y="12700"/>
                  </a:moveTo>
                  <a:lnTo>
                    <a:pt x="6350" y="12700"/>
                  </a:lnTo>
                  <a:lnTo>
                    <a:pt x="12700" y="6350"/>
                  </a:lnTo>
                  <a:lnTo>
                    <a:pt x="12700" y="12700"/>
                  </a:lnTo>
                  <a:close/>
                </a:path>
                <a:path w="2616200" h="3441700">
                  <a:moveTo>
                    <a:pt x="2603500" y="12700"/>
                  </a:moveTo>
                  <a:lnTo>
                    <a:pt x="12700" y="12700"/>
                  </a:lnTo>
                  <a:lnTo>
                    <a:pt x="12700" y="6350"/>
                  </a:lnTo>
                  <a:lnTo>
                    <a:pt x="2603500" y="6350"/>
                  </a:lnTo>
                  <a:lnTo>
                    <a:pt x="2603500" y="12700"/>
                  </a:lnTo>
                  <a:close/>
                </a:path>
                <a:path w="2616200" h="3441700">
                  <a:moveTo>
                    <a:pt x="2603500" y="3435350"/>
                  </a:moveTo>
                  <a:lnTo>
                    <a:pt x="2603500" y="6350"/>
                  </a:lnTo>
                  <a:lnTo>
                    <a:pt x="2609850" y="12700"/>
                  </a:lnTo>
                  <a:lnTo>
                    <a:pt x="2616200" y="12700"/>
                  </a:lnTo>
                  <a:lnTo>
                    <a:pt x="2616200" y="3429000"/>
                  </a:lnTo>
                  <a:lnTo>
                    <a:pt x="2609850" y="3429000"/>
                  </a:lnTo>
                  <a:lnTo>
                    <a:pt x="2603500" y="3435350"/>
                  </a:lnTo>
                  <a:close/>
                </a:path>
                <a:path w="2616200" h="3441700">
                  <a:moveTo>
                    <a:pt x="2616200" y="12700"/>
                  </a:moveTo>
                  <a:lnTo>
                    <a:pt x="2609850" y="12700"/>
                  </a:lnTo>
                  <a:lnTo>
                    <a:pt x="2603500" y="6350"/>
                  </a:lnTo>
                  <a:lnTo>
                    <a:pt x="2616200" y="6350"/>
                  </a:lnTo>
                  <a:lnTo>
                    <a:pt x="2616200" y="12700"/>
                  </a:lnTo>
                  <a:close/>
                </a:path>
                <a:path w="2616200" h="3441700">
                  <a:moveTo>
                    <a:pt x="12700" y="3435350"/>
                  </a:moveTo>
                  <a:lnTo>
                    <a:pt x="6350" y="3429000"/>
                  </a:lnTo>
                  <a:lnTo>
                    <a:pt x="12700" y="3429000"/>
                  </a:lnTo>
                  <a:lnTo>
                    <a:pt x="12700" y="3435350"/>
                  </a:lnTo>
                  <a:close/>
                </a:path>
                <a:path w="2616200" h="3441700">
                  <a:moveTo>
                    <a:pt x="2603500" y="3435350"/>
                  </a:moveTo>
                  <a:lnTo>
                    <a:pt x="12700" y="3435350"/>
                  </a:lnTo>
                  <a:lnTo>
                    <a:pt x="12700" y="3429000"/>
                  </a:lnTo>
                  <a:lnTo>
                    <a:pt x="2603500" y="3429000"/>
                  </a:lnTo>
                  <a:lnTo>
                    <a:pt x="2603500" y="3435350"/>
                  </a:lnTo>
                  <a:close/>
                </a:path>
                <a:path w="2616200" h="3441700">
                  <a:moveTo>
                    <a:pt x="2616200" y="3435350"/>
                  </a:moveTo>
                  <a:lnTo>
                    <a:pt x="2603500" y="3435350"/>
                  </a:lnTo>
                  <a:lnTo>
                    <a:pt x="2609850" y="3429000"/>
                  </a:lnTo>
                  <a:lnTo>
                    <a:pt x="2616200" y="3429000"/>
                  </a:lnTo>
                  <a:lnTo>
                    <a:pt x="2616200" y="34353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35508" y="1459992"/>
              <a:ext cx="2603500" cy="52069"/>
            </a:xfrm>
            <a:custGeom>
              <a:avLst/>
              <a:gdLst/>
              <a:ahLst/>
              <a:cxnLst/>
              <a:rect l="l" t="t" r="r" b="b"/>
              <a:pathLst>
                <a:path w="2603500" h="52069">
                  <a:moveTo>
                    <a:pt x="2602992" y="51816"/>
                  </a:moveTo>
                  <a:lnTo>
                    <a:pt x="0" y="51816"/>
                  </a:lnTo>
                  <a:lnTo>
                    <a:pt x="0" y="0"/>
                  </a:lnTo>
                  <a:lnTo>
                    <a:pt x="2602992" y="0"/>
                  </a:lnTo>
                  <a:lnTo>
                    <a:pt x="2602992" y="51816"/>
                  </a:lnTo>
                  <a:close/>
                </a:path>
              </a:pathLst>
            </a:custGeom>
            <a:solidFill>
              <a:srgbClr val="0E749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825500" y="1590674"/>
            <a:ext cx="94234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0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Team</a:t>
            </a:r>
            <a:r>
              <a:rPr sz="1400" b="1" spc="-60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20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Lead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66139" y="1993899"/>
            <a:ext cx="1592580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Role:</a:t>
            </a:r>
            <a:r>
              <a:rPr sz="110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Full-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Stack</a:t>
            </a:r>
            <a:r>
              <a:rPr sz="110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Architect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66139" y="2329180"/>
            <a:ext cx="1842770" cy="1535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What</a:t>
            </a:r>
            <a:r>
              <a:rPr sz="110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Built:</a:t>
            </a:r>
            <a:endParaRPr sz="1100">
              <a:latin typeface="Arial MT"/>
              <a:cs typeface="Arial MT"/>
            </a:endParaRPr>
          </a:p>
          <a:p>
            <a:pPr marL="99060" indent="-86360">
              <a:lnSpc>
                <a:spcPct val="100000"/>
              </a:lnSpc>
              <a:buChar char="•"/>
              <a:tabLst>
                <a:tab pos="99060" algn="l"/>
              </a:tabLst>
            </a:pP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Overall</a:t>
            </a:r>
            <a:r>
              <a:rPr sz="1100" spc="-3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System</a:t>
            </a:r>
            <a:r>
              <a:rPr sz="1100" spc="-3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Architecture</a:t>
            </a:r>
            <a:endParaRPr sz="1100">
              <a:latin typeface="Arial MT"/>
              <a:cs typeface="Arial MT"/>
            </a:endParaRPr>
          </a:p>
          <a:p>
            <a:pPr marL="99060" indent="-86360">
              <a:lnSpc>
                <a:spcPct val="100000"/>
              </a:lnSpc>
              <a:buChar char="•"/>
              <a:tabLst>
                <a:tab pos="99060" algn="l"/>
              </a:tabLst>
            </a:pP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FastAPI</a:t>
            </a:r>
            <a:r>
              <a:rPr sz="1100" spc="-4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Backend</a:t>
            </a:r>
            <a:r>
              <a:rPr sz="1100" spc="-4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1E2A3A"/>
                </a:solidFill>
                <a:latin typeface="Arial MT"/>
                <a:cs typeface="Arial MT"/>
              </a:rPr>
              <a:t>Core</a:t>
            </a:r>
            <a:endParaRPr sz="1100">
              <a:latin typeface="Arial MT"/>
              <a:cs typeface="Arial MT"/>
            </a:endParaRPr>
          </a:p>
          <a:p>
            <a:pPr marL="12700" marR="361950" indent="86360">
              <a:lnSpc>
                <a:spcPct val="100000"/>
              </a:lnSpc>
              <a:buChar char="•"/>
              <a:tabLst>
                <a:tab pos="99060" algn="l"/>
              </a:tabLst>
            </a:pP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WebSocket</a:t>
            </a:r>
            <a:r>
              <a:rPr sz="1100" spc="-5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Telemetry Streaming</a:t>
            </a:r>
            <a:endParaRPr sz="1100">
              <a:latin typeface="Arial MT"/>
              <a:cs typeface="Arial MT"/>
            </a:endParaRPr>
          </a:p>
          <a:p>
            <a:pPr marL="12700" marR="454660" indent="86360">
              <a:lnSpc>
                <a:spcPct val="100000"/>
              </a:lnSpc>
              <a:buChar char="•"/>
              <a:tabLst>
                <a:tab pos="99060" algn="l"/>
              </a:tabLst>
            </a:pP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Database</a:t>
            </a:r>
            <a:r>
              <a:rPr sz="1100" spc="-5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Schema</a:t>
            </a:r>
            <a:r>
              <a:rPr sz="1100" spc="-4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50" dirty="0">
                <a:solidFill>
                  <a:srgbClr val="1E2A3A"/>
                </a:solidFill>
                <a:latin typeface="Arial MT"/>
                <a:cs typeface="Arial MT"/>
              </a:rPr>
              <a:t>&amp;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Persistence</a:t>
            </a:r>
            <a:endParaRPr sz="1100">
              <a:latin typeface="Arial MT"/>
              <a:cs typeface="Arial MT"/>
            </a:endParaRPr>
          </a:p>
          <a:p>
            <a:pPr marL="12700" marR="439420" indent="86360">
              <a:lnSpc>
                <a:spcPct val="100000"/>
              </a:lnSpc>
              <a:buChar char="•"/>
              <a:tabLst>
                <a:tab pos="99060" algn="l"/>
              </a:tabLst>
            </a:pP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System</a:t>
            </a:r>
            <a:r>
              <a:rPr sz="1100" spc="-4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Integration</a:t>
            </a:r>
            <a:r>
              <a:rPr sz="1100" spc="-4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50" dirty="0">
                <a:solidFill>
                  <a:srgbClr val="1E2A3A"/>
                </a:solidFill>
                <a:latin typeface="Arial MT"/>
                <a:cs typeface="Arial MT"/>
              </a:rPr>
              <a:t>&amp;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Deployment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397250" y="1454150"/>
            <a:ext cx="2616200" cy="3441700"/>
            <a:chOff x="3397250" y="1454150"/>
            <a:chExt cx="2616200" cy="3441700"/>
          </a:xfrm>
        </p:grpSpPr>
        <p:sp>
          <p:nvSpPr>
            <p:cNvPr id="13" name="object 13"/>
            <p:cNvSpPr/>
            <p:nvPr/>
          </p:nvSpPr>
          <p:spPr>
            <a:xfrm>
              <a:off x="3403092" y="1459992"/>
              <a:ext cx="2604770" cy="3429000"/>
            </a:xfrm>
            <a:custGeom>
              <a:avLst/>
              <a:gdLst/>
              <a:ahLst/>
              <a:cxnLst/>
              <a:rect l="l" t="t" r="r" b="b"/>
              <a:pathLst>
                <a:path w="2604770" h="3429000">
                  <a:moveTo>
                    <a:pt x="2604516" y="3429000"/>
                  </a:moveTo>
                  <a:lnTo>
                    <a:pt x="0" y="3429000"/>
                  </a:lnTo>
                  <a:lnTo>
                    <a:pt x="0" y="0"/>
                  </a:lnTo>
                  <a:lnTo>
                    <a:pt x="2604516" y="0"/>
                  </a:lnTo>
                  <a:lnTo>
                    <a:pt x="2604516" y="3429000"/>
                  </a:lnTo>
                  <a:close/>
                </a:path>
              </a:pathLst>
            </a:custGeom>
            <a:solidFill>
              <a:srgbClr val="F1F3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397250" y="1454150"/>
              <a:ext cx="2616200" cy="3441700"/>
            </a:xfrm>
            <a:custGeom>
              <a:avLst/>
              <a:gdLst/>
              <a:ahLst/>
              <a:cxnLst/>
              <a:rect l="l" t="t" r="r" b="b"/>
              <a:pathLst>
                <a:path w="2616200" h="3441700">
                  <a:moveTo>
                    <a:pt x="2616200" y="3441700"/>
                  </a:moveTo>
                  <a:lnTo>
                    <a:pt x="0" y="3441700"/>
                  </a:lnTo>
                  <a:lnTo>
                    <a:pt x="0" y="0"/>
                  </a:lnTo>
                  <a:lnTo>
                    <a:pt x="2616200" y="0"/>
                  </a:lnTo>
                  <a:lnTo>
                    <a:pt x="2616200" y="6350"/>
                  </a:lnTo>
                  <a:lnTo>
                    <a:pt x="12700" y="6350"/>
                  </a:lnTo>
                  <a:lnTo>
                    <a:pt x="6350" y="12700"/>
                  </a:lnTo>
                  <a:lnTo>
                    <a:pt x="12700" y="12700"/>
                  </a:lnTo>
                  <a:lnTo>
                    <a:pt x="12700" y="3429000"/>
                  </a:lnTo>
                  <a:lnTo>
                    <a:pt x="6350" y="3429000"/>
                  </a:lnTo>
                  <a:lnTo>
                    <a:pt x="12700" y="3435350"/>
                  </a:lnTo>
                  <a:lnTo>
                    <a:pt x="2616200" y="3435350"/>
                  </a:lnTo>
                  <a:lnTo>
                    <a:pt x="2616200" y="3441700"/>
                  </a:lnTo>
                  <a:close/>
                </a:path>
                <a:path w="2616200" h="3441700">
                  <a:moveTo>
                    <a:pt x="12700" y="12700"/>
                  </a:moveTo>
                  <a:lnTo>
                    <a:pt x="6350" y="12700"/>
                  </a:lnTo>
                  <a:lnTo>
                    <a:pt x="12700" y="6350"/>
                  </a:lnTo>
                  <a:lnTo>
                    <a:pt x="12700" y="12700"/>
                  </a:lnTo>
                  <a:close/>
                </a:path>
                <a:path w="2616200" h="3441700">
                  <a:moveTo>
                    <a:pt x="2603500" y="12700"/>
                  </a:moveTo>
                  <a:lnTo>
                    <a:pt x="12700" y="12700"/>
                  </a:lnTo>
                  <a:lnTo>
                    <a:pt x="12700" y="6350"/>
                  </a:lnTo>
                  <a:lnTo>
                    <a:pt x="2603500" y="6350"/>
                  </a:lnTo>
                  <a:lnTo>
                    <a:pt x="2603500" y="12700"/>
                  </a:lnTo>
                  <a:close/>
                </a:path>
                <a:path w="2616200" h="3441700">
                  <a:moveTo>
                    <a:pt x="2603500" y="3435350"/>
                  </a:moveTo>
                  <a:lnTo>
                    <a:pt x="2603500" y="6350"/>
                  </a:lnTo>
                  <a:lnTo>
                    <a:pt x="2609850" y="12700"/>
                  </a:lnTo>
                  <a:lnTo>
                    <a:pt x="2616200" y="12700"/>
                  </a:lnTo>
                  <a:lnTo>
                    <a:pt x="2616200" y="3429000"/>
                  </a:lnTo>
                  <a:lnTo>
                    <a:pt x="2609850" y="3429000"/>
                  </a:lnTo>
                  <a:lnTo>
                    <a:pt x="2603500" y="3435350"/>
                  </a:lnTo>
                  <a:close/>
                </a:path>
                <a:path w="2616200" h="3441700">
                  <a:moveTo>
                    <a:pt x="2616200" y="12700"/>
                  </a:moveTo>
                  <a:lnTo>
                    <a:pt x="2609850" y="12700"/>
                  </a:lnTo>
                  <a:lnTo>
                    <a:pt x="2603500" y="6350"/>
                  </a:lnTo>
                  <a:lnTo>
                    <a:pt x="2616200" y="6350"/>
                  </a:lnTo>
                  <a:lnTo>
                    <a:pt x="2616200" y="12700"/>
                  </a:lnTo>
                  <a:close/>
                </a:path>
                <a:path w="2616200" h="3441700">
                  <a:moveTo>
                    <a:pt x="12700" y="3435350"/>
                  </a:moveTo>
                  <a:lnTo>
                    <a:pt x="6350" y="3429000"/>
                  </a:lnTo>
                  <a:lnTo>
                    <a:pt x="12700" y="3429000"/>
                  </a:lnTo>
                  <a:lnTo>
                    <a:pt x="12700" y="3435350"/>
                  </a:lnTo>
                  <a:close/>
                </a:path>
                <a:path w="2616200" h="3441700">
                  <a:moveTo>
                    <a:pt x="2603500" y="3435350"/>
                  </a:moveTo>
                  <a:lnTo>
                    <a:pt x="12700" y="3435350"/>
                  </a:lnTo>
                  <a:lnTo>
                    <a:pt x="12700" y="3429000"/>
                  </a:lnTo>
                  <a:lnTo>
                    <a:pt x="2603500" y="3429000"/>
                  </a:lnTo>
                  <a:lnTo>
                    <a:pt x="2603500" y="3435350"/>
                  </a:lnTo>
                  <a:close/>
                </a:path>
                <a:path w="2616200" h="3441700">
                  <a:moveTo>
                    <a:pt x="2616200" y="3435350"/>
                  </a:moveTo>
                  <a:lnTo>
                    <a:pt x="2603500" y="3435350"/>
                  </a:lnTo>
                  <a:lnTo>
                    <a:pt x="2609850" y="3429000"/>
                  </a:lnTo>
                  <a:lnTo>
                    <a:pt x="2616200" y="3429000"/>
                  </a:lnTo>
                  <a:lnTo>
                    <a:pt x="2616200" y="34353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403092" y="1459992"/>
              <a:ext cx="2604770" cy="52069"/>
            </a:xfrm>
            <a:custGeom>
              <a:avLst/>
              <a:gdLst/>
              <a:ahLst/>
              <a:cxnLst/>
              <a:rect l="l" t="t" r="r" b="b"/>
              <a:pathLst>
                <a:path w="2604770" h="52069">
                  <a:moveTo>
                    <a:pt x="2604516" y="51816"/>
                  </a:moveTo>
                  <a:lnTo>
                    <a:pt x="0" y="51816"/>
                  </a:lnTo>
                  <a:lnTo>
                    <a:pt x="0" y="0"/>
                  </a:lnTo>
                  <a:lnTo>
                    <a:pt x="2604516" y="0"/>
                  </a:lnTo>
                  <a:lnTo>
                    <a:pt x="2604516" y="51816"/>
                  </a:lnTo>
                  <a:close/>
                </a:path>
              </a:pathLst>
            </a:custGeom>
            <a:solidFill>
              <a:srgbClr val="0B8A5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3594100" y="1590674"/>
            <a:ext cx="108966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ML</a:t>
            </a:r>
            <a:r>
              <a:rPr sz="1400" b="1" spc="-45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10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Engineer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634740" y="1993899"/>
            <a:ext cx="1607820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Role:</a:t>
            </a:r>
            <a:r>
              <a:rPr sz="1100" spc="-5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Predictive</a:t>
            </a:r>
            <a:r>
              <a:rPr sz="1100" spc="-4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Modeling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634740" y="2329180"/>
            <a:ext cx="1911985" cy="1032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What</a:t>
            </a:r>
            <a:r>
              <a:rPr sz="110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Built:</a:t>
            </a:r>
            <a:endParaRPr sz="1100">
              <a:latin typeface="Arial MT"/>
              <a:cs typeface="Arial MT"/>
            </a:endParaRPr>
          </a:p>
          <a:p>
            <a:pPr marL="99060" indent="-86360">
              <a:lnSpc>
                <a:spcPct val="100000"/>
              </a:lnSpc>
              <a:buChar char="•"/>
              <a:tabLst>
                <a:tab pos="99060" algn="l"/>
              </a:tabLst>
            </a:pP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NASA</a:t>
            </a:r>
            <a:r>
              <a:rPr sz="1100" spc="-6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N-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CMAPSS</a:t>
            </a:r>
            <a:r>
              <a:rPr sz="1100" spc="-6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1E2A3A"/>
                </a:solidFill>
                <a:latin typeface="Arial MT"/>
                <a:cs typeface="Arial MT"/>
              </a:rPr>
              <a:t>Model</a:t>
            </a:r>
            <a:endParaRPr sz="1100">
              <a:latin typeface="Arial MT"/>
              <a:cs typeface="Arial MT"/>
            </a:endParaRPr>
          </a:p>
          <a:p>
            <a:pPr marL="99060" indent="-86360">
              <a:lnSpc>
                <a:spcPct val="100000"/>
              </a:lnSpc>
              <a:buChar char="•"/>
              <a:tabLst>
                <a:tab pos="99060" algn="l"/>
              </a:tabLst>
            </a:pP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NASA</a:t>
            </a:r>
            <a:r>
              <a:rPr sz="1100" spc="-4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IMS</a:t>
            </a:r>
            <a:r>
              <a:rPr sz="1100" spc="-4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Bearing</a:t>
            </a:r>
            <a:r>
              <a:rPr sz="1100" spc="-4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1E2A3A"/>
                </a:solidFill>
                <a:latin typeface="Arial MT"/>
                <a:cs typeface="Arial MT"/>
              </a:rPr>
              <a:t>Model</a:t>
            </a:r>
            <a:endParaRPr sz="1100">
              <a:latin typeface="Arial MT"/>
              <a:cs typeface="Arial MT"/>
            </a:endParaRPr>
          </a:p>
          <a:p>
            <a:pPr marL="99060" indent="-86360">
              <a:lnSpc>
                <a:spcPct val="100000"/>
              </a:lnSpc>
              <a:buChar char="•"/>
              <a:tabLst>
                <a:tab pos="99060" algn="l"/>
              </a:tabLst>
            </a:pP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AI4I</a:t>
            </a:r>
            <a:r>
              <a:rPr sz="1100" spc="-2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2020</a:t>
            </a:r>
            <a:r>
              <a:rPr sz="1100" spc="-2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Armor</a:t>
            </a:r>
            <a:r>
              <a:rPr sz="1100" spc="-2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1E2A3A"/>
                </a:solidFill>
                <a:latin typeface="Arial MT"/>
                <a:cs typeface="Arial MT"/>
              </a:rPr>
              <a:t>Model</a:t>
            </a:r>
            <a:endParaRPr sz="1100">
              <a:latin typeface="Arial MT"/>
              <a:cs typeface="Arial MT"/>
            </a:endParaRPr>
          </a:p>
          <a:p>
            <a:pPr marL="99060" indent="-86360">
              <a:lnSpc>
                <a:spcPct val="100000"/>
              </a:lnSpc>
              <a:buChar char="•"/>
              <a:tabLst>
                <a:tab pos="99060" algn="l"/>
              </a:tabLst>
            </a:pP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Feature</a:t>
            </a:r>
            <a:r>
              <a:rPr sz="1100" spc="-5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Engineering</a:t>
            </a:r>
            <a:r>
              <a:rPr sz="1100" spc="-5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Pipeline</a:t>
            </a:r>
            <a:endParaRPr sz="1100">
              <a:latin typeface="Arial MT"/>
              <a:cs typeface="Arial MT"/>
            </a:endParaRPr>
          </a:p>
          <a:p>
            <a:pPr marL="99060" indent="-86360">
              <a:lnSpc>
                <a:spcPct val="100000"/>
              </a:lnSpc>
              <a:buChar char="•"/>
              <a:tabLst>
                <a:tab pos="99060" algn="l"/>
              </a:tabLst>
            </a:pP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Sub-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50ms</a:t>
            </a:r>
            <a:r>
              <a:rPr sz="110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Inference</a:t>
            </a:r>
            <a:r>
              <a:rPr sz="1100" spc="-2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Engine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165850" y="1454150"/>
            <a:ext cx="2616200" cy="3441700"/>
            <a:chOff x="6165850" y="1454150"/>
            <a:chExt cx="2616200" cy="3441700"/>
          </a:xfrm>
        </p:grpSpPr>
        <p:sp>
          <p:nvSpPr>
            <p:cNvPr id="20" name="object 20"/>
            <p:cNvSpPr/>
            <p:nvPr/>
          </p:nvSpPr>
          <p:spPr>
            <a:xfrm>
              <a:off x="6172200" y="1459992"/>
              <a:ext cx="2603500" cy="3429000"/>
            </a:xfrm>
            <a:custGeom>
              <a:avLst/>
              <a:gdLst/>
              <a:ahLst/>
              <a:cxnLst/>
              <a:rect l="l" t="t" r="r" b="b"/>
              <a:pathLst>
                <a:path w="2603500" h="3429000">
                  <a:moveTo>
                    <a:pt x="2602992" y="3429000"/>
                  </a:moveTo>
                  <a:lnTo>
                    <a:pt x="0" y="3429000"/>
                  </a:lnTo>
                  <a:lnTo>
                    <a:pt x="0" y="0"/>
                  </a:lnTo>
                  <a:lnTo>
                    <a:pt x="2602992" y="0"/>
                  </a:lnTo>
                  <a:lnTo>
                    <a:pt x="2602992" y="3429000"/>
                  </a:lnTo>
                  <a:close/>
                </a:path>
              </a:pathLst>
            </a:custGeom>
            <a:solidFill>
              <a:srgbClr val="F1F3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6165850" y="1454150"/>
              <a:ext cx="2616200" cy="3441700"/>
            </a:xfrm>
            <a:custGeom>
              <a:avLst/>
              <a:gdLst/>
              <a:ahLst/>
              <a:cxnLst/>
              <a:rect l="l" t="t" r="r" b="b"/>
              <a:pathLst>
                <a:path w="2616200" h="3441700">
                  <a:moveTo>
                    <a:pt x="2616200" y="3441700"/>
                  </a:moveTo>
                  <a:lnTo>
                    <a:pt x="0" y="3441700"/>
                  </a:lnTo>
                  <a:lnTo>
                    <a:pt x="0" y="0"/>
                  </a:lnTo>
                  <a:lnTo>
                    <a:pt x="2616200" y="0"/>
                  </a:lnTo>
                  <a:lnTo>
                    <a:pt x="2616200" y="6350"/>
                  </a:lnTo>
                  <a:lnTo>
                    <a:pt x="12700" y="6350"/>
                  </a:lnTo>
                  <a:lnTo>
                    <a:pt x="6350" y="12700"/>
                  </a:lnTo>
                  <a:lnTo>
                    <a:pt x="12700" y="12700"/>
                  </a:lnTo>
                  <a:lnTo>
                    <a:pt x="12700" y="3429000"/>
                  </a:lnTo>
                  <a:lnTo>
                    <a:pt x="6350" y="3429000"/>
                  </a:lnTo>
                  <a:lnTo>
                    <a:pt x="12700" y="3435350"/>
                  </a:lnTo>
                  <a:lnTo>
                    <a:pt x="2616200" y="3435350"/>
                  </a:lnTo>
                  <a:lnTo>
                    <a:pt x="2616200" y="3441700"/>
                  </a:lnTo>
                  <a:close/>
                </a:path>
                <a:path w="2616200" h="3441700">
                  <a:moveTo>
                    <a:pt x="12700" y="12700"/>
                  </a:moveTo>
                  <a:lnTo>
                    <a:pt x="6350" y="12700"/>
                  </a:lnTo>
                  <a:lnTo>
                    <a:pt x="12700" y="6350"/>
                  </a:lnTo>
                  <a:lnTo>
                    <a:pt x="12700" y="12700"/>
                  </a:lnTo>
                  <a:close/>
                </a:path>
                <a:path w="2616200" h="3441700">
                  <a:moveTo>
                    <a:pt x="2603500" y="12700"/>
                  </a:moveTo>
                  <a:lnTo>
                    <a:pt x="12700" y="12700"/>
                  </a:lnTo>
                  <a:lnTo>
                    <a:pt x="12700" y="6350"/>
                  </a:lnTo>
                  <a:lnTo>
                    <a:pt x="2603500" y="6350"/>
                  </a:lnTo>
                  <a:lnTo>
                    <a:pt x="2603500" y="12700"/>
                  </a:lnTo>
                  <a:close/>
                </a:path>
                <a:path w="2616200" h="3441700">
                  <a:moveTo>
                    <a:pt x="2603500" y="3435350"/>
                  </a:moveTo>
                  <a:lnTo>
                    <a:pt x="2603500" y="6350"/>
                  </a:lnTo>
                  <a:lnTo>
                    <a:pt x="2609850" y="12700"/>
                  </a:lnTo>
                  <a:lnTo>
                    <a:pt x="2616200" y="12700"/>
                  </a:lnTo>
                  <a:lnTo>
                    <a:pt x="2616200" y="3429000"/>
                  </a:lnTo>
                  <a:lnTo>
                    <a:pt x="2609850" y="3429000"/>
                  </a:lnTo>
                  <a:lnTo>
                    <a:pt x="2603500" y="3435350"/>
                  </a:lnTo>
                  <a:close/>
                </a:path>
                <a:path w="2616200" h="3441700">
                  <a:moveTo>
                    <a:pt x="2616200" y="12700"/>
                  </a:moveTo>
                  <a:lnTo>
                    <a:pt x="2609850" y="12700"/>
                  </a:lnTo>
                  <a:lnTo>
                    <a:pt x="2603500" y="6350"/>
                  </a:lnTo>
                  <a:lnTo>
                    <a:pt x="2616200" y="6350"/>
                  </a:lnTo>
                  <a:lnTo>
                    <a:pt x="2616200" y="12700"/>
                  </a:lnTo>
                  <a:close/>
                </a:path>
                <a:path w="2616200" h="3441700">
                  <a:moveTo>
                    <a:pt x="12700" y="3435350"/>
                  </a:moveTo>
                  <a:lnTo>
                    <a:pt x="6350" y="3429000"/>
                  </a:lnTo>
                  <a:lnTo>
                    <a:pt x="12700" y="3429000"/>
                  </a:lnTo>
                  <a:lnTo>
                    <a:pt x="12700" y="3435350"/>
                  </a:lnTo>
                  <a:close/>
                </a:path>
                <a:path w="2616200" h="3441700">
                  <a:moveTo>
                    <a:pt x="2603500" y="3435350"/>
                  </a:moveTo>
                  <a:lnTo>
                    <a:pt x="12700" y="3435350"/>
                  </a:lnTo>
                  <a:lnTo>
                    <a:pt x="12700" y="3429000"/>
                  </a:lnTo>
                  <a:lnTo>
                    <a:pt x="2603500" y="3429000"/>
                  </a:lnTo>
                  <a:lnTo>
                    <a:pt x="2603500" y="3435350"/>
                  </a:lnTo>
                  <a:close/>
                </a:path>
                <a:path w="2616200" h="3441700">
                  <a:moveTo>
                    <a:pt x="2616200" y="3435350"/>
                  </a:moveTo>
                  <a:lnTo>
                    <a:pt x="2603500" y="3435350"/>
                  </a:lnTo>
                  <a:lnTo>
                    <a:pt x="2609850" y="3429000"/>
                  </a:lnTo>
                  <a:lnTo>
                    <a:pt x="2616200" y="3429000"/>
                  </a:lnTo>
                  <a:lnTo>
                    <a:pt x="2616200" y="34353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6172200" y="1459992"/>
              <a:ext cx="2603500" cy="52069"/>
            </a:xfrm>
            <a:custGeom>
              <a:avLst/>
              <a:gdLst/>
              <a:ahLst/>
              <a:cxnLst/>
              <a:rect l="l" t="t" r="r" b="b"/>
              <a:pathLst>
                <a:path w="2603500" h="52069">
                  <a:moveTo>
                    <a:pt x="2602992" y="51816"/>
                  </a:moveTo>
                  <a:lnTo>
                    <a:pt x="0" y="51816"/>
                  </a:lnTo>
                  <a:lnTo>
                    <a:pt x="0" y="0"/>
                  </a:lnTo>
                  <a:lnTo>
                    <a:pt x="2602992" y="0"/>
                  </a:lnTo>
                  <a:lnTo>
                    <a:pt x="2602992" y="51816"/>
                  </a:lnTo>
                  <a:close/>
                </a:path>
              </a:pathLst>
            </a:custGeom>
            <a:solidFill>
              <a:srgbClr val="92650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6362700" y="1590674"/>
            <a:ext cx="126111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92650B"/>
                </a:solidFill>
                <a:latin typeface="Arial" panose="020B0604020202020204"/>
                <a:cs typeface="Arial" panose="020B0604020202020204"/>
              </a:rPr>
              <a:t>Frontend</a:t>
            </a:r>
            <a:r>
              <a:rPr sz="1400" b="1" spc="-45" dirty="0">
                <a:solidFill>
                  <a:srgbClr val="92650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20" dirty="0">
                <a:solidFill>
                  <a:srgbClr val="92650B"/>
                </a:solidFill>
                <a:latin typeface="Arial" panose="020B0604020202020204"/>
                <a:cs typeface="Arial" panose="020B0604020202020204"/>
              </a:rPr>
              <a:t>Lead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403340" y="1993899"/>
            <a:ext cx="1461770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Role:</a:t>
            </a:r>
            <a:r>
              <a:rPr sz="1100" spc="-3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UI/UX</a:t>
            </a:r>
            <a:r>
              <a:rPr sz="1100" spc="-2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&amp;</a:t>
            </a:r>
            <a:r>
              <a:rPr sz="1100" spc="-2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Data</a:t>
            </a:r>
            <a:r>
              <a:rPr sz="1100" spc="-3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1E2A3A"/>
                </a:solidFill>
                <a:latin typeface="Arial MT"/>
                <a:cs typeface="Arial MT"/>
              </a:rPr>
              <a:t>Viz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403340" y="2329180"/>
            <a:ext cx="2068195" cy="1200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What</a:t>
            </a:r>
            <a:r>
              <a:rPr sz="110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Built:</a:t>
            </a:r>
            <a:endParaRPr sz="1100">
              <a:latin typeface="Arial MT"/>
              <a:cs typeface="Arial MT"/>
            </a:endParaRPr>
          </a:p>
          <a:p>
            <a:pPr marL="99060" indent="-86360">
              <a:lnSpc>
                <a:spcPct val="100000"/>
              </a:lnSpc>
              <a:buChar char="•"/>
              <a:tabLst>
                <a:tab pos="99060" algn="l"/>
              </a:tabLst>
            </a:pP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React</a:t>
            </a:r>
            <a:r>
              <a:rPr sz="110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19</a:t>
            </a:r>
            <a:r>
              <a:rPr sz="1100" spc="-2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/</a:t>
            </a:r>
            <a:r>
              <a:rPr sz="110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Vite</a:t>
            </a:r>
            <a:r>
              <a:rPr sz="1100" spc="-2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SPA</a:t>
            </a:r>
            <a:r>
              <a:rPr sz="110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Dashboard</a:t>
            </a:r>
            <a:endParaRPr sz="1100">
              <a:latin typeface="Arial MT"/>
              <a:cs typeface="Arial MT"/>
            </a:endParaRPr>
          </a:p>
          <a:p>
            <a:pPr marL="12700" marR="665480" indent="86360">
              <a:lnSpc>
                <a:spcPct val="100000"/>
              </a:lnSpc>
              <a:buChar char="•"/>
              <a:tabLst>
                <a:tab pos="99060" algn="l"/>
              </a:tabLst>
            </a:pP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Sensor</a:t>
            </a:r>
            <a:r>
              <a:rPr sz="1100" spc="-3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Trend</a:t>
            </a:r>
            <a:r>
              <a:rPr sz="1100" spc="-3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Charts (Vibration/Temp)</a:t>
            </a:r>
            <a:endParaRPr sz="1100">
              <a:latin typeface="Arial MT"/>
              <a:cs typeface="Arial MT"/>
            </a:endParaRPr>
          </a:p>
          <a:p>
            <a:pPr marL="99060" indent="-86360">
              <a:lnSpc>
                <a:spcPct val="100000"/>
              </a:lnSpc>
              <a:buChar char="•"/>
              <a:tabLst>
                <a:tab pos="99060" algn="l"/>
              </a:tabLst>
            </a:pP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Real-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Time</a:t>
            </a:r>
            <a:r>
              <a:rPr sz="1100" spc="-4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Critical</a:t>
            </a:r>
            <a:r>
              <a:rPr sz="1100" spc="-3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Alerts</a:t>
            </a:r>
            <a:r>
              <a:rPr sz="1100" spc="-3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1E2A3A"/>
                </a:solidFill>
                <a:latin typeface="Arial MT"/>
                <a:cs typeface="Arial MT"/>
              </a:rPr>
              <a:t>List</a:t>
            </a:r>
            <a:endParaRPr sz="1100">
              <a:latin typeface="Arial MT"/>
              <a:cs typeface="Arial MT"/>
            </a:endParaRPr>
          </a:p>
          <a:p>
            <a:pPr marL="99060" indent="-86360">
              <a:lnSpc>
                <a:spcPct val="100000"/>
              </a:lnSpc>
              <a:buChar char="•"/>
              <a:tabLst>
                <a:tab pos="99060" algn="l"/>
              </a:tabLst>
            </a:pP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Maintenance</a:t>
            </a:r>
            <a:r>
              <a:rPr sz="1100" spc="-5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Plan</a:t>
            </a:r>
            <a:r>
              <a:rPr sz="1100" spc="-5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Tables</a:t>
            </a:r>
            <a:endParaRPr sz="1100">
              <a:latin typeface="Arial MT"/>
              <a:cs typeface="Arial MT"/>
            </a:endParaRPr>
          </a:p>
          <a:p>
            <a:pPr marL="99060" indent="-86360">
              <a:lnSpc>
                <a:spcPct val="100000"/>
              </a:lnSpc>
              <a:buChar char="•"/>
              <a:tabLst>
                <a:tab pos="99060" algn="l"/>
              </a:tabLst>
            </a:pP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Glassmorphic</a:t>
            </a:r>
            <a:r>
              <a:rPr sz="1100" spc="-5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Defense</a:t>
            </a:r>
            <a:r>
              <a:rPr sz="1100" spc="-5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1E2A3A"/>
                </a:solidFill>
                <a:latin typeface="Arial MT"/>
                <a:cs typeface="Arial MT"/>
              </a:rPr>
              <a:t>Theme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8934450" y="1454150"/>
            <a:ext cx="2616200" cy="3441700"/>
            <a:chOff x="8934450" y="1454150"/>
            <a:chExt cx="2616200" cy="3441700"/>
          </a:xfrm>
        </p:grpSpPr>
        <p:sp>
          <p:nvSpPr>
            <p:cNvPr id="27" name="object 27"/>
            <p:cNvSpPr/>
            <p:nvPr/>
          </p:nvSpPr>
          <p:spPr>
            <a:xfrm>
              <a:off x="8941308" y="1459992"/>
              <a:ext cx="2603500" cy="3429000"/>
            </a:xfrm>
            <a:custGeom>
              <a:avLst/>
              <a:gdLst/>
              <a:ahLst/>
              <a:cxnLst/>
              <a:rect l="l" t="t" r="r" b="b"/>
              <a:pathLst>
                <a:path w="2603500" h="3429000">
                  <a:moveTo>
                    <a:pt x="2602992" y="3429000"/>
                  </a:moveTo>
                  <a:lnTo>
                    <a:pt x="0" y="3429000"/>
                  </a:lnTo>
                  <a:lnTo>
                    <a:pt x="0" y="0"/>
                  </a:lnTo>
                  <a:lnTo>
                    <a:pt x="2602992" y="0"/>
                  </a:lnTo>
                  <a:lnTo>
                    <a:pt x="2602992" y="3429000"/>
                  </a:lnTo>
                  <a:close/>
                </a:path>
              </a:pathLst>
            </a:custGeom>
            <a:solidFill>
              <a:srgbClr val="F1F3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8934450" y="1454150"/>
              <a:ext cx="2616200" cy="3441700"/>
            </a:xfrm>
            <a:custGeom>
              <a:avLst/>
              <a:gdLst/>
              <a:ahLst/>
              <a:cxnLst/>
              <a:rect l="l" t="t" r="r" b="b"/>
              <a:pathLst>
                <a:path w="2616200" h="3441700">
                  <a:moveTo>
                    <a:pt x="2616200" y="3441700"/>
                  </a:moveTo>
                  <a:lnTo>
                    <a:pt x="0" y="3441700"/>
                  </a:lnTo>
                  <a:lnTo>
                    <a:pt x="0" y="0"/>
                  </a:lnTo>
                  <a:lnTo>
                    <a:pt x="2616200" y="0"/>
                  </a:lnTo>
                  <a:lnTo>
                    <a:pt x="2616200" y="6350"/>
                  </a:lnTo>
                  <a:lnTo>
                    <a:pt x="12700" y="6350"/>
                  </a:lnTo>
                  <a:lnTo>
                    <a:pt x="6350" y="12700"/>
                  </a:lnTo>
                  <a:lnTo>
                    <a:pt x="12700" y="12700"/>
                  </a:lnTo>
                  <a:lnTo>
                    <a:pt x="12700" y="3429000"/>
                  </a:lnTo>
                  <a:lnTo>
                    <a:pt x="6350" y="3429000"/>
                  </a:lnTo>
                  <a:lnTo>
                    <a:pt x="12700" y="3435350"/>
                  </a:lnTo>
                  <a:lnTo>
                    <a:pt x="2616200" y="3435350"/>
                  </a:lnTo>
                  <a:lnTo>
                    <a:pt x="2616200" y="3441700"/>
                  </a:lnTo>
                  <a:close/>
                </a:path>
                <a:path w="2616200" h="3441700">
                  <a:moveTo>
                    <a:pt x="12700" y="12700"/>
                  </a:moveTo>
                  <a:lnTo>
                    <a:pt x="6350" y="12700"/>
                  </a:lnTo>
                  <a:lnTo>
                    <a:pt x="12700" y="6350"/>
                  </a:lnTo>
                  <a:lnTo>
                    <a:pt x="12700" y="12700"/>
                  </a:lnTo>
                  <a:close/>
                </a:path>
                <a:path w="2616200" h="3441700">
                  <a:moveTo>
                    <a:pt x="2603500" y="12700"/>
                  </a:moveTo>
                  <a:lnTo>
                    <a:pt x="12700" y="12700"/>
                  </a:lnTo>
                  <a:lnTo>
                    <a:pt x="12700" y="6350"/>
                  </a:lnTo>
                  <a:lnTo>
                    <a:pt x="2603500" y="6350"/>
                  </a:lnTo>
                  <a:lnTo>
                    <a:pt x="2603500" y="12700"/>
                  </a:lnTo>
                  <a:close/>
                </a:path>
                <a:path w="2616200" h="3441700">
                  <a:moveTo>
                    <a:pt x="2603500" y="3435350"/>
                  </a:moveTo>
                  <a:lnTo>
                    <a:pt x="2603500" y="6350"/>
                  </a:lnTo>
                  <a:lnTo>
                    <a:pt x="2609850" y="12700"/>
                  </a:lnTo>
                  <a:lnTo>
                    <a:pt x="2616200" y="12700"/>
                  </a:lnTo>
                  <a:lnTo>
                    <a:pt x="2616200" y="3429000"/>
                  </a:lnTo>
                  <a:lnTo>
                    <a:pt x="2609850" y="3429000"/>
                  </a:lnTo>
                  <a:lnTo>
                    <a:pt x="2603500" y="3435350"/>
                  </a:lnTo>
                  <a:close/>
                </a:path>
                <a:path w="2616200" h="3441700">
                  <a:moveTo>
                    <a:pt x="2616200" y="12700"/>
                  </a:moveTo>
                  <a:lnTo>
                    <a:pt x="2609850" y="12700"/>
                  </a:lnTo>
                  <a:lnTo>
                    <a:pt x="2603500" y="6350"/>
                  </a:lnTo>
                  <a:lnTo>
                    <a:pt x="2616200" y="6350"/>
                  </a:lnTo>
                  <a:lnTo>
                    <a:pt x="2616200" y="12700"/>
                  </a:lnTo>
                  <a:close/>
                </a:path>
                <a:path w="2616200" h="3441700">
                  <a:moveTo>
                    <a:pt x="12700" y="3435350"/>
                  </a:moveTo>
                  <a:lnTo>
                    <a:pt x="6350" y="3429000"/>
                  </a:lnTo>
                  <a:lnTo>
                    <a:pt x="12700" y="3429000"/>
                  </a:lnTo>
                  <a:lnTo>
                    <a:pt x="12700" y="3435350"/>
                  </a:lnTo>
                  <a:close/>
                </a:path>
                <a:path w="2616200" h="3441700">
                  <a:moveTo>
                    <a:pt x="2603500" y="3435350"/>
                  </a:moveTo>
                  <a:lnTo>
                    <a:pt x="12700" y="3435350"/>
                  </a:lnTo>
                  <a:lnTo>
                    <a:pt x="12700" y="3429000"/>
                  </a:lnTo>
                  <a:lnTo>
                    <a:pt x="2603500" y="3429000"/>
                  </a:lnTo>
                  <a:lnTo>
                    <a:pt x="2603500" y="3435350"/>
                  </a:lnTo>
                  <a:close/>
                </a:path>
                <a:path w="2616200" h="3441700">
                  <a:moveTo>
                    <a:pt x="2616200" y="3435350"/>
                  </a:moveTo>
                  <a:lnTo>
                    <a:pt x="2603500" y="3435350"/>
                  </a:lnTo>
                  <a:lnTo>
                    <a:pt x="2609850" y="3429000"/>
                  </a:lnTo>
                  <a:lnTo>
                    <a:pt x="2616200" y="3429000"/>
                  </a:lnTo>
                  <a:lnTo>
                    <a:pt x="2616200" y="34353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8941308" y="1459992"/>
              <a:ext cx="2603500" cy="52069"/>
            </a:xfrm>
            <a:custGeom>
              <a:avLst/>
              <a:gdLst/>
              <a:ahLst/>
              <a:cxnLst/>
              <a:rect l="l" t="t" r="r" b="b"/>
              <a:pathLst>
                <a:path w="2603500" h="52069">
                  <a:moveTo>
                    <a:pt x="2602992" y="51816"/>
                  </a:moveTo>
                  <a:lnTo>
                    <a:pt x="0" y="51816"/>
                  </a:lnTo>
                  <a:lnTo>
                    <a:pt x="0" y="0"/>
                  </a:lnTo>
                  <a:lnTo>
                    <a:pt x="2602992" y="0"/>
                  </a:lnTo>
                  <a:lnTo>
                    <a:pt x="2602992" y="51816"/>
                  </a:lnTo>
                  <a:close/>
                </a:path>
              </a:pathLst>
            </a:custGeom>
            <a:solidFill>
              <a:srgbClr val="0E749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9131300" y="1590674"/>
            <a:ext cx="118237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AI</a:t>
            </a:r>
            <a:r>
              <a:rPr sz="1400" b="1" spc="-15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1400" b="1" spc="-5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LLM</a:t>
            </a:r>
            <a:r>
              <a:rPr sz="1400" b="1" spc="-10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20" dirty="0">
                <a:solidFill>
                  <a:srgbClr val="0E7490"/>
                </a:solidFill>
                <a:latin typeface="Arial" panose="020B0604020202020204"/>
                <a:cs typeface="Arial" panose="020B0604020202020204"/>
              </a:rPr>
              <a:t>Lead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171940" y="1993899"/>
            <a:ext cx="1469390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Role:</a:t>
            </a:r>
            <a:r>
              <a:rPr sz="1100" spc="-2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Agentic</a:t>
            </a:r>
            <a:r>
              <a:rPr sz="1100" spc="-2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AI</a:t>
            </a:r>
            <a:r>
              <a:rPr sz="1100" spc="-2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&amp;</a:t>
            </a:r>
            <a:r>
              <a:rPr sz="1100" spc="-25" dirty="0">
                <a:solidFill>
                  <a:srgbClr val="1E2A3A"/>
                </a:solidFill>
                <a:latin typeface="Arial MT"/>
                <a:cs typeface="Arial MT"/>
              </a:rPr>
              <a:t> NLP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9171940" y="2329180"/>
            <a:ext cx="1958339" cy="1367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What</a:t>
            </a:r>
            <a:r>
              <a:rPr sz="110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Built:</a:t>
            </a:r>
            <a:endParaRPr sz="1100">
              <a:latin typeface="Arial MT"/>
              <a:cs typeface="Arial MT"/>
            </a:endParaRPr>
          </a:p>
          <a:p>
            <a:pPr marL="99060" indent="-86360">
              <a:lnSpc>
                <a:spcPct val="100000"/>
              </a:lnSpc>
              <a:buChar char="•"/>
              <a:tabLst>
                <a:tab pos="99060" algn="l"/>
              </a:tabLst>
            </a:pP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Copilot</a:t>
            </a:r>
            <a:r>
              <a:rPr sz="1100" spc="-4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Tool-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Calling</a:t>
            </a:r>
            <a:r>
              <a:rPr sz="1100" spc="-4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Engine</a:t>
            </a:r>
            <a:endParaRPr sz="1100">
              <a:latin typeface="Arial MT"/>
              <a:cs typeface="Arial MT"/>
            </a:endParaRPr>
          </a:p>
          <a:p>
            <a:pPr marL="12700" marR="586105" indent="86360">
              <a:lnSpc>
                <a:spcPct val="100000"/>
              </a:lnSpc>
              <a:buChar char="•"/>
              <a:tabLst>
                <a:tab pos="99060" algn="l"/>
              </a:tabLst>
            </a:pP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Dual-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Language</a:t>
            </a:r>
            <a:r>
              <a:rPr sz="1100" spc="-3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1E2A3A"/>
                </a:solidFill>
                <a:latin typeface="Arial MT"/>
                <a:cs typeface="Arial MT"/>
              </a:rPr>
              <a:t>NLP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(English/Hinglish)</a:t>
            </a:r>
            <a:endParaRPr sz="1100">
              <a:latin typeface="Arial MT"/>
              <a:cs typeface="Arial MT"/>
            </a:endParaRPr>
          </a:p>
          <a:p>
            <a:pPr marL="12700" marR="445770" indent="86360">
              <a:lnSpc>
                <a:spcPct val="100000"/>
              </a:lnSpc>
              <a:buChar char="•"/>
              <a:tabLst>
                <a:tab pos="99060" algn="l"/>
              </a:tabLst>
            </a:pP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Dynamic</a:t>
            </a:r>
            <a:r>
              <a:rPr sz="1100" spc="-4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RAG</a:t>
            </a:r>
            <a:r>
              <a:rPr sz="1100" spc="-4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Context Grounding</a:t>
            </a:r>
            <a:endParaRPr sz="1100">
              <a:latin typeface="Arial MT"/>
              <a:cs typeface="Arial MT"/>
            </a:endParaRPr>
          </a:p>
          <a:p>
            <a:pPr marL="99060" indent="-86360">
              <a:lnSpc>
                <a:spcPct val="100000"/>
              </a:lnSpc>
              <a:buChar char="•"/>
              <a:tabLst>
                <a:tab pos="99060" algn="l"/>
              </a:tabLst>
            </a:pP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Local</a:t>
            </a:r>
            <a:r>
              <a:rPr sz="1100" spc="-3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Offline</a:t>
            </a:r>
            <a:r>
              <a:rPr sz="1100" spc="-4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Fallback</a:t>
            </a:r>
            <a:r>
              <a:rPr sz="1100" spc="-3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Engine</a:t>
            </a:r>
            <a:endParaRPr sz="1100">
              <a:latin typeface="Arial MT"/>
              <a:cs typeface="Arial MT"/>
            </a:endParaRPr>
          </a:p>
          <a:p>
            <a:pPr marL="99060" indent="-86360">
              <a:lnSpc>
                <a:spcPct val="100000"/>
              </a:lnSpc>
              <a:buChar char="•"/>
              <a:tabLst>
                <a:tab pos="99060" algn="l"/>
              </a:tabLst>
            </a:pPr>
            <a:r>
              <a:rPr sz="1100" spc="-10" dirty="0">
                <a:solidFill>
                  <a:srgbClr val="1E2A3A"/>
                </a:solidFill>
                <a:latin typeface="Arial MT"/>
                <a:cs typeface="Arial MT"/>
              </a:rPr>
              <a:t>Work-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Order</a:t>
            </a:r>
            <a:r>
              <a:rPr sz="110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A3A"/>
                </a:solidFill>
                <a:latin typeface="Arial MT"/>
                <a:cs typeface="Arial MT"/>
              </a:rPr>
              <a:t>Automation</a:t>
            </a:r>
            <a:r>
              <a:rPr sz="1100" spc="-20" dirty="0">
                <a:solidFill>
                  <a:srgbClr val="1E2A3A"/>
                </a:solidFill>
                <a:latin typeface="Arial MT"/>
                <a:cs typeface="Arial MT"/>
              </a:rPr>
              <a:t> Logic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628650" y="5137150"/>
            <a:ext cx="10934700" cy="1155700"/>
            <a:chOff x="628650" y="5137150"/>
            <a:chExt cx="10934700" cy="1155700"/>
          </a:xfrm>
        </p:grpSpPr>
        <p:sp>
          <p:nvSpPr>
            <p:cNvPr id="34" name="object 34"/>
            <p:cNvSpPr/>
            <p:nvPr/>
          </p:nvSpPr>
          <p:spPr>
            <a:xfrm>
              <a:off x="635508" y="5143500"/>
              <a:ext cx="10921365" cy="1143000"/>
            </a:xfrm>
            <a:custGeom>
              <a:avLst/>
              <a:gdLst/>
              <a:ahLst/>
              <a:cxnLst/>
              <a:rect l="l" t="t" r="r" b="b"/>
              <a:pathLst>
                <a:path w="10921365" h="1143000">
                  <a:moveTo>
                    <a:pt x="10920984" y="1143000"/>
                  </a:moveTo>
                  <a:lnTo>
                    <a:pt x="0" y="1143000"/>
                  </a:lnTo>
                  <a:lnTo>
                    <a:pt x="0" y="0"/>
                  </a:lnTo>
                  <a:lnTo>
                    <a:pt x="10920984" y="0"/>
                  </a:lnTo>
                  <a:lnTo>
                    <a:pt x="10920984" y="1143000"/>
                  </a:lnTo>
                  <a:close/>
                </a:path>
              </a:pathLst>
            </a:custGeom>
            <a:solidFill>
              <a:srgbClr val="F1F3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628650" y="5137150"/>
              <a:ext cx="10934700" cy="1155700"/>
            </a:xfrm>
            <a:custGeom>
              <a:avLst/>
              <a:gdLst/>
              <a:ahLst/>
              <a:cxnLst/>
              <a:rect l="l" t="t" r="r" b="b"/>
              <a:pathLst>
                <a:path w="10934700" h="1155700">
                  <a:moveTo>
                    <a:pt x="10934700" y="1155700"/>
                  </a:moveTo>
                  <a:lnTo>
                    <a:pt x="0" y="1155700"/>
                  </a:lnTo>
                  <a:lnTo>
                    <a:pt x="0" y="0"/>
                  </a:lnTo>
                  <a:lnTo>
                    <a:pt x="10934700" y="0"/>
                  </a:lnTo>
                  <a:lnTo>
                    <a:pt x="10934700" y="6350"/>
                  </a:lnTo>
                  <a:lnTo>
                    <a:pt x="12700" y="6350"/>
                  </a:lnTo>
                  <a:lnTo>
                    <a:pt x="6350" y="12700"/>
                  </a:lnTo>
                  <a:lnTo>
                    <a:pt x="12700" y="12700"/>
                  </a:lnTo>
                  <a:lnTo>
                    <a:pt x="12700" y="1143000"/>
                  </a:lnTo>
                  <a:lnTo>
                    <a:pt x="6350" y="1143000"/>
                  </a:lnTo>
                  <a:lnTo>
                    <a:pt x="12700" y="1149350"/>
                  </a:lnTo>
                  <a:lnTo>
                    <a:pt x="10934700" y="1149350"/>
                  </a:lnTo>
                  <a:lnTo>
                    <a:pt x="10934700" y="1155700"/>
                  </a:lnTo>
                  <a:close/>
                </a:path>
                <a:path w="10934700" h="1155700">
                  <a:moveTo>
                    <a:pt x="12700" y="12700"/>
                  </a:moveTo>
                  <a:lnTo>
                    <a:pt x="6350" y="12700"/>
                  </a:lnTo>
                  <a:lnTo>
                    <a:pt x="12700" y="6350"/>
                  </a:lnTo>
                  <a:lnTo>
                    <a:pt x="12700" y="12700"/>
                  </a:lnTo>
                  <a:close/>
                </a:path>
                <a:path w="10934700" h="1155700">
                  <a:moveTo>
                    <a:pt x="10922000" y="12700"/>
                  </a:moveTo>
                  <a:lnTo>
                    <a:pt x="12700" y="12700"/>
                  </a:lnTo>
                  <a:lnTo>
                    <a:pt x="12700" y="6350"/>
                  </a:lnTo>
                  <a:lnTo>
                    <a:pt x="10922000" y="6350"/>
                  </a:lnTo>
                  <a:lnTo>
                    <a:pt x="10922000" y="12700"/>
                  </a:lnTo>
                  <a:close/>
                </a:path>
                <a:path w="10934700" h="1155700">
                  <a:moveTo>
                    <a:pt x="10922000" y="1149350"/>
                  </a:moveTo>
                  <a:lnTo>
                    <a:pt x="10922000" y="6350"/>
                  </a:lnTo>
                  <a:lnTo>
                    <a:pt x="10928350" y="12700"/>
                  </a:lnTo>
                  <a:lnTo>
                    <a:pt x="10934700" y="12700"/>
                  </a:lnTo>
                  <a:lnTo>
                    <a:pt x="10934700" y="1143000"/>
                  </a:lnTo>
                  <a:lnTo>
                    <a:pt x="10928350" y="1143000"/>
                  </a:lnTo>
                  <a:lnTo>
                    <a:pt x="10922000" y="1149350"/>
                  </a:lnTo>
                  <a:close/>
                </a:path>
                <a:path w="10934700" h="1155700">
                  <a:moveTo>
                    <a:pt x="10934700" y="12700"/>
                  </a:moveTo>
                  <a:lnTo>
                    <a:pt x="10928350" y="12700"/>
                  </a:lnTo>
                  <a:lnTo>
                    <a:pt x="10922000" y="6350"/>
                  </a:lnTo>
                  <a:lnTo>
                    <a:pt x="10934700" y="6350"/>
                  </a:lnTo>
                  <a:lnTo>
                    <a:pt x="10934700" y="12700"/>
                  </a:lnTo>
                  <a:close/>
                </a:path>
                <a:path w="10934700" h="1155700">
                  <a:moveTo>
                    <a:pt x="12700" y="1149350"/>
                  </a:moveTo>
                  <a:lnTo>
                    <a:pt x="6350" y="1143000"/>
                  </a:lnTo>
                  <a:lnTo>
                    <a:pt x="12700" y="1143000"/>
                  </a:lnTo>
                  <a:lnTo>
                    <a:pt x="12700" y="1149350"/>
                  </a:lnTo>
                  <a:close/>
                </a:path>
                <a:path w="10934700" h="1155700">
                  <a:moveTo>
                    <a:pt x="10922000" y="1149350"/>
                  </a:moveTo>
                  <a:lnTo>
                    <a:pt x="12700" y="1149350"/>
                  </a:lnTo>
                  <a:lnTo>
                    <a:pt x="12700" y="1143000"/>
                  </a:lnTo>
                  <a:lnTo>
                    <a:pt x="10922000" y="1143000"/>
                  </a:lnTo>
                  <a:lnTo>
                    <a:pt x="10922000" y="1149350"/>
                  </a:lnTo>
                  <a:close/>
                </a:path>
                <a:path w="10934700" h="1155700">
                  <a:moveTo>
                    <a:pt x="10934700" y="1149350"/>
                  </a:moveTo>
                  <a:lnTo>
                    <a:pt x="10922000" y="1149350"/>
                  </a:lnTo>
                  <a:lnTo>
                    <a:pt x="10928350" y="1143000"/>
                  </a:lnTo>
                  <a:lnTo>
                    <a:pt x="10934700" y="1143000"/>
                  </a:lnTo>
                  <a:lnTo>
                    <a:pt x="10934700" y="11493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635508" y="5143500"/>
              <a:ext cx="10921365" cy="50800"/>
            </a:xfrm>
            <a:custGeom>
              <a:avLst/>
              <a:gdLst/>
              <a:ahLst/>
              <a:cxnLst/>
              <a:rect l="l" t="t" r="r" b="b"/>
              <a:pathLst>
                <a:path w="10921365" h="50800">
                  <a:moveTo>
                    <a:pt x="10920984" y="50291"/>
                  </a:moveTo>
                  <a:lnTo>
                    <a:pt x="0" y="50291"/>
                  </a:lnTo>
                  <a:lnTo>
                    <a:pt x="0" y="0"/>
                  </a:lnTo>
                  <a:lnTo>
                    <a:pt x="10920984" y="0"/>
                  </a:lnTo>
                  <a:lnTo>
                    <a:pt x="10920984" y="50291"/>
                  </a:lnTo>
                  <a:close/>
                </a:path>
              </a:pathLst>
            </a:custGeom>
            <a:solidFill>
              <a:srgbClr val="0B8A5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825500" y="5200962"/>
            <a:ext cx="6329680" cy="74041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400" b="1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Summary</a:t>
            </a:r>
            <a:r>
              <a:rPr sz="1400" b="1" spc="-40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&amp;</a:t>
            </a:r>
            <a:r>
              <a:rPr sz="1400" b="1" spc="-40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10" dirty="0">
                <a:solidFill>
                  <a:srgbClr val="0B8A5B"/>
                </a:solidFill>
                <a:latin typeface="Arial" panose="020B0604020202020204"/>
                <a:cs typeface="Arial" panose="020B0604020202020204"/>
              </a:rPr>
              <a:t>Contact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91440">
              <a:lnSpc>
                <a:spcPct val="100000"/>
              </a:lnSpc>
              <a:spcBef>
                <a:spcPts val="490"/>
              </a:spcBef>
            </a:pPr>
            <a:r>
              <a:rPr sz="1200" dirty="0">
                <a:solidFill>
                  <a:srgbClr val="1E2A3A"/>
                </a:solidFill>
                <a:latin typeface="Arial MT"/>
                <a:cs typeface="Arial MT"/>
              </a:rPr>
              <a:t>Project</a:t>
            </a:r>
            <a:r>
              <a:rPr sz="1200" spc="2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E2A3A"/>
                </a:solidFill>
                <a:latin typeface="Arial MT"/>
                <a:cs typeface="Arial MT"/>
              </a:rPr>
              <a:t>Repository:</a:t>
            </a:r>
            <a:r>
              <a:rPr sz="1200" spc="3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1E2A3A"/>
                </a:solidFill>
                <a:latin typeface="Arial MT"/>
                <a:cs typeface="Arial MT"/>
                <a:hlinkClick r:id="rId1"/>
              </a:rPr>
              <a:t>https://github.com/bob-ai-hackathon/team-</a:t>
            </a:r>
            <a:r>
              <a:rPr sz="1200" dirty="0">
                <a:solidFill>
                  <a:srgbClr val="1E2A3A"/>
                </a:solidFill>
                <a:latin typeface="Arial MT"/>
                <a:cs typeface="Arial MT"/>
                <a:hlinkClick r:id="rId1"/>
              </a:rPr>
              <a:t>x</a:t>
            </a:r>
            <a:r>
              <a:rPr sz="1200" spc="3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E2A3A"/>
                </a:solidFill>
                <a:latin typeface="Arial MT"/>
                <a:cs typeface="Arial MT"/>
              </a:rPr>
              <a:t>| </a:t>
            </a:r>
            <a:r>
              <a:rPr sz="1200" spc="-20" dirty="0">
                <a:solidFill>
                  <a:srgbClr val="1E2A3A"/>
                </a:solidFill>
                <a:latin typeface="Arial MT"/>
                <a:cs typeface="Arial MT"/>
              </a:rPr>
              <a:t>Track:</a:t>
            </a:r>
            <a:r>
              <a:rPr sz="1200" spc="-4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E2A3A"/>
                </a:solidFill>
                <a:latin typeface="Arial MT"/>
                <a:cs typeface="Arial MT"/>
              </a:rPr>
              <a:t>AI </a:t>
            </a:r>
            <a:r>
              <a:rPr sz="1200" spc="-10" dirty="0">
                <a:solidFill>
                  <a:srgbClr val="1E2A3A"/>
                </a:solidFill>
                <a:latin typeface="Arial MT"/>
                <a:cs typeface="Arial MT"/>
              </a:rPr>
              <a:t>Track</a:t>
            </a:r>
            <a:endParaRPr sz="1200">
              <a:latin typeface="Arial MT"/>
              <a:cs typeface="Arial MT"/>
            </a:endParaRPr>
          </a:p>
          <a:p>
            <a:pPr marL="91440">
              <a:lnSpc>
                <a:spcPct val="100000"/>
              </a:lnSpc>
            </a:pPr>
            <a:r>
              <a:rPr sz="1200" dirty="0">
                <a:solidFill>
                  <a:srgbClr val="1E2A3A"/>
                </a:solidFill>
                <a:latin typeface="Arial MT"/>
                <a:cs typeface="Arial MT"/>
              </a:rPr>
              <a:t>Built</a:t>
            </a:r>
            <a:r>
              <a:rPr sz="1200" spc="-3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E2A3A"/>
                </a:solidFill>
                <a:latin typeface="Arial MT"/>
                <a:cs typeface="Arial MT"/>
              </a:rPr>
              <a:t>with</a:t>
            </a:r>
            <a:r>
              <a:rPr sz="120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E2A3A"/>
                </a:solidFill>
                <a:latin typeface="Arial MT"/>
                <a:cs typeface="Arial MT"/>
              </a:rPr>
              <a:t>passion</a:t>
            </a:r>
            <a:r>
              <a:rPr sz="120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E2A3A"/>
                </a:solidFill>
                <a:latin typeface="Arial MT"/>
                <a:cs typeface="Arial MT"/>
              </a:rPr>
              <a:t>for</a:t>
            </a:r>
            <a:r>
              <a:rPr sz="120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E2A3A"/>
                </a:solidFill>
                <a:latin typeface="Arial MT"/>
                <a:cs typeface="Arial MT"/>
              </a:rPr>
              <a:t>the</a:t>
            </a:r>
            <a:r>
              <a:rPr sz="120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E2A3A"/>
                </a:solidFill>
                <a:latin typeface="Arial MT"/>
                <a:cs typeface="Arial MT"/>
              </a:rPr>
              <a:t>IBM</a:t>
            </a:r>
            <a:r>
              <a:rPr sz="120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1E2A3A"/>
                </a:solidFill>
                <a:latin typeface="Arial MT"/>
                <a:cs typeface="Arial MT"/>
              </a:rPr>
              <a:t>Bob</a:t>
            </a:r>
            <a:r>
              <a:rPr sz="1200" spc="-7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E2A3A"/>
                </a:solidFill>
                <a:latin typeface="Arial MT"/>
                <a:cs typeface="Arial MT"/>
              </a:rPr>
              <a:t>AI</a:t>
            </a:r>
            <a:r>
              <a:rPr sz="120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E2A3A"/>
                </a:solidFill>
                <a:latin typeface="Arial MT"/>
                <a:cs typeface="Arial MT"/>
              </a:rPr>
              <a:t>Hackathon</a:t>
            </a:r>
            <a:r>
              <a:rPr sz="1200" spc="-2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E2A3A"/>
                </a:solidFill>
                <a:latin typeface="Arial MT"/>
                <a:cs typeface="Arial MT"/>
              </a:rPr>
              <a:t>2026.</a:t>
            </a:r>
            <a:r>
              <a:rPr sz="120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E2A3A"/>
                </a:solidFill>
                <a:latin typeface="Arial MT"/>
                <a:cs typeface="Arial MT"/>
              </a:rPr>
              <a:t>Ready</a:t>
            </a:r>
            <a:r>
              <a:rPr sz="120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E2A3A"/>
                </a:solidFill>
                <a:latin typeface="Arial MT"/>
                <a:cs typeface="Arial MT"/>
              </a:rPr>
              <a:t>for</a:t>
            </a:r>
            <a:r>
              <a:rPr sz="1200" spc="-15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E2A3A"/>
                </a:solidFill>
                <a:latin typeface="Arial MT"/>
                <a:cs typeface="Arial MT"/>
              </a:rPr>
              <a:t>judging</a:t>
            </a:r>
            <a:r>
              <a:rPr sz="120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E2A3A"/>
                </a:solidFill>
                <a:latin typeface="Arial MT"/>
                <a:cs typeface="Arial MT"/>
              </a:rPr>
              <a:t>and</a:t>
            </a:r>
            <a:r>
              <a:rPr sz="120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E2A3A"/>
                </a:solidFill>
                <a:latin typeface="Arial MT"/>
                <a:cs typeface="Arial MT"/>
              </a:rPr>
              <a:t>live</a:t>
            </a:r>
            <a:r>
              <a:rPr sz="1200" spc="-20" dirty="0">
                <a:solidFill>
                  <a:srgbClr val="1E2A3A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1E2A3A"/>
                </a:solidFill>
                <a:latin typeface="Arial MT"/>
                <a:cs typeface="Arial MT"/>
              </a:rPr>
              <a:t>evaluation!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EFE8E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9154</Words>
  <Application>WPS Presentation</Application>
  <PresentationFormat>On-screen Show (4:3)</PresentationFormat>
  <Paragraphs>284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Arial</vt:lpstr>
      <vt:lpstr>SimSun</vt:lpstr>
      <vt:lpstr>Wingdings</vt:lpstr>
      <vt:lpstr>Arial</vt:lpstr>
      <vt:lpstr>Arial MT</vt:lpstr>
      <vt:lpstr>Microsoft YaHei</vt:lpstr>
      <vt:lpstr>Arial Unicode MS</vt:lpstr>
      <vt:lpstr>Calibri</vt:lpstr>
      <vt:lpstr>Office Theme</vt:lpstr>
      <vt:lpstr>AEGIS: Mission Readiness &amp; Predictive Maintenance Copilot</vt:lpstr>
      <vt:lpstr>Unpredictable Failures &amp; Telemetry Blindness in Defense Fleets</vt:lpstr>
      <vt:lpstr>AEGIS Platform: Complete Condition-Based Fleet Intelligence</vt:lpstr>
      <vt:lpstr>Robust, Decoupled &amp; High-Performance Stack</vt:lpstr>
      <vt:lpstr>Conversational AI Copilot &amp; Real-Time Sensor Anomaly Flow</vt:lpstr>
      <vt:lpstr>Specifically How IBM Innovations Powered AEGIS</vt:lpstr>
      <vt:lpstr>Proven Metrics &amp; Defense Operational Value</vt:lpstr>
      <vt:lpstr>Team X: Multidisciplinary Defense AI Engineering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AEGIS: Mission Readiness &amp; Predictive Maintenance Copilot</dc:title>
  <dc:creator/>
  <cp:lastModifiedBy>WPS_1777888642</cp:lastModifiedBy>
  <cp:revision>1</cp:revision>
  <dcterms:created xsi:type="dcterms:W3CDTF">2026-09-15T11:14:56Z</dcterms:created>
  <dcterms:modified xsi:type="dcterms:W3CDTF">2026-09-15T11:14:56Z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2026-09-15T05:30:00Z</vt:filetime>
  </property>
  <property fmtid="{D5CDD505-2E9C-101B-9397-08002B2CF9AE}" pid="4" name="Creator">
    <vt:lpwstr>WPS Presentation</vt:lpwstr>
  </property>
  <property fmtid="{D5CDD505-2E9C-101B-9397-08002B2CF9AE}" pid="5" name="LastSaved">
    <vt:filetime>2026-09-15T05:30:00Z</vt:filetime>
  </property>
  <property fmtid="{D5CDD505-2E9C-101B-9397-08002B2CF9AE}" pid="6" name="SourceModified">
    <vt:lpwstr>D:20260915153600+05'30'</vt:lpwstr>
  </property>
  <property fmtid="{D5CDD505-2E9C-101B-9397-08002B2CF9AE}" pid="7" name="KSOProductBuildVer">
    <vt:lpwstr>1033-12.1.0.28485</vt:lpwstr>
  </property>
  <property fmtid="{D5CDD505-2E9C-101B-9397-08002B2CF9AE}" pid="8" name="ICV">
    <vt:lpwstr>E19835C643634BD8A73ACC6B52F61A22_12</vt:lpwstr>
  </property>
</Properties>
</file>